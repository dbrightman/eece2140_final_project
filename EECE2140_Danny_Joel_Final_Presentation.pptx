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65176" y="-396621"/>
            <a:ext cx="1828801" cy="182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35" y="-153163"/>
            <a:ext cx="1261874" cy="1261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2096" y="932688"/>
            <a:ext cx="1005840" cy="1005840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679" y="1029842"/>
            <a:ext cx="804673" cy="804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20" y="1517902"/>
            <a:ext cx="822961" cy="8229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4672" y="1931670"/>
            <a:ext cx="640081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Oval 8"/>
          <p:cNvSpPr/>
          <p:nvPr/>
        </p:nvSpPr>
        <p:spPr>
          <a:xfrm>
            <a:off x="182879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338327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493776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649223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04672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182879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338327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493776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649223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04672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182879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338327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493776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649223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04672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182879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338327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493776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649223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04672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182879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338327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493776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649223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04672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182879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338327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493776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649223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04672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182879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Oval 39"/>
          <p:cNvSpPr/>
          <p:nvPr/>
        </p:nvSpPr>
        <p:spPr>
          <a:xfrm>
            <a:off x="338327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Oval 40"/>
          <p:cNvSpPr/>
          <p:nvPr/>
        </p:nvSpPr>
        <p:spPr>
          <a:xfrm>
            <a:off x="493776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Oval 41"/>
          <p:cNvSpPr/>
          <p:nvPr/>
        </p:nvSpPr>
        <p:spPr>
          <a:xfrm>
            <a:off x="649223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Oval 42"/>
          <p:cNvSpPr/>
          <p:nvPr/>
        </p:nvSpPr>
        <p:spPr>
          <a:xfrm>
            <a:off x="804672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Oval 43"/>
          <p:cNvSpPr/>
          <p:nvPr/>
        </p:nvSpPr>
        <p:spPr>
          <a:xfrm>
            <a:off x="182879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Oval 44"/>
          <p:cNvSpPr/>
          <p:nvPr/>
        </p:nvSpPr>
        <p:spPr>
          <a:xfrm>
            <a:off x="338327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Oval 45"/>
          <p:cNvSpPr/>
          <p:nvPr/>
        </p:nvSpPr>
        <p:spPr>
          <a:xfrm>
            <a:off x="493776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Oval 46"/>
          <p:cNvSpPr/>
          <p:nvPr/>
        </p:nvSpPr>
        <p:spPr>
          <a:xfrm>
            <a:off x="649223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Oval 47"/>
          <p:cNvSpPr/>
          <p:nvPr/>
        </p:nvSpPr>
        <p:spPr>
          <a:xfrm>
            <a:off x="804672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Oval 48"/>
          <p:cNvSpPr/>
          <p:nvPr/>
        </p:nvSpPr>
        <p:spPr>
          <a:xfrm>
            <a:off x="182879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Oval 49"/>
          <p:cNvSpPr/>
          <p:nvPr/>
        </p:nvSpPr>
        <p:spPr>
          <a:xfrm>
            <a:off x="338327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Oval 50"/>
          <p:cNvSpPr/>
          <p:nvPr/>
        </p:nvSpPr>
        <p:spPr>
          <a:xfrm>
            <a:off x="493776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Oval 51"/>
          <p:cNvSpPr/>
          <p:nvPr/>
        </p:nvSpPr>
        <p:spPr>
          <a:xfrm>
            <a:off x="649223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Oval 52"/>
          <p:cNvSpPr/>
          <p:nvPr/>
        </p:nvSpPr>
        <p:spPr>
          <a:xfrm>
            <a:off x="804672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6" name="Picture 107" descr="Picture 10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74014" y="2460256"/>
            <a:ext cx="1463041" cy="1463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45502" y="2610611"/>
            <a:ext cx="1170433" cy="11704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109" descr="Picture 10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639811" y="1540763"/>
            <a:ext cx="777241" cy="77724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Box 110"/>
          <p:cNvSpPr txBox="1"/>
          <p:nvPr/>
        </p:nvSpPr>
        <p:spPr>
          <a:xfrm>
            <a:off x="2606039" y="1127060"/>
            <a:ext cx="3931920" cy="5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600">
                <a:solidFill>
                  <a:srgbClr val="002366"/>
                </a:solidFill>
              </a:defRPr>
            </a:pPr>
            <a:r>
              <a:t>College of Engineering</a:t>
            </a:r>
          </a:p>
          <a:p>
            <a:pPr algn="ctr">
              <a:defRPr b="1" sz="1400">
                <a:solidFill>
                  <a:srgbClr val="002366"/>
                </a:solidFill>
              </a:defRPr>
            </a:pPr>
            <a:r>
              <a:t>Department of Electrical and Computer Engineering</a:t>
            </a:r>
          </a:p>
        </p:txBody>
      </p:sp>
      <p:sp>
        <p:nvSpPr>
          <p:cNvPr id="150" name="TextBox 111"/>
          <p:cNvSpPr txBox="1"/>
          <p:nvPr/>
        </p:nvSpPr>
        <p:spPr>
          <a:xfrm>
            <a:off x="2331720" y="2028270"/>
            <a:ext cx="44805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>
                <a:solidFill>
                  <a:srgbClr val="C8102E"/>
                </a:solidFill>
              </a:defRPr>
            </a:pPr>
            <a:r>
              <a:t>EECE 2140:  COMPUTING</a:t>
            </a:r>
          </a:p>
          <a:p>
            <a:pPr algn="ctr">
              <a:defRPr b="1">
                <a:solidFill>
                  <a:srgbClr val="C8102E"/>
                </a:solidFill>
              </a:defRPr>
            </a:pPr>
            <a:r>
              <a:t>FUNDAMENTALS FOR ENGINEERS</a:t>
            </a:r>
          </a:p>
        </p:txBody>
      </p:sp>
      <p:sp>
        <p:nvSpPr>
          <p:cNvPr id="151" name="TextBox 112"/>
          <p:cNvSpPr txBox="1"/>
          <p:nvPr/>
        </p:nvSpPr>
        <p:spPr>
          <a:xfrm>
            <a:off x="2240280" y="2933385"/>
            <a:ext cx="466344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i="1" sz="1500">
                <a:solidFill>
                  <a:srgbClr val="002366"/>
                </a:solidFill>
              </a:defRPr>
            </a:lvl1pPr>
          </a:lstStyle>
          <a:p>
            <a:pPr/>
            <a:r>
              <a:t>Elevator Scheduling System</a:t>
            </a:r>
          </a:p>
        </p:txBody>
      </p:sp>
      <p:sp>
        <p:nvSpPr>
          <p:cNvPr id="152" name="TextBox 113"/>
          <p:cNvSpPr txBox="1"/>
          <p:nvPr/>
        </p:nvSpPr>
        <p:spPr>
          <a:xfrm>
            <a:off x="2240280" y="3383279"/>
            <a:ext cx="46634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002366"/>
                </a:solidFill>
              </a:defRPr>
            </a:lvl1pPr>
          </a:lstStyle>
          <a:p>
            <a:pPr/>
            <a:r>
              <a:t>Spring 2026</a:t>
            </a:r>
          </a:p>
        </p:txBody>
      </p:sp>
      <p:sp>
        <p:nvSpPr>
          <p:cNvPr id="153" name="TextBox 114"/>
          <p:cNvSpPr txBox="1"/>
          <p:nvPr/>
        </p:nvSpPr>
        <p:spPr>
          <a:xfrm>
            <a:off x="2240280" y="3730752"/>
            <a:ext cx="46634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002366"/>
                </a:solidFill>
              </a:defRPr>
            </a:lvl1pPr>
          </a:lstStyle>
          <a:p>
            <a:pPr/>
            <a:r>
              <a:t>Dr. Fatema Nafa</a:t>
            </a:r>
          </a:p>
        </p:txBody>
      </p:sp>
      <p:sp>
        <p:nvSpPr>
          <p:cNvPr id="154" name="Rectangle 115"/>
          <p:cNvSpPr/>
          <p:nvPr/>
        </p:nvSpPr>
        <p:spPr>
          <a:xfrm>
            <a:off x="7415783" y="4578281"/>
            <a:ext cx="1691641" cy="50292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16"/>
          <p:cNvSpPr txBox="1"/>
          <p:nvPr/>
        </p:nvSpPr>
        <p:spPr>
          <a:xfrm>
            <a:off x="7461505" y="4600737"/>
            <a:ext cx="41148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56" name="TextBox 117"/>
          <p:cNvSpPr txBox="1"/>
          <p:nvPr/>
        </p:nvSpPr>
        <p:spPr>
          <a:xfrm>
            <a:off x="7982711" y="4654997"/>
            <a:ext cx="1078994" cy="30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Northeastern University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College of Engineering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Rounded Rectangle 52"/>
          <p:cNvSpPr/>
          <p:nvPr/>
        </p:nvSpPr>
        <p:spPr>
          <a:xfrm>
            <a:off x="384047" y="182879"/>
            <a:ext cx="1371601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53"/>
          <p:cNvSpPr txBox="1"/>
          <p:nvPr/>
        </p:nvSpPr>
        <p:spPr>
          <a:xfrm>
            <a:off x="429768" y="182879"/>
            <a:ext cx="1280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11" name="TextBox 54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02366"/>
                </a:solidFill>
              </a:defRPr>
            </a:lvl1pPr>
          </a:lstStyle>
          <a:p>
            <a:pPr/>
            <a:r>
              <a:t>Table of Contents</a:t>
            </a:r>
          </a:p>
        </p:txBody>
      </p:sp>
      <p:sp>
        <p:nvSpPr>
          <p:cNvPr id="212" name="Rectangle 55"/>
          <p:cNvSpPr/>
          <p:nvPr/>
        </p:nvSpPr>
        <p:spPr>
          <a:xfrm>
            <a:off x="384048" y="1234439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Rectangle 56"/>
          <p:cNvSpPr/>
          <p:nvPr/>
        </p:nvSpPr>
        <p:spPr>
          <a:xfrm>
            <a:off x="384047" y="1234439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57"/>
          <p:cNvSpPr txBox="1"/>
          <p:nvPr/>
        </p:nvSpPr>
        <p:spPr>
          <a:xfrm>
            <a:off x="429768" y="1343082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5" name="TextBox 58"/>
          <p:cNvSpPr txBox="1"/>
          <p:nvPr/>
        </p:nvSpPr>
        <p:spPr>
          <a:xfrm>
            <a:off x="941831" y="1348031"/>
            <a:ext cx="341071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Team Introduction</a:t>
            </a:r>
          </a:p>
        </p:txBody>
      </p:sp>
      <p:sp>
        <p:nvSpPr>
          <p:cNvPr id="216" name="Rectangle 59"/>
          <p:cNvSpPr/>
          <p:nvPr/>
        </p:nvSpPr>
        <p:spPr>
          <a:xfrm>
            <a:off x="4928615" y="1234439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60"/>
          <p:cNvSpPr/>
          <p:nvPr/>
        </p:nvSpPr>
        <p:spPr>
          <a:xfrm>
            <a:off x="4928615" y="1234439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61"/>
          <p:cNvSpPr txBox="1"/>
          <p:nvPr/>
        </p:nvSpPr>
        <p:spPr>
          <a:xfrm>
            <a:off x="4974335" y="1343082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9" name="TextBox 62"/>
          <p:cNvSpPr txBox="1"/>
          <p:nvPr/>
        </p:nvSpPr>
        <p:spPr>
          <a:xfrm>
            <a:off x="5486400" y="1348031"/>
            <a:ext cx="34107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220" name="Rectangle 63"/>
          <p:cNvSpPr/>
          <p:nvPr/>
        </p:nvSpPr>
        <p:spPr>
          <a:xfrm>
            <a:off x="384048" y="1819655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64"/>
          <p:cNvSpPr/>
          <p:nvPr/>
        </p:nvSpPr>
        <p:spPr>
          <a:xfrm>
            <a:off x="384047" y="1819655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65"/>
          <p:cNvSpPr txBox="1"/>
          <p:nvPr/>
        </p:nvSpPr>
        <p:spPr>
          <a:xfrm>
            <a:off x="429768" y="1928298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3" name="TextBox 66"/>
          <p:cNvSpPr txBox="1"/>
          <p:nvPr/>
        </p:nvSpPr>
        <p:spPr>
          <a:xfrm>
            <a:off x="941831" y="1933246"/>
            <a:ext cx="341071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Team Objectives</a:t>
            </a:r>
          </a:p>
        </p:txBody>
      </p:sp>
      <p:sp>
        <p:nvSpPr>
          <p:cNvPr id="224" name="Rectangle 67"/>
          <p:cNvSpPr/>
          <p:nvPr/>
        </p:nvSpPr>
        <p:spPr>
          <a:xfrm>
            <a:off x="4928615" y="1819655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Rectangle 68"/>
          <p:cNvSpPr/>
          <p:nvPr/>
        </p:nvSpPr>
        <p:spPr>
          <a:xfrm>
            <a:off x="4928615" y="1819655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69"/>
          <p:cNvSpPr txBox="1"/>
          <p:nvPr/>
        </p:nvSpPr>
        <p:spPr>
          <a:xfrm>
            <a:off x="4974335" y="1928298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27" name="TextBox 70"/>
          <p:cNvSpPr txBox="1"/>
          <p:nvPr/>
        </p:nvSpPr>
        <p:spPr>
          <a:xfrm>
            <a:off x="5486400" y="1933246"/>
            <a:ext cx="341071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Core Functionalities</a:t>
            </a:r>
          </a:p>
        </p:txBody>
      </p:sp>
      <p:sp>
        <p:nvSpPr>
          <p:cNvPr id="228" name="Rectangle 71"/>
          <p:cNvSpPr/>
          <p:nvPr/>
        </p:nvSpPr>
        <p:spPr>
          <a:xfrm>
            <a:off x="384048" y="2404872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Rectangle 72"/>
          <p:cNvSpPr/>
          <p:nvPr/>
        </p:nvSpPr>
        <p:spPr>
          <a:xfrm>
            <a:off x="384047" y="2404872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73"/>
          <p:cNvSpPr txBox="1"/>
          <p:nvPr/>
        </p:nvSpPr>
        <p:spPr>
          <a:xfrm>
            <a:off x="429768" y="2513514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31" name="TextBox 74"/>
          <p:cNvSpPr txBox="1"/>
          <p:nvPr/>
        </p:nvSpPr>
        <p:spPr>
          <a:xfrm>
            <a:off x="941831" y="2518463"/>
            <a:ext cx="341071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Pseudo Code</a:t>
            </a:r>
          </a:p>
        </p:txBody>
      </p:sp>
      <p:sp>
        <p:nvSpPr>
          <p:cNvPr id="232" name="Rectangle 75"/>
          <p:cNvSpPr/>
          <p:nvPr/>
        </p:nvSpPr>
        <p:spPr>
          <a:xfrm>
            <a:off x="4928615" y="2404872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ectangle 76"/>
          <p:cNvSpPr/>
          <p:nvPr/>
        </p:nvSpPr>
        <p:spPr>
          <a:xfrm>
            <a:off x="4928615" y="2404872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77"/>
          <p:cNvSpPr txBox="1"/>
          <p:nvPr/>
        </p:nvSpPr>
        <p:spPr>
          <a:xfrm>
            <a:off x="4974335" y="2513514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35" name="TextBox 78"/>
          <p:cNvSpPr txBox="1"/>
          <p:nvPr/>
        </p:nvSpPr>
        <p:spPr>
          <a:xfrm>
            <a:off x="5486400" y="2518463"/>
            <a:ext cx="34107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OOP Class Design</a:t>
            </a:r>
          </a:p>
        </p:txBody>
      </p:sp>
      <p:sp>
        <p:nvSpPr>
          <p:cNvPr id="236" name="Rectangle 79"/>
          <p:cNvSpPr/>
          <p:nvPr/>
        </p:nvSpPr>
        <p:spPr>
          <a:xfrm>
            <a:off x="384048" y="2990088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Rectangle 80"/>
          <p:cNvSpPr/>
          <p:nvPr/>
        </p:nvSpPr>
        <p:spPr>
          <a:xfrm>
            <a:off x="384047" y="2990088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81"/>
          <p:cNvSpPr txBox="1"/>
          <p:nvPr/>
        </p:nvSpPr>
        <p:spPr>
          <a:xfrm>
            <a:off x="429768" y="3098730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39" name="TextBox 82"/>
          <p:cNvSpPr txBox="1"/>
          <p:nvPr/>
        </p:nvSpPr>
        <p:spPr>
          <a:xfrm>
            <a:off x="941831" y="3103679"/>
            <a:ext cx="341071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OOP Design Table</a:t>
            </a:r>
          </a:p>
        </p:txBody>
      </p:sp>
      <p:sp>
        <p:nvSpPr>
          <p:cNvPr id="240" name="Rectangle 83"/>
          <p:cNvSpPr/>
          <p:nvPr/>
        </p:nvSpPr>
        <p:spPr>
          <a:xfrm>
            <a:off x="4928615" y="2990088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Rectangle 84"/>
          <p:cNvSpPr/>
          <p:nvPr/>
        </p:nvSpPr>
        <p:spPr>
          <a:xfrm>
            <a:off x="4928615" y="2990088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85"/>
          <p:cNvSpPr txBox="1"/>
          <p:nvPr/>
        </p:nvSpPr>
        <p:spPr>
          <a:xfrm>
            <a:off x="4974335" y="3098730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43" name="TextBox 86"/>
          <p:cNvSpPr txBox="1"/>
          <p:nvPr/>
        </p:nvSpPr>
        <p:spPr>
          <a:xfrm>
            <a:off x="5486400" y="3103679"/>
            <a:ext cx="34107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System Overview — IPO Diagram</a:t>
            </a:r>
          </a:p>
        </p:txBody>
      </p:sp>
      <p:sp>
        <p:nvSpPr>
          <p:cNvPr id="244" name="Rectangle 87"/>
          <p:cNvSpPr/>
          <p:nvPr/>
        </p:nvSpPr>
        <p:spPr>
          <a:xfrm>
            <a:off x="384048" y="3575303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Rectangle 88"/>
          <p:cNvSpPr/>
          <p:nvPr/>
        </p:nvSpPr>
        <p:spPr>
          <a:xfrm>
            <a:off x="384047" y="3575303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89"/>
          <p:cNvSpPr txBox="1"/>
          <p:nvPr/>
        </p:nvSpPr>
        <p:spPr>
          <a:xfrm>
            <a:off x="429768" y="3683946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47" name="TextBox 90"/>
          <p:cNvSpPr txBox="1"/>
          <p:nvPr/>
        </p:nvSpPr>
        <p:spPr>
          <a:xfrm>
            <a:off x="941831" y="3688895"/>
            <a:ext cx="341071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002366"/>
                </a:solidFill>
              </a:defRPr>
            </a:pPr>
            <a:r>
              <a:t>Implementation </a:t>
            </a:r>
            <a:r>
              <a:t>and</a:t>
            </a:r>
            <a:r>
              <a:t> Demo</a:t>
            </a:r>
          </a:p>
        </p:txBody>
      </p:sp>
      <p:sp>
        <p:nvSpPr>
          <p:cNvPr id="248" name="Rectangle 91"/>
          <p:cNvSpPr/>
          <p:nvPr/>
        </p:nvSpPr>
        <p:spPr>
          <a:xfrm>
            <a:off x="4928615" y="3575303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Rectangle 92"/>
          <p:cNvSpPr/>
          <p:nvPr/>
        </p:nvSpPr>
        <p:spPr>
          <a:xfrm>
            <a:off x="4928615" y="3575303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93"/>
          <p:cNvSpPr txBox="1"/>
          <p:nvPr/>
        </p:nvSpPr>
        <p:spPr>
          <a:xfrm>
            <a:off x="4974335" y="3683946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1" name="TextBox 94"/>
          <p:cNvSpPr txBox="1"/>
          <p:nvPr/>
        </p:nvSpPr>
        <p:spPr>
          <a:xfrm>
            <a:off x="5486400" y="3688895"/>
            <a:ext cx="34107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Challenges and Solutions</a:t>
            </a:r>
          </a:p>
        </p:txBody>
      </p:sp>
      <p:sp>
        <p:nvSpPr>
          <p:cNvPr id="252" name="Rectangle 95"/>
          <p:cNvSpPr/>
          <p:nvPr/>
        </p:nvSpPr>
        <p:spPr>
          <a:xfrm>
            <a:off x="384048" y="4160520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Rectangle 96"/>
          <p:cNvSpPr/>
          <p:nvPr/>
        </p:nvSpPr>
        <p:spPr>
          <a:xfrm>
            <a:off x="384047" y="4160520"/>
            <a:ext cx="402338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97"/>
          <p:cNvSpPr txBox="1"/>
          <p:nvPr/>
        </p:nvSpPr>
        <p:spPr>
          <a:xfrm>
            <a:off x="429768" y="4269162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55" name="TextBox 98"/>
          <p:cNvSpPr txBox="1"/>
          <p:nvPr/>
        </p:nvSpPr>
        <p:spPr>
          <a:xfrm>
            <a:off x="941831" y="4274111"/>
            <a:ext cx="341071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02366"/>
                </a:solidFill>
              </a:defRPr>
            </a:lvl1pPr>
          </a:lstStyle>
          <a:p>
            <a:pPr/>
            <a:r>
              <a:t>What We Learned</a:t>
            </a:r>
          </a:p>
        </p:txBody>
      </p:sp>
      <p:sp>
        <p:nvSpPr>
          <p:cNvPr id="256" name="Rectangle 99"/>
          <p:cNvSpPr/>
          <p:nvPr/>
        </p:nvSpPr>
        <p:spPr>
          <a:xfrm>
            <a:off x="4928615" y="4160520"/>
            <a:ext cx="4069081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Rectangle 100"/>
          <p:cNvSpPr/>
          <p:nvPr/>
        </p:nvSpPr>
        <p:spPr>
          <a:xfrm>
            <a:off x="4928615" y="4160520"/>
            <a:ext cx="402337" cy="475488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101"/>
          <p:cNvSpPr txBox="1"/>
          <p:nvPr/>
        </p:nvSpPr>
        <p:spPr>
          <a:xfrm>
            <a:off x="4974335" y="4269162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59" name="TextBox 102"/>
          <p:cNvSpPr txBox="1"/>
          <p:nvPr/>
        </p:nvSpPr>
        <p:spPr>
          <a:xfrm>
            <a:off x="5486400" y="4274111"/>
            <a:ext cx="341071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002366"/>
                </a:solidFill>
              </a:defRPr>
            </a:pPr>
            <a:r>
              <a:t>Limitations </a:t>
            </a:r>
            <a:r>
              <a:t>and</a:t>
            </a:r>
            <a:r>
              <a:t> Future Work</a:t>
            </a:r>
          </a:p>
        </p:txBody>
      </p:sp>
      <p:sp>
        <p:nvSpPr>
          <p:cNvPr id="260" name="Rectangle 10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0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262" name="TextBox 10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14400" y="-914400"/>
            <a:ext cx="1463040" cy="1463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740664" y="-740664"/>
            <a:ext cx="1115568" cy="1115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0" y="4663440"/>
            <a:ext cx="1280161" cy="1280161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Oval 5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6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7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8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9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10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11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12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13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14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15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16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17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18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19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20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21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22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23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24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25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26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27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28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29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30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31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32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33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34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35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36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37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38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39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ounded Rectangle 40"/>
          <p:cNvSpPr/>
          <p:nvPr/>
        </p:nvSpPr>
        <p:spPr>
          <a:xfrm>
            <a:off x="457200" y="182879"/>
            <a:ext cx="1371600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41"/>
          <p:cNvSpPr txBox="1"/>
          <p:nvPr/>
        </p:nvSpPr>
        <p:spPr>
          <a:xfrm>
            <a:off x="502919" y="182879"/>
            <a:ext cx="1280162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305" name="TextBox 42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Meet the Team</a:t>
            </a:r>
          </a:p>
        </p:txBody>
      </p:sp>
      <p:sp>
        <p:nvSpPr>
          <p:cNvPr id="306" name="Rectangle 43"/>
          <p:cNvSpPr/>
          <p:nvPr/>
        </p:nvSpPr>
        <p:spPr>
          <a:xfrm>
            <a:off x="347471" y="1298448"/>
            <a:ext cx="2697482" cy="3364992"/>
          </a:xfrm>
          <a:prstGeom prst="rect">
            <a:avLst/>
          </a:prstGeom>
          <a:solidFill>
            <a:srgbClr val="0A1A3A"/>
          </a:solidFill>
          <a:ln>
            <a:solidFill>
              <a:srgbClr val="E85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Rectangle 44"/>
          <p:cNvSpPr/>
          <p:nvPr/>
        </p:nvSpPr>
        <p:spPr>
          <a:xfrm>
            <a:off x="347471" y="1298447"/>
            <a:ext cx="2697482" cy="7315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45"/>
          <p:cNvSpPr/>
          <p:nvPr/>
        </p:nvSpPr>
        <p:spPr>
          <a:xfrm>
            <a:off x="1353311" y="1417319"/>
            <a:ext cx="694945" cy="694945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46"/>
          <p:cNvSpPr txBox="1"/>
          <p:nvPr/>
        </p:nvSpPr>
        <p:spPr>
          <a:xfrm>
            <a:off x="1399031" y="1572104"/>
            <a:ext cx="603505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0" name="TextBox 47"/>
          <p:cNvSpPr txBox="1"/>
          <p:nvPr/>
        </p:nvSpPr>
        <p:spPr>
          <a:xfrm>
            <a:off x="521207" y="2176272"/>
            <a:ext cx="235915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Joel Kamhazi</a:t>
            </a:r>
          </a:p>
        </p:txBody>
      </p:sp>
      <p:sp>
        <p:nvSpPr>
          <p:cNvPr id="311" name="TextBox 48"/>
          <p:cNvSpPr txBox="1"/>
          <p:nvPr/>
        </p:nvSpPr>
        <p:spPr>
          <a:xfrm>
            <a:off x="521207" y="2578607"/>
            <a:ext cx="2359154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AABBD0"/>
                </a:solidFill>
              </a:defRPr>
            </a:lvl1pPr>
          </a:lstStyle>
          <a:p>
            <a:pPr/>
            <a:r>
              <a:t>Co Developer — Scheduling Logic</a:t>
            </a:r>
          </a:p>
        </p:txBody>
      </p:sp>
      <p:sp>
        <p:nvSpPr>
          <p:cNvPr id="312" name="Rectangle 49"/>
          <p:cNvSpPr/>
          <p:nvPr/>
        </p:nvSpPr>
        <p:spPr>
          <a:xfrm>
            <a:off x="804672" y="2999232"/>
            <a:ext cx="1783079" cy="2743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50"/>
          <p:cNvSpPr txBox="1"/>
          <p:nvPr/>
        </p:nvSpPr>
        <p:spPr>
          <a:xfrm>
            <a:off x="576071" y="3090672"/>
            <a:ext cx="2267714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Designed class hierarchy</a:t>
            </a:r>
          </a:p>
        </p:txBody>
      </p:sp>
      <p:sp>
        <p:nvSpPr>
          <p:cNvPr id="314" name="TextBox 51"/>
          <p:cNvSpPr txBox="1"/>
          <p:nvPr/>
        </p:nvSpPr>
        <p:spPr>
          <a:xfrm>
            <a:off x="576071" y="3529584"/>
            <a:ext cx="2267714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Implemented TrafficLight &amp; Vehicle classes</a:t>
            </a:r>
          </a:p>
        </p:txBody>
      </p:sp>
      <p:sp>
        <p:nvSpPr>
          <p:cNvPr id="315" name="TextBox 52"/>
          <p:cNvSpPr txBox="1"/>
          <p:nvPr/>
        </p:nvSpPr>
        <p:spPr>
          <a:xfrm>
            <a:off x="576071" y="3968496"/>
            <a:ext cx="2267714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Managed object relationships</a:t>
            </a:r>
          </a:p>
        </p:txBody>
      </p:sp>
      <p:sp>
        <p:nvSpPr>
          <p:cNvPr id="316" name="Rectangle 53"/>
          <p:cNvSpPr/>
          <p:nvPr/>
        </p:nvSpPr>
        <p:spPr>
          <a:xfrm>
            <a:off x="3273552" y="1298448"/>
            <a:ext cx="2697481" cy="3364992"/>
          </a:xfrm>
          <a:prstGeom prst="rect">
            <a:avLst/>
          </a:prstGeom>
          <a:solidFill>
            <a:srgbClr val="0A1A3A"/>
          </a:solidFill>
          <a:ln>
            <a:solidFill>
              <a:srgbClr val="E85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Rectangle 54"/>
          <p:cNvSpPr/>
          <p:nvPr/>
        </p:nvSpPr>
        <p:spPr>
          <a:xfrm>
            <a:off x="3273552" y="1298447"/>
            <a:ext cx="2697481" cy="7315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55"/>
          <p:cNvSpPr/>
          <p:nvPr/>
        </p:nvSpPr>
        <p:spPr>
          <a:xfrm>
            <a:off x="4279391" y="1417319"/>
            <a:ext cx="694945" cy="694945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56"/>
          <p:cNvSpPr txBox="1"/>
          <p:nvPr/>
        </p:nvSpPr>
        <p:spPr>
          <a:xfrm>
            <a:off x="4325111" y="1572104"/>
            <a:ext cx="603505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0" name="TextBox 57"/>
          <p:cNvSpPr txBox="1"/>
          <p:nvPr/>
        </p:nvSpPr>
        <p:spPr>
          <a:xfrm>
            <a:off x="3447288" y="2176272"/>
            <a:ext cx="235915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Daniel Brightman</a:t>
            </a:r>
          </a:p>
        </p:txBody>
      </p:sp>
      <p:sp>
        <p:nvSpPr>
          <p:cNvPr id="321" name="TextBox 58"/>
          <p:cNvSpPr txBox="1"/>
          <p:nvPr/>
        </p:nvSpPr>
        <p:spPr>
          <a:xfrm>
            <a:off x="3447288" y="2578607"/>
            <a:ext cx="2359153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AABBD0"/>
                </a:solidFill>
              </a:defRPr>
            </a:lvl1pPr>
          </a:lstStyle>
          <a:p>
            <a:pPr/>
            <a:r>
              <a:t>Co Developer — OOP &amp; Class Architecture</a:t>
            </a:r>
          </a:p>
        </p:txBody>
      </p:sp>
      <p:sp>
        <p:nvSpPr>
          <p:cNvPr id="322" name="Rectangle 59"/>
          <p:cNvSpPr/>
          <p:nvPr/>
        </p:nvSpPr>
        <p:spPr>
          <a:xfrm>
            <a:off x="3730752" y="2999232"/>
            <a:ext cx="1783080" cy="2743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60"/>
          <p:cNvSpPr txBox="1"/>
          <p:nvPr/>
        </p:nvSpPr>
        <p:spPr>
          <a:xfrm>
            <a:off x="3502152" y="3090672"/>
            <a:ext cx="2267713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Traffic flow algorithm</a:t>
            </a:r>
          </a:p>
        </p:txBody>
      </p:sp>
      <p:sp>
        <p:nvSpPr>
          <p:cNvPr id="324" name="TextBox 61"/>
          <p:cNvSpPr txBox="1"/>
          <p:nvPr/>
        </p:nvSpPr>
        <p:spPr>
          <a:xfrm>
            <a:off x="3502152" y="3569488"/>
            <a:ext cx="226771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Signal timing optimization</a:t>
            </a:r>
          </a:p>
        </p:txBody>
      </p:sp>
      <p:sp>
        <p:nvSpPr>
          <p:cNvPr id="325" name="TextBox 62"/>
          <p:cNvSpPr txBox="1"/>
          <p:nvPr/>
        </p:nvSpPr>
        <p:spPr>
          <a:xfrm>
            <a:off x="3502152" y="3968496"/>
            <a:ext cx="2267713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D0DEF0"/>
                </a:solidFill>
              </a:defRPr>
            </a:lvl1pPr>
          </a:lstStyle>
          <a:p>
            <a:pPr/>
            <a:r>
              <a:t>• Random vehicle generation</a:t>
            </a:r>
          </a:p>
        </p:txBody>
      </p:sp>
      <p:sp>
        <p:nvSpPr>
          <p:cNvPr id="326" name="Rectangle 7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7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328" name="TextBox 7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Rounded Rectangle 52"/>
          <p:cNvSpPr/>
          <p:nvPr/>
        </p:nvSpPr>
        <p:spPr>
          <a:xfrm>
            <a:off x="384047" y="182879"/>
            <a:ext cx="2048257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TextBox 53"/>
          <p:cNvSpPr txBox="1"/>
          <p:nvPr/>
        </p:nvSpPr>
        <p:spPr>
          <a:xfrm>
            <a:off x="429768" y="182879"/>
            <a:ext cx="1956817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383" name="TextBox 54"/>
          <p:cNvSpPr txBox="1"/>
          <p:nvPr/>
        </p:nvSpPr>
        <p:spPr>
          <a:xfrm>
            <a:off x="457199" y="590149"/>
            <a:ext cx="822960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002366"/>
                </a:solidFill>
              </a:defRPr>
            </a:lvl1pPr>
          </a:lstStyle>
          <a:p>
            <a:pPr/>
            <a:r>
              <a:t>Project Overview — Elevator Scheduling Simulation</a:t>
            </a:r>
          </a:p>
        </p:txBody>
      </p:sp>
      <p:sp>
        <p:nvSpPr>
          <p:cNvPr id="384" name="Rectangle 55"/>
          <p:cNvSpPr/>
          <p:nvPr/>
        </p:nvSpPr>
        <p:spPr>
          <a:xfrm>
            <a:off x="384047" y="1207008"/>
            <a:ext cx="4114801" cy="342900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Rectangle 56"/>
          <p:cNvSpPr/>
          <p:nvPr/>
        </p:nvSpPr>
        <p:spPr>
          <a:xfrm>
            <a:off x="384047" y="1207008"/>
            <a:ext cx="4114801" cy="438912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57"/>
          <p:cNvSpPr txBox="1"/>
          <p:nvPr/>
        </p:nvSpPr>
        <p:spPr>
          <a:xfrm>
            <a:off x="923544" y="1297363"/>
            <a:ext cx="3401568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387" name="TextBox 58"/>
          <p:cNvSpPr txBox="1"/>
          <p:nvPr/>
        </p:nvSpPr>
        <p:spPr>
          <a:xfrm>
            <a:off x="594359" y="1737360"/>
            <a:ext cx="3730752" cy="138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Elevators in real buildings responsible efficiently to many floor requests. If requests are handled poorly, elevators waste time, travel unnecessarily, and increase wait time for users. 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Our solution for this is a C++ simulation that models a building with multiple floors, one or more elevators, floor request queues, scheduling algorithms that decide visit order, and a simulation that moves elevators floor by floor. </a:t>
            </a:r>
          </a:p>
        </p:txBody>
      </p:sp>
      <p:sp>
        <p:nvSpPr>
          <p:cNvPr id="388" name="Rectangle 59"/>
          <p:cNvSpPr/>
          <p:nvPr/>
        </p:nvSpPr>
        <p:spPr>
          <a:xfrm>
            <a:off x="4681728" y="1207008"/>
            <a:ext cx="4114801" cy="342900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Rectangle 60"/>
          <p:cNvSpPr/>
          <p:nvPr/>
        </p:nvSpPr>
        <p:spPr>
          <a:xfrm>
            <a:off x="4681728" y="1207008"/>
            <a:ext cx="4114801" cy="438912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61"/>
          <p:cNvSpPr txBox="1"/>
          <p:nvPr/>
        </p:nvSpPr>
        <p:spPr>
          <a:xfrm>
            <a:off x="5221223" y="1297363"/>
            <a:ext cx="340156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Why Simulate?</a:t>
            </a:r>
          </a:p>
        </p:txBody>
      </p:sp>
      <p:sp>
        <p:nvSpPr>
          <p:cNvPr id="391" name="TextBox 62"/>
          <p:cNvSpPr txBox="1"/>
          <p:nvPr/>
        </p:nvSpPr>
        <p:spPr>
          <a:xfrm>
            <a:off x="4864608" y="1737359"/>
            <a:ext cx="37490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• Real elevators are expensive and difficult to test physically</a:t>
            </a:r>
          </a:p>
        </p:txBody>
      </p:sp>
      <p:sp>
        <p:nvSpPr>
          <p:cNvPr id="392" name="TextBox 63"/>
          <p:cNvSpPr txBox="1"/>
          <p:nvPr/>
        </p:nvSpPr>
        <p:spPr>
          <a:xfrm>
            <a:off x="4873752" y="2240279"/>
            <a:ext cx="37490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• Simulation allows rapid iteration of signal timing strategies</a:t>
            </a:r>
          </a:p>
        </p:txBody>
      </p:sp>
      <p:sp>
        <p:nvSpPr>
          <p:cNvPr id="393" name="TextBox 64"/>
          <p:cNvSpPr txBox="1"/>
          <p:nvPr/>
        </p:nvSpPr>
        <p:spPr>
          <a:xfrm>
            <a:off x="4873752" y="2743200"/>
            <a:ext cx="374904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• C++ gives precise control over timing, memory, and object state</a:t>
            </a:r>
          </a:p>
        </p:txBody>
      </p:sp>
      <p:sp>
        <p:nvSpPr>
          <p:cNvPr id="394" name="TextBox 65"/>
          <p:cNvSpPr txBox="1"/>
          <p:nvPr/>
        </p:nvSpPr>
        <p:spPr>
          <a:xfrm>
            <a:off x="4873752" y="3246120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• Engineers use SUMO, Vissim, and custom tools in industry</a:t>
            </a:r>
          </a:p>
        </p:txBody>
      </p:sp>
      <p:sp>
        <p:nvSpPr>
          <p:cNvPr id="395" name="TextBox 66"/>
          <p:cNvSpPr txBox="1"/>
          <p:nvPr/>
        </p:nvSpPr>
        <p:spPr>
          <a:xfrm>
            <a:off x="4873752" y="3749038"/>
            <a:ext cx="37490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• This project replicates those principles at an academic level</a:t>
            </a:r>
          </a:p>
        </p:txBody>
      </p:sp>
      <p:sp>
        <p:nvSpPr>
          <p:cNvPr id="396" name="Rectangle 6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68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398" name="TextBox 69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0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Rounded Rectangle 52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53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TEAM OBJECTIVES</a:t>
            </a:r>
          </a:p>
        </p:txBody>
      </p:sp>
      <p:sp>
        <p:nvSpPr>
          <p:cNvPr id="453" name="TextBox 54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02366"/>
                </a:solidFill>
              </a:defRPr>
            </a:lvl1pPr>
          </a:lstStyle>
          <a:p>
            <a:pPr/>
            <a:r>
              <a:t>Team Objectives</a:t>
            </a:r>
          </a:p>
        </p:txBody>
      </p:sp>
      <p:sp>
        <p:nvSpPr>
          <p:cNvPr id="454" name="Rectangle 55"/>
          <p:cNvSpPr/>
          <p:nvPr/>
        </p:nvSpPr>
        <p:spPr>
          <a:xfrm>
            <a:off x="384048" y="123443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Rectangle 56"/>
          <p:cNvSpPr/>
          <p:nvPr/>
        </p:nvSpPr>
        <p:spPr>
          <a:xfrm>
            <a:off x="384047" y="1234439"/>
            <a:ext cx="475489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57"/>
          <p:cNvSpPr txBox="1"/>
          <p:nvPr/>
        </p:nvSpPr>
        <p:spPr>
          <a:xfrm>
            <a:off x="429768" y="1644834"/>
            <a:ext cx="38404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57" name="TextBox 58"/>
          <p:cNvSpPr txBox="1"/>
          <p:nvPr/>
        </p:nvSpPr>
        <p:spPr>
          <a:xfrm>
            <a:off x="996695" y="132588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Build a Working C++ Simulator</a:t>
            </a:r>
          </a:p>
        </p:txBody>
      </p:sp>
      <p:sp>
        <p:nvSpPr>
          <p:cNvPr id="458" name="TextBox 59"/>
          <p:cNvSpPr txBox="1"/>
          <p:nvPr/>
        </p:nvSpPr>
        <p:spPr>
          <a:xfrm>
            <a:off x="996695" y="1655064"/>
            <a:ext cx="347472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Implement a multi-class C++ program that accurately models vehicle arrival, queuing, and signal cycling at a 4-way intersection.</a:t>
            </a:r>
          </a:p>
        </p:txBody>
      </p:sp>
      <p:sp>
        <p:nvSpPr>
          <p:cNvPr id="459" name="Rectangle 60"/>
          <p:cNvSpPr/>
          <p:nvPr/>
        </p:nvSpPr>
        <p:spPr>
          <a:xfrm>
            <a:off x="4818888" y="123443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Rectangle 61"/>
          <p:cNvSpPr/>
          <p:nvPr/>
        </p:nvSpPr>
        <p:spPr>
          <a:xfrm>
            <a:off x="4818888" y="1234439"/>
            <a:ext cx="475488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TextBox 62"/>
          <p:cNvSpPr txBox="1"/>
          <p:nvPr/>
        </p:nvSpPr>
        <p:spPr>
          <a:xfrm>
            <a:off x="4864608" y="1644834"/>
            <a:ext cx="38404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62" name="TextBox 63"/>
          <p:cNvSpPr txBox="1"/>
          <p:nvPr/>
        </p:nvSpPr>
        <p:spPr>
          <a:xfrm>
            <a:off x="5431535" y="132588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Apply OOP Design Principles</a:t>
            </a:r>
          </a:p>
        </p:txBody>
      </p:sp>
      <p:sp>
        <p:nvSpPr>
          <p:cNvPr id="463" name="TextBox 64"/>
          <p:cNvSpPr txBox="1"/>
          <p:nvPr/>
        </p:nvSpPr>
        <p:spPr>
          <a:xfrm>
            <a:off x="5431535" y="1655064"/>
            <a:ext cx="347472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Design at least 4 classes (Vehicle, TrafficLight, Lane, Intersection) with proper encapsulation, inheritance, and polymorphism.</a:t>
            </a:r>
          </a:p>
        </p:txBody>
      </p:sp>
      <p:sp>
        <p:nvSpPr>
          <p:cNvPr id="464" name="Rectangle 65"/>
          <p:cNvSpPr/>
          <p:nvPr/>
        </p:nvSpPr>
        <p:spPr>
          <a:xfrm>
            <a:off x="384048" y="2423160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Rectangle 66"/>
          <p:cNvSpPr/>
          <p:nvPr/>
        </p:nvSpPr>
        <p:spPr>
          <a:xfrm>
            <a:off x="384047" y="2423160"/>
            <a:ext cx="475489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67"/>
          <p:cNvSpPr txBox="1"/>
          <p:nvPr/>
        </p:nvSpPr>
        <p:spPr>
          <a:xfrm>
            <a:off x="429768" y="2833555"/>
            <a:ext cx="384048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67" name="TextBox 68"/>
          <p:cNvSpPr txBox="1"/>
          <p:nvPr/>
        </p:nvSpPr>
        <p:spPr>
          <a:xfrm>
            <a:off x="996695" y="251460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Generate Meaningful Statistics</a:t>
            </a:r>
          </a:p>
        </p:txBody>
      </p:sp>
      <p:sp>
        <p:nvSpPr>
          <p:cNvPr id="468" name="TextBox 69"/>
          <p:cNvSpPr txBox="1"/>
          <p:nvPr/>
        </p:nvSpPr>
        <p:spPr>
          <a:xfrm>
            <a:off x="996695" y="2843783"/>
            <a:ext cx="347472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Track and report average vehicle wait time, throughput per phase, and queue length across multiple simulation cycles.</a:t>
            </a:r>
          </a:p>
        </p:txBody>
      </p:sp>
      <p:sp>
        <p:nvSpPr>
          <p:cNvPr id="469" name="Rectangle 70"/>
          <p:cNvSpPr/>
          <p:nvPr/>
        </p:nvSpPr>
        <p:spPr>
          <a:xfrm>
            <a:off x="4818888" y="2423160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Rectangle 71"/>
          <p:cNvSpPr/>
          <p:nvPr/>
        </p:nvSpPr>
        <p:spPr>
          <a:xfrm>
            <a:off x="4818888" y="2423160"/>
            <a:ext cx="475488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72"/>
          <p:cNvSpPr txBox="1"/>
          <p:nvPr/>
        </p:nvSpPr>
        <p:spPr>
          <a:xfrm>
            <a:off x="4864608" y="2833555"/>
            <a:ext cx="384048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72" name="TextBox 73"/>
          <p:cNvSpPr txBox="1"/>
          <p:nvPr/>
        </p:nvSpPr>
        <p:spPr>
          <a:xfrm>
            <a:off x="5431535" y="251460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Demonstrate Signal Optimization</a:t>
            </a:r>
          </a:p>
        </p:txBody>
      </p:sp>
      <p:sp>
        <p:nvSpPr>
          <p:cNvPr id="473" name="TextBox 74"/>
          <p:cNvSpPr txBox="1"/>
          <p:nvPr/>
        </p:nvSpPr>
        <p:spPr>
          <a:xfrm>
            <a:off x="5431535" y="2843783"/>
            <a:ext cx="347472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Compare fixed-timing signals vs. adaptive timing showing measurable improvement in throughput using simulation data.</a:t>
            </a:r>
          </a:p>
        </p:txBody>
      </p:sp>
      <p:sp>
        <p:nvSpPr>
          <p:cNvPr id="474" name="Rectangle 75"/>
          <p:cNvSpPr/>
          <p:nvPr/>
        </p:nvSpPr>
        <p:spPr>
          <a:xfrm>
            <a:off x="384048" y="361187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Rectangle 76"/>
          <p:cNvSpPr/>
          <p:nvPr/>
        </p:nvSpPr>
        <p:spPr>
          <a:xfrm>
            <a:off x="384047" y="3611879"/>
            <a:ext cx="475489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TextBox 77"/>
          <p:cNvSpPr txBox="1"/>
          <p:nvPr/>
        </p:nvSpPr>
        <p:spPr>
          <a:xfrm>
            <a:off x="429768" y="4022275"/>
            <a:ext cx="38404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77" name="TextBox 78"/>
          <p:cNvSpPr txBox="1"/>
          <p:nvPr/>
        </p:nvSpPr>
        <p:spPr>
          <a:xfrm>
            <a:off x="996695" y="370332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Collaborate via GitHub</a:t>
            </a:r>
          </a:p>
        </p:txBody>
      </p:sp>
      <p:sp>
        <p:nvSpPr>
          <p:cNvPr id="478" name="TextBox 79"/>
          <p:cNvSpPr txBox="1"/>
          <p:nvPr/>
        </p:nvSpPr>
        <p:spPr>
          <a:xfrm>
            <a:off x="996695" y="4032503"/>
            <a:ext cx="347472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Maintain a well-structured repository with descriptive commits, feature branches per member, and a complete README.</a:t>
            </a:r>
          </a:p>
        </p:txBody>
      </p:sp>
      <p:sp>
        <p:nvSpPr>
          <p:cNvPr id="479" name="Rectangle 80"/>
          <p:cNvSpPr/>
          <p:nvPr/>
        </p:nvSpPr>
        <p:spPr>
          <a:xfrm>
            <a:off x="4818888" y="361187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0" name="Rectangle 81"/>
          <p:cNvSpPr/>
          <p:nvPr/>
        </p:nvSpPr>
        <p:spPr>
          <a:xfrm>
            <a:off x="4818888" y="3611879"/>
            <a:ext cx="475488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TextBox 82"/>
          <p:cNvSpPr txBox="1"/>
          <p:nvPr/>
        </p:nvSpPr>
        <p:spPr>
          <a:xfrm>
            <a:off x="4864608" y="4022275"/>
            <a:ext cx="384048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82" name="TextBox 83"/>
          <p:cNvSpPr txBox="1"/>
          <p:nvPr/>
        </p:nvSpPr>
        <p:spPr>
          <a:xfrm>
            <a:off x="5431535" y="3703320"/>
            <a:ext cx="34747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002366"/>
                </a:solidFill>
              </a:defRPr>
            </a:lvl1pPr>
          </a:lstStyle>
          <a:p>
            <a:pPr/>
            <a:r>
              <a:t>Apply Engineering Problem-Solving</a:t>
            </a:r>
          </a:p>
        </p:txBody>
      </p:sp>
      <p:sp>
        <p:nvSpPr>
          <p:cNvPr id="483" name="TextBox 84"/>
          <p:cNvSpPr txBox="1"/>
          <p:nvPr/>
        </p:nvSpPr>
        <p:spPr>
          <a:xfrm>
            <a:off x="5431535" y="4032503"/>
            <a:ext cx="347472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Document design decisions, tradeoffs made during implementation, and lessons learned from debugging the simulator.</a:t>
            </a:r>
          </a:p>
        </p:txBody>
      </p:sp>
      <p:sp>
        <p:nvSpPr>
          <p:cNvPr id="484" name="Rectangle 85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86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486" name="TextBox 87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1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9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2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5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6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1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4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5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Rounded Rectangle 52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53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FUNCTIONALITIES</a:t>
            </a:r>
          </a:p>
        </p:txBody>
      </p:sp>
      <p:sp>
        <p:nvSpPr>
          <p:cNvPr id="541" name="TextBox 54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02366"/>
                </a:solidFill>
              </a:defRPr>
            </a:lvl1pPr>
          </a:lstStyle>
          <a:p>
            <a:pPr/>
            <a:r>
              <a:t>Core Functionalities</a:t>
            </a:r>
          </a:p>
        </p:txBody>
      </p:sp>
      <p:sp>
        <p:nvSpPr>
          <p:cNvPr id="542" name="Rectangle 55"/>
          <p:cNvSpPr/>
          <p:nvPr/>
        </p:nvSpPr>
        <p:spPr>
          <a:xfrm>
            <a:off x="384048" y="1261872"/>
            <a:ext cx="4251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3" name="Rectangle 56"/>
          <p:cNvSpPr/>
          <p:nvPr/>
        </p:nvSpPr>
        <p:spPr>
          <a:xfrm>
            <a:off x="384048" y="1261872"/>
            <a:ext cx="4251960" cy="420624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TextBox 57"/>
          <p:cNvSpPr txBox="1"/>
          <p:nvPr/>
        </p:nvSpPr>
        <p:spPr>
          <a:xfrm>
            <a:off x="539495" y="1331784"/>
            <a:ext cx="274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8102E"/>
                </a:solidFill>
              </a:defRPr>
            </a:lvl1pPr>
          </a:lstStyle>
          <a:p>
            <a:pPr/>
            <a:r>
              <a:t>F1</a:t>
            </a:r>
          </a:p>
        </p:txBody>
      </p:sp>
      <p:sp>
        <p:nvSpPr>
          <p:cNvPr id="545" name="TextBox 58"/>
          <p:cNvSpPr txBox="1"/>
          <p:nvPr/>
        </p:nvSpPr>
        <p:spPr>
          <a:xfrm>
            <a:off x="941832" y="1343083"/>
            <a:ext cx="352958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Vehicle Generation</a:t>
            </a:r>
          </a:p>
        </p:txBody>
      </p:sp>
      <p:sp>
        <p:nvSpPr>
          <p:cNvPr id="546" name="TextBox 59"/>
          <p:cNvSpPr txBox="1"/>
          <p:nvPr/>
        </p:nvSpPr>
        <p:spPr>
          <a:xfrm>
            <a:off x="594359" y="1737360"/>
            <a:ext cx="38404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Randomly generates vehicles arriving at each of the 4 lanes using Poisson distribution to model realistic traffic flow.</a:t>
            </a:r>
          </a:p>
        </p:txBody>
      </p:sp>
      <p:sp>
        <p:nvSpPr>
          <p:cNvPr id="547" name="Rectangle 60"/>
          <p:cNvSpPr/>
          <p:nvPr/>
        </p:nvSpPr>
        <p:spPr>
          <a:xfrm>
            <a:off x="548640" y="2450590"/>
            <a:ext cx="1828801" cy="329185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TextBox 61"/>
          <p:cNvSpPr txBox="1"/>
          <p:nvPr/>
        </p:nvSpPr>
        <p:spPr>
          <a:xfrm>
            <a:off x="649222" y="2512226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IN: </a:t>
            </a:r>
            <a:r>
              <a:rPr b="0">
                <a:solidFill>
                  <a:srgbClr val="1A1A1A"/>
                </a:solidFill>
              </a:rPr>
              <a:t>Arrival rate (vehicles/min)</a:t>
            </a:r>
          </a:p>
        </p:txBody>
      </p:sp>
      <p:sp>
        <p:nvSpPr>
          <p:cNvPr id="549" name="Rectangle 62"/>
          <p:cNvSpPr/>
          <p:nvPr/>
        </p:nvSpPr>
        <p:spPr>
          <a:xfrm>
            <a:off x="2505455" y="2450590"/>
            <a:ext cx="1975106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TextBox 63"/>
          <p:cNvSpPr txBox="1"/>
          <p:nvPr/>
        </p:nvSpPr>
        <p:spPr>
          <a:xfrm>
            <a:off x="2606040" y="2442376"/>
            <a:ext cx="18288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OUT: </a:t>
            </a:r>
            <a:r>
              <a:rPr b="0">
                <a:solidFill>
                  <a:srgbClr val="1A1A1A"/>
                </a:solidFill>
              </a:rPr>
              <a:t>Vehicle objects with type, lane, arrival time</a:t>
            </a:r>
          </a:p>
        </p:txBody>
      </p:sp>
      <p:sp>
        <p:nvSpPr>
          <p:cNvPr id="551" name="Rectangle 64"/>
          <p:cNvSpPr/>
          <p:nvPr/>
        </p:nvSpPr>
        <p:spPr>
          <a:xfrm>
            <a:off x="4818888" y="1261872"/>
            <a:ext cx="4251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Rectangle 65"/>
          <p:cNvSpPr/>
          <p:nvPr/>
        </p:nvSpPr>
        <p:spPr>
          <a:xfrm>
            <a:off x="4818888" y="1261872"/>
            <a:ext cx="4251960" cy="420624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3" name="TextBox 66"/>
          <p:cNvSpPr txBox="1"/>
          <p:nvPr/>
        </p:nvSpPr>
        <p:spPr>
          <a:xfrm>
            <a:off x="4974335" y="1331784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8102E"/>
                </a:solidFill>
              </a:defRPr>
            </a:lvl1pPr>
          </a:lstStyle>
          <a:p>
            <a:pPr/>
            <a:r>
              <a:t>F2</a:t>
            </a:r>
          </a:p>
        </p:txBody>
      </p:sp>
      <p:sp>
        <p:nvSpPr>
          <p:cNvPr id="554" name="TextBox 67"/>
          <p:cNvSpPr txBox="1"/>
          <p:nvPr/>
        </p:nvSpPr>
        <p:spPr>
          <a:xfrm>
            <a:off x="5376672" y="1343083"/>
            <a:ext cx="352958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Signal Phase Control</a:t>
            </a:r>
          </a:p>
        </p:txBody>
      </p:sp>
      <p:sp>
        <p:nvSpPr>
          <p:cNvPr id="555" name="TextBox 68"/>
          <p:cNvSpPr txBox="1"/>
          <p:nvPr/>
        </p:nvSpPr>
        <p:spPr>
          <a:xfrm>
            <a:off x="5029199" y="1737360"/>
            <a:ext cx="38404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Manages green/yellow/red cycle for each traffic light. Supports fixed-time and adaptive modes based on queue density.</a:t>
            </a:r>
          </a:p>
        </p:txBody>
      </p:sp>
      <p:sp>
        <p:nvSpPr>
          <p:cNvPr id="556" name="Rectangle 69"/>
          <p:cNvSpPr/>
          <p:nvPr/>
        </p:nvSpPr>
        <p:spPr>
          <a:xfrm>
            <a:off x="4983479" y="2450590"/>
            <a:ext cx="1828801" cy="329185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70"/>
          <p:cNvSpPr txBox="1"/>
          <p:nvPr/>
        </p:nvSpPr>
        <p:spPr>
          <a:xfrm>
            <a:off x="5084064" y="2442376"/>
            <a:ext cx="16459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IN: </a:t>
            </a:r>
            <a:r>
              <a:rPr b="0">
                <a:solidFill>
                  <a:srgbClr val="1A1A1A"/>
                </a:solidFill>
              </a:rPr>
              <a:t>Phase duration, queue lengths</a:t>
            </a:r>
          </a:p>
        </p:txBody>
      </p:sp>
      <p:sp>
        <p:nvSpPr>
          <p:cNvPr id="558" name="Rectangle 71"/>
          <p:cNvSpPr/>
          <p:nvPr/>
        </p:nvSpPr>
        <p:spPr>
          <a:xfrm>
            <a:off x="6940295" y="2450590"/>
            <a:ext cx="1975105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72"/>
          <p:cNvSpPr txBox="1"/>
          <p:nvPr/>
        </p:nvSpPr>
        <p:spPr>
          <a:xfrm>
            <a:off x="7040878" y="2512226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OUT: </a:t>
            </a:r>
            <a:r>
              <a:rPr b="0">
                <a:solidFill>
                  <a:srgbClr val="1A1A1A"/>
                </a:solidFill>
              </a:rPr>
              <a:t>Signal state changes, phase log</a:t>
            </a:r>
          </a:p>
        </p:txBody>
      </p:sp>
      <p:sp>
        <p:nvSpPr>
          <p:cNvPr id="560" name="Rectangle 73"/>
          <p:cNvSpPr/>
          <p:nvPr/>
        </p:nvSpPr>
        <p:spPr>
          <a:xfrm>
            <a:off x="384048" y="3017520"/>
            <a:ext cx="4251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Rectangle 74"/>
          <p:cNvSpPr/>
          <p:nvPr/>
        </p:nvSpPr>
        <p:spPr>
          <a:xfrm>
            <a:off x="384048" y="3017520"/>
            <a:ext cx="4251960" cy="420625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TextBox 75"/>
          <p:cNvSpPr txBox="1"/>
          <p:nvPr/>
        </p:nvSpPr>
        <p:spPr>
          <a:xfrm>
            <a:off x="539495" y="3087432"/>
            <a:ext cx="274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8102E"/>
                </a:solidFill>
              </a:defRPr>
            </a:lvl1pPr>
          </a:lstStyle>
          <a:p>
            <a:pPr/>
            <a:r>
              <a:t>F3</a:t>
            </a:r>
          </a:p>
        </p:txBody>
      </p:sp>
      <p:sp>
        <p:nvSpPr>
          <p:cNvPr id="563" name="TextBox 76"/>
          <p:cNvSpPr txBox="1"/>
          <p:nvPr/>
        </p:nvSpPr>
        <p:spPr>
          <a:xfrm>
            <a:off x="941832" y="3098731"/>
            <a:ext cx="352958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Queue Management</a:t>
            </a:r>
          </a:p>
        </p:txBody>
      </p:sp>
      <p:sp>
        <p:nvSpPr>
          <p:cNvPr id="564" name="TextBox 77"/>
          <p:cNvSpPr txBox="1"/>
          <p:nvPr/>
        </p:nvSpPr>
        <p:spPr>
          <a:xfrm>
            <a:off x="594359" y="3493008"/>
            <a:ext cx="38404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Maintains FIFO queues for each lane. Vehicles enter queue on red and depart on green based on clearance rate.</a:t>
            </a:r>
          </a:p>
        </p:txBody>
      </p:sp>
      <p:sp>
        <p:nvSpPr>
          <p:cNvPr id="565" name="Rectangle 78"/>
          <p:cNvSpPr/>
          <p:nvPr/>
        </p:nvSpPr>
        <p:spPr>
          <a:xfrm>
            <a:off x="548640" y="4206240"/>
            <a:ext cx="1828801" cy="329185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79"/>
          <p:cNvSpPr txBox="1"/>
          <p:nvPr/>
        </p:nvSpPr>
        <p:spPr>
          <a:xfrm>
            <a:off x="649222" y="4267875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IN: </a:t>
            </a:r>
            <a:r>
              <a:rPr b="0">
                <a:solidFill>
                  <a:srgbClr val="1A1A1A"/>
                </a:solidFill>
              </a:rPr>
              <a:t>Vehicle arrivals, signal state</a:t>
            </a:r>
          </a:p>
        </p:txBody>
      </p:sp>
      <p:sp>
        <p:nvSpPr>
          <p:cNvPr id="567" name="Rectangle 80"/>
          <p:cNvSpPr/>
          <p:nvPr/>
        </p:nvSpPr>
        <p:spPr>
          <a:xfrm>
            <a:off x="2505455" y="4206240"/>
            <a:ext cx="1975106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TextBox 81"/>
          <p:cNvSpPr txBox="1"/>
          <p:nvPr/>
        </p:nvSpPr>
        <p:spPr>
          <a:xfrm>
            <a:off x="2606040" y="4198025"/>
            <a:ext cx="18288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OUT: </a:t>
            </a:r>
            <a:r>
              <a:rPr b="0">
                <a:solidFill>
                  <a:srgbClr val="1A1A1A"/>
                </a:solidFill>
              </a:rPr>
              <a:t>Queue length over time, departures</a:t>
            </a:r>
          </a:p>
        </p:txBody>
      </p:sp>
      <p:sp>
        <p:nvSpPr>
          <p:cNvPr id="569" name="Rectangle 82"/>
          <p:cNvSpPr/>
          <p:nvPr/>
        </p:nvSpPr>
        <p:spPr>
          <a:xfrm>
            <a:off x="4818888" y="3017520"/>
            <a:ext cx="4251960" cy="164592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0" name="Rectangle 83"/>
          <p:cNvSpPr/>
          <p:nvPr/>
        </p:nvSpPr>
        <p:spPr>
          <a:xfrm>
            <a:off x="4818888" y="3017520"/>
            <a:ext cx="4251960" cy="420625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84"/>
          <p:cNvSpPr txBox="1"/>
          <p:nvPr/>
        </p:nvSpPr>
        <p:spPr>
          <a:xfrm>
            <a:off x="4974335" y="3087432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8102E"/>
                </a:solidFill>
              </a:defRPr>
            </a:lvl1pPr>
          </a:lstStyle>
          <a:p>
            <a:pPr/>
            <a:r>
              <a:t>F4</a:t>
            </a:r>
          </a:p>
        </p:txBody>
      </p:sp>
      <p:sp>
        <p:nvSpPr>
          <p:cNvPr id="572" name="TextBox 85"/>
          <p:cNvSpPr txBox="1"/>
          <p:nvPr/>
        </p:nvSpPr>
        <p:spPr>
          <a:xfrm>
            <a:off x="5376672" y="3098731"/>
            <a:ext cx="352958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Statistics &amp; Reporting</a:t>
            </a:r>
          </a:p>
        </p:txBody>
      </p:sp>
      <p:sp>
        <p:nvSpPr>
          <p:cNvPr id="573" name="TextBox 86"/>
          <p:cNvSpPr txBox="1"/>
          <p:nvPr/>
        </p:nvSpPr>
        <p:spPr>
          <a:xfrm>
            <a:off x="5029199" y="3493008"/>
            <a:ext cx="38404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Computes and displays average wait time, maximum queue depth, throughput per cycle, and simulation summary.</a:t>
            </a:r>
          </a:p>
        </p:txBody>
      </p:sp>
      <p:sp>
        <p:nvSpPr>
          <p:cNvPr id="574" name="Rectangle 87"/>
          <p:cNvSpPr/>
          <p:nvPr/>
        </p:nvSpPr>
        <p:spPr>
          <a:xfrm>
            <a:off x="4983479" y="4206240"/>
            <a:ext cx="1828801" cy="329185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5" name="TextBox 88"/>
          <p:cNvSpPr txBox="1"/>
          <p:nvPr/>
        </p:nvSpPr>
        <p:spPr>
          <a:xfrm>
            <a:off x="5084064" y="4267875"/>
            <a:ext cx="16459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IN: </a:t>
            </a:r>
            <a:r>
              <a:rPr b="0">
                <a:solidFill>
                  <a:srgbClr val="1A1A1A"/>
                </a:solidFill>
              </a:rPr>
              <a:t>Simulation runtime (seconds)</a:t>
            </a:r>
          </a:p>
        </p:txBody>
      </p:sp>
      <p:sp>
        <p:nvSpPr>
          <p:cNvPr id="576" name="Rectangle 89"/>
          <p:cNvSpPr/>
          <p:nvPr/>
        </p:nvSpPr>
        <p:spPr>
          <a:xfrm>
            <a:off x="6940295" y="4206240"/>
            <a:ext cx="1975105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7" name="TextBox 90"/>
          <p:cNvSpPr txBox="1"/>
          <p:nvPr/>
        </p:nvSpPr>
        <p:spPr>
          <a:xfrm>
            <a:off x="7040878" y="4267875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OUT: </a:t>
            </a:r>
            <a:r>
              <a:rPr b="0">
                <a:solidFill>
                  <a:srgbClr val="1A1A1A"/>
                </a:solidFill>
              </a:rPr>
              <a:t>Console report + CSV export</a:t>
            </a:r>
          </a:p>
        </p:txBody>
      </p:sp>
      <p:sp>
        <p:nvSpPr>
          <p:cNvPr id="578" name="Rectangle 91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TextBox 92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580" name="TextBox 93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6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8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14400" y="-914400"/>
            <a:ext cx="1463040" cy="1463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740664" y="-740664"/>
            <a:ext cx="1115568" cy="1115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0" y="4663440"/>
            <a:ext cx="1280161" cy="1280161"/>
          </a:xfrm>
          <a:prstGeom prst="rect">
            <a:avLst/>
          </a:prstGeom>
          <a:ln w="12700">
            <a:miter lim="400000"/>
          </a:ln>
        </p:spPr>
      </p:pic>
      <p:sp>
        <p:nvSpPr>
          <p:cNvPr id="586" name="Oval 5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Oval 6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8" name="Oval 7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9" name="Oval 8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Oval 9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1" name="Oval 10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Oval 11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Oval 12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Oval 13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Oval 14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6" name="Oval 15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7" name="Oval 16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Oval 17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Oval 18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Oval 19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Oval 20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Oval 21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Oval 22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Oval 23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5" name="Oval 24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Oval 25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Oval 26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Oval 27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Oval 28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Oval 29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" name="Oval 30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Oval 31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Oval 32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Oval 33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Oval 34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Oval 35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" name="Oval 36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Oval 37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Oval 38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0" name="Oval 39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Rounded Rectangle 40"/>
          <p:cNvSpPr/>
          <p:nvPr/>
        </p:nvSpPr>
        <p:spPr>
          <a:xfrm>
            <a:off x="457200" y="182879"/>
            <a:ext cx="1522476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TextBox 41"/>
          <p:cNvSpPr txBox="1"/>
          <p:nvPr/>
        </p:nvSpPr>
        <p:spPr>
          <a:xfrm>
            <a:off x="502919" y="182879"/>
            <a:ext cx="1431038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PSEUDO CODE</a:t>
            </a:r>
          </a:p>
        </p:txBody>
      </p:sp>
      <p:sp>
        <p:nvSpPr>
          <p:cNvPr id="623" name="TextBox 42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Simulation Pseudo Code — Core Algorithm</a:t>
            </a:r>
          </a:p>
        </p:txBody>
      </p:sp>
      <p:sp>
        <p:nvSpPr>
          <p:cNvPr id="624" name="Rectangle 43"/>
          <p:cNvSpPr/>
          <p:nvPr/>
        </p:nvSpPr>
        <p:spPr>
          <a:xfrm>
            <a:off x="347471" y="1170431"/>
            <a:ext cx="5047490" cy="3493010"/>
          </a:xfrm>
          <a:prstGeom prst="rect">
            <a:avLst/>
          </a:prstGeom>
          <a:solidFill>
            <a:srgbClr val="050F1E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Rectangle 44"/>
          <p:cNvSpPr/>
          <p:nvPr/>
        </p:nvSpPr>
        <p:spPr>
          <a:xfrm>
            <a:off x="347471" y="1170432"/>
            <a:ext cx="5047490" cy="34747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TextBox 45"/>
          <p:cNvSpPr txBox="1"/>
          <p:nvPr/>
        </p:nvSpPr>
        <p:spPr>
          <a:xfrm>
            <a:off x="502919" y="1229912"/>
            <a:ext cx="473659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MAIN SIMULATION LOOP</a:t>
            </a:r>
          </a:p>
        </p:txBody>
      </p:sp>
      <p:sp>
        <p:nvSpPr>
          <p:cNvPr id="627" name="TextBox 46"/>
          <p:cNvSpPr txBox="1"/>
          <p:nvPr/>
        </p:nvSpPr>
        <p:spPr>
          <a:xfrm>
            <a:off x="502919" y="1572767"/>
            <a:ext cx="4736593" cy="2555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PROGRAM </a:t>
            </a:r>
            <a:r>
              <a:rPr>
                <a:solidFill>
                  <a:srgbClr val="F4A261"/>
                </a:solidFill>
              </a:rPr>
              <a:t>TrafficSimulator</a:t>
            </a:r>
            <a:endParaRPr>
              <a:solidFill>
                <a:srgbClr val="F4A261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INPUT </a:t>
            </a:r>
            <a:r>
              <a:rPr>
                <a:solidFill>
                  <a:srgbClr val="ABB2BF"/>
                </a:solidFill>
              </a:rPr>
              <a:t>numLanes, arrivalRate, duration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INITIALIZE </a:t>
            </a:r>
            <a:r>
              <a:rPr>
                <a:solidFill>
                  <a:srgbClr val="ABB2BF"/>
                </a:solidFill>
              </a:rPr>
              <a:t>intersection, lights[4], queues[4]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</a:t>
            </a: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 </a:t>
            </a:r>
            <a:r>
              <a:rPr>
                <a:solidFill>
                  <a:srgbClr val="ABB2BF"/>
                </a:solidFill>
              </a:rPr>
              <a:t>t = 0 </a:t>
            </a:r>
            <a:r>
              <a:t>TO </a:t>
            </a:r>
            <a:r>
              <a:rPr>
                <a:solidFill>
                  <a:srgbClr val="ABB2BF"/>
                </a:solidFill>
              </a:rPr>
              <a:t>duration: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GENERATE </a:t>
            </a:r>
            <a:r>
              <a:rPr>
                <a:solidFill>
                  <a:srgbClr val="ABB2BF"/>
                </a:solidFill>
              </a:rPr>
              <a:t>vehicles(arrivalRate, t)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ENQUEUE </a:t>
            </a:r>
            <a:r>
              <a:rPr>
                <a:solidFill>
                  <a:srgbClr val="ABB2BF"/>
                </a:solidFill>
              </a:rPr>
              <a:t>vehicle  lane.queue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UPDATE </a:t>
            </a:r>
            <a:r>
              <a:rPr>
                <a:solidFill>
                  <a:srgbClr val="ABB2BF"/>
                </a:solidFill>
              </a:rPr>
              <a:t>trafficLight.phase(t)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IF </a:t>
            </a:r>
            <a:r>
              <a:rPr>
                <a:solidFill>
                  <a:srgbClr val="ABB2BF"/>
                </a:solidFill>
              </a:rPr>
              <a:t>light.state == GREEN: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DEQUEUE </a:t>
            </a:r>
            <a:r>
              <a:rPr>
                <a:solidFill>
                  <a:srgbClr val="ABB2BF"/>
                </a:solidFill>
              </a:rPr>
              <a:t>vehicle from lane.queue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RECORD </a:t>
            </a:r>
            <a:r>
              <a:rPr>
                <a:solidFill>
                  <a:srgbClr val="ABB2BF"/>
                </a:solidFill>
              </a:rPr>
              <a:t>waitTime, throughput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END IF</a:t>
            </a: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END FOR</a:t>
            </a:r>
          </a:p>
          <a:p>
            <a:pPr>
              <a:spcBef>
                <a:spcPts val="100"/>
              </a:spcBef>
              <a:defRPr sz="10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OUTPUT </a:t>
            </a:r>
            <a:r>
              <a:rPr>
                <a:solidFill>
                  <a:srgbClr val="ABB2BF"/>
                </a:solidFill>
              </a:rPr>
              <a:t>stats.report()</a:t>
            </a:r>
            <a:endParaRPr>
              <a:solidFill>
                <a:srgbClr val="ABB2BF"/>
              </a:solidFill>
            </a:endParaRPr>
          </a:p>
          <a:p>
            <a:pPr>
              <a:spcBef>
                <a:spcPts val="100"/>
              </a:spcBef>
              <a:defRPr sz="10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END PROGRAM</a:t>
            </a:r>
          </a:p>
        </p:txBody>
      </p:sp>
      <p:sp>
        <p:nvSpPr>
          <p:cNvPr id="628" name="Rectangle 47"/>
          <p:cNvSpPr/>
          <p:nvPr/>
        </p:nvSpPr>
        <p:spPr>
          <a:xfrm>
            <a:off x="5577840" y="1170432"/>
            <a:ext cx="3337560" cy="1600201"/>
          </a:xfrm>
          <a:prstGeom prst="rect">
            <a:avLst/>
          </a:prstGeom>
          <a:solidFill>
            <a:srgbClr val="050F1E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9" name="Rectangle 48"/>
          <p:cNvSpPr/>
          <p:nvPr/>
        </p:nvSpPr>
        <p:spPr>
          <a:xfrm>
            <a:off x="5577840" y="1170432"/>
            <a:ext cx="3337560" cy="320041"/>
          </a:xfrm>
          <a:prstGeom prst="rect">
            <a:avLst/>
          </a:prstGeom>
          <a:solidFill>
            <a:srgbClr val="1A3A6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TextBox 49"/>
          <p:cNvSpPr txBox="1"/>
          <p:nvPr/>
        </p:nvSpPr>
        <p:spPr>
          <a:xfrm>
            <a:off x="5733288" y="1214882"/>
            <a:ext cx="3035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FUNCTION generateVehicle(rate, t)</a:t>
            </a:r>
          </a:p>
        </p:txBody>
      </p:sp>
      <p:sp>
        <p:nvSpPr>
          <p:cNvPr id="631" name="TextBox 50"/>
          <p:cNvSpPr txBox="1"/>
          <p:nvPr/>
        </p:nvSpPr>
        <p:spPr>
          <a:xfrm>
            <a:off x="5733288" y="1536191"/>
            <a:ext cx="3035809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 = Poisson(rate x dt)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 i = 0 TO p:</a:t>
            </a: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lane = randomLane()</a:t>
            </a: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v = new Vehicle(lane, t)</a:t>
            </a: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queues[lane].push(v)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RETURN queues</a:t>
            </a:r>
          </a:p>
        </p:txBody>
      </p:sp>
      <p:sp>
        <p:nvSpPr>
          <p:cNvPr id="632" name="Rectangle 51"/>
          <p:cNvSpPr/>
          <p:nvPr/>
        </p:nvSpPr>
        <p:spPr>
          <a:xfrm>
            <a:off x="5577840" y="2907792"/>
            <a:ext cx="3337560" cy="1755648"/>
          </a:xfrm>
          <a:prstGeom prst="rect">
            <a:avLst/>
          </a:prstGeom>
          <a:solidFill>
            <a:srgbClr val="050F1E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3" name="Rectangle 52"/>
          <p:cNvSpPr/>
          <p:nvPr/>
        </p:nvSpPr>
        <p:spPr>
          <a:xfrm>
            <a:off x="5577840" y="2907792"/>
            <a:ext cx="3337560" cy="320041"/>
          </a:xfrm>
          <a:prstGeom prst="rect">
            <a:avLst/>
          </a:prstGeom>
          <a:solidFill>
            <a:srgbClr val="1A3A6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53"/>
          <p:cNvSpPr txBox="1"/>
          <p:nvPr/>
        </p:nvSpPr>
        <p:spPr>
          <a:xfrm>
            <a:off x="5733288" y="2952242"/>
            <a:ext cx="303580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FUNCTION updateSignal(light, t)</a:t>
            </a:r>
          </a:p>
        </p:txBody>
      </p:sp>
      <p:sp>
        <p:nvSpPr>
          <p:cNvPr id="635" name="TextBox 54"/>
          <p:cNvSpPr txBox="1"/>
          <p:nvPr/>
        </p:nvSpPr>
        <p:spPr>
          <a:xfrm>
            <a:off x="5733288" y="3273552"/>
            <a:ext cx="3035809" cy="106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phase = t MOD cycleDuration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IF phase &lt; greenTime:</a:t>
            </a:r>
          </a:p>
          <a:p>
            <a:pPr>
              <a:defRPr sz="9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light.state = GREEN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ELSE IF phase &lt; greenTime+5:</a:t>
            </a:r>
          </a:p>
          <a:p>
            <a:pPr>
              <a:defRPr sz="900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light.state = YELLOW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ELSE:</a:t>
            </a:r>
          </a:p>
          <a:p>
            <a:pPr>
              <a:defRPr sz="90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light.state = RED</a:t>
            </a:r>
          </a:p>
        </p:txBody>
      </p:sp>
      <p:sp>
        <p:nvSpPr>
          <p:cNvPr id="636" name="Rectangle 55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56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638" name="TextBox 57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7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4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64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64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1" name="Rounded Rectangle 52"/>
          <p:cNvSpPr/>
          <p:nvPr/>
        </p:nvSpPr>
        <p:spPr>
          <a:xfrm>
            <a:off x="384047" y="182879"/>
            <a:ext cx="1417321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TextBox 53"/>
          <p:cNvSpPr txBox="1"/>
          <p:nvPr/>
        </p:nvSpPr>
        <p:spPr>
          <a:xfrm>
            <a:off x="429768" y="182879"/>
            <a:ext cx="13258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OOP DESIGN</a:t>
            </a:r>
          </a:p>
        </p:txBody>
      </p:sp>
      <p:sp>
        <p:nvSpPr>
          <p:cNvPr id="693" name="TextBox 54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002366"/>
                </a:solidFill>
              </a:defRPr>
            </a:lvl1pPr>
          </a:lstStyle>
          <a:p>
            <a:pPr/>
            <a:r>
              <a:t>OOP Design — Class Architecture</a:t>
            </a:r>
          </a:p>
        </p:txBody>
      </p:sp>
      <p:sp>
        <p:nvSpPr>
          <p:cNvPr id="694" name="Rectangle 55"/>
          <p:cNvSpPr/>
          <p:nvPr/>
        </p:nvSpPr>
        <p:spPr>
          <a:xfrm>
            <a:off x="384048" y="1207007"/>
            <a:ext cx="2029968" cy="349301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5" name="Rectangle 56"/>
          <p:cNvSpPr/>
          <p:nvPr/>
        </p:nvSpPr>
        <p:spPr>
          <a:xfrm>
            <a:off x="384048" y="1207008"/>
            <a:ext cx="2029968" cy="402337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57"/>
          <p:cNvSpPr txBox="1"/>
          <p:nvPr/>
        </p:nvSpPr>
        <p:spPr>
          <a:xfrm>
            <a:off x="539496" y="1273555"/>
            <a:ext cx="17190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Vehicle</a:t>
            </a:r>
          </a:p>
        </p:txBody>
      </p:sp>
      <p:sp>
        <p:nvSpPr>
          <p:cNvPr id="697" name="TextBox 58"/>
          <p:cNvSpPr txBox="1"/>
          <p:nvPr/>
        </p:nvSpPr>
        <p:spPr>
          <a:xfrm>
            <a:off x="539496" y="1645920"/>
            <a:ext cx="171907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Attributes —</a:t>
            </a:r>
          </a:p>
        </p:txBody>
      </p:sp>
      <p:sp>
        <p:nvSpPr>
          <p:cNvPr id="698" name="Rectangle 59"/>
          <p:cNvSpPr/>
          <p:nvPr/>
        </p:nvSpPr>
        <p:spPr>
          <a:xfrm>
            <a:off x="493776" y="1883664"/>
            <a:ext cx="1810512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TextBox 60"/>
          <p:cNvSpPr txBox="1"/>
          <p:nvPr/>
        </p:nvSpPr>
        <p:spPr>
          <a:xfrm>
            <a:off x="576072" y="1920239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id : int</a:t>
            </a:r>
          </a:p>
        </p:txBody>
      </p:sp>
      <p:sp>
        <p:nvSpPr>
          <p:cNvPr id="700" name="TextBox 61"/>
          <p:cNvSpPr txBox="1"/>
          <p:nvPr/>
        </p:nvSpPr>
        <p:spPr>
          <a:xfrm>
            <a:off x="576072" y="2103120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laneID : int</a:t>
            </a:r>
          </a:p>
        </p:txBody>
      </p:sp>
      <p:sp>
        <p:nvSpPr>
          <p:cNvPr id="701" name="TextBox 62"/>
          <p:cNvSpPr txBox="1"/>
          <p:nvPr/>
        </p:nvSpPr>
        <p:spPr>
          <a:xfrm>
            <a:off x="576072" y="2286000"/>
            <a:ext cx="1682495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arrivalTime : float</a:t>
            </a:r>
          </a:p>
        </p:txBody>
      </p:sp>
      <p:sp>
        <p:nvSpPr>
          <p:cNvPr id="702" name="TextBox 63"/>
          <p:cNvSpPr txBox="1"/>
          <p:nvPr/>
        </p:nvSpPr>
        <p:spPr>
          <a:xfrm>
            <a:off x="576072" y="2468879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waitTime : float</a:t>
            </a:r>
          </a:p>
        </p:txBody>
      </p:sp>
      <p:sp>
        <p:nvSpPr>
          <p:cNvPr id="703" name="TextBox 64"/>
          <p:cNvSpPr txBox="1"/>
          <p:nvPr/>
        </p:nvSpPr>
        <p:spPr>
          <a:xfrm>
            <a:off x="576072" y="2651760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type : string</a:t>
            </a:r>
          </a:p>
        </p:txBody>
      </p:sp>
      <p:sp>
        <p:nvSpPr>
          <p:cNvPr id="704" name="Rectangle 65"/>
          <p:cNvSpPr/>
          <p:nvPr/>
        </p:nvSpPr>
        <p:spPr>
          <a:xfrm>
            <a:off x="493776" y="2907792"/>
            <a:ext cx="1810512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TextBox 66"/>
          <p:cNvSpPr txBox="1"/>
          <p:nvPr/>
        </p:nvSpPr>
        <p:spPr>
          <a:xfrm>
            <a:off x="539496" y="2944367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Methods —</a:t>
            </a:r>
          </a:p>
        </p:txBody>
      </p:sp>
      <p:sp>
        <p:nvSpPr>
          <p:cNvPr id="706" name="TextBox 67"/>
          <p:cNvSpPr txBox="1"/>
          <p:nvPr/>
        </p:nvSpPr>
        <p:spPr>
          <a:xfrm>
            <a:off x="576072" y="3182111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Vehicle(int, int, float)</a:t>
            </a:r>
          </a:p>
        </p:txBody>
      </p:sp>
      <p:sp>
        <p:nvSpPr>
          <p:cNvPr id="707" name="TextBox 68"/>
          <p:cNvSpPr txBox="1"/>
          <p:nvPr/>
        </p:nvSpPr>
        <p:spPr>
          <a:xfrm>
            <a:off x="576072" y="3383279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getWaitTime() : float</a:t>
            </a:r>
          </a:p>
        </p:txBody>
      </p:sp>
      <p:sp>
        <p:nvSpPr>
          <p:cNvPr id="708" name="TextBox 69"/>
          <p:cNvSpPr txBox="1"/>
          <p:nvPr/>
        </p:nvSpPr>
        <p:spPr>
          <a:xfrm>
            <a:off x="576072" y="3584447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recordDeparture(float)</a:t>
            </a:r>
          </a:p>
        </p:txBody>
      </p:sp>
      <p:sp>
        <p:nvSpPr>
          <p:cNvPr id="709" name="TextBox 70"/>
          <p:cNvSpPr txBox="1"/>
          <p:nvPr/>
        </p:nvSpPr>
        <p:spPr>
          <a:xfrm>
            <a:off x="576072" y="3785615"/>
            <a:ext cx="168249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getType() : string</a:t>
            </a:r>
          </a:p>
        </p:txBody>
      </p:sp>
      <p:sp>
        <p:nvSpPr>
          <p:cNvPr id="710" name="Rectangle 71"/>
          <p:cNvSpPr/>
          <p:nvPr/>
        </p:nvSpPr>
        <p:spPr>
          <a:xfrm>
            <a:off x="2578607" y="1207007"/>
            <a:ext cx="2029969" cy="349301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Rectangle 72"/>
          <p:cNvSpPr/>
          <p:nvPr/>
        </p:nvSpPr>
        <p:spPr>
          <a:xfrm>
            <a:off x="2578607" y="1207008"/>
            <a:ext cx="2029969" cy="402337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2" name="TextBox 73"/>
          <p:cNvSpPr txBox="1"/>
          <p:nvPr/>
        </p:nvSpPr>
        <p:spPr>
          <a:xfrm>
            <a:off x="2734055" y="1273555"/>
            <a:ext cx="17190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TrafficLight</a:t>
            </a:r>
          </a:p>
        </p:txBody>
      </p:sp>
      <p:sp>
        <p:nvSpPr>
          <p:cNvPr id="713" name="TextBox 74"/>
          <p:cNvSpPr txBox="1"/>
          <p:nvPr/>
        </p:nvSpPr>
        <p:spPr>
          <a:xfrm>
            <a:off x="2734055" y="1645920"/>
            <a:ext cx="171907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Attributes —</a:t>
            </a:r>
          </a:p>
        </p:txBody>
      </p:sp>
      <p:sp>
        <p:nvSpPr>
          <p:cNvPr id="714" name="Rectangle 75"/>
          <p:cNvSpPr/>
          <p:nvPr/>
        </p:nvSpPr>
        <p:spPr>
          <a:xfrm>
            <a:off x="2688335" y="1883664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TextBox 76"/>
          <p:cNvSpPr txBox="1"/>
          <p:nvPr/>
        </p:nvSpPr>
        <p:spPr>
          <a:xfrm>
            <a:off x="2770632" y="192023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laneID : int</a:t>
            </a:r>
          </a:p>
        </p:txBody>
      </p:sp>
      <p:sp>
        <p:nvSpPr>
          <p:cNvPr id="716" name="TextBox 77"/>
          <p:cNvSpPr txBox="1"/>
          <p:nvPr/>
        </p:nvSpPr>
        <p:spPr>
          <a:xfrm>
            <a:off x="2770632" y="2103120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state : LightState</a:t>
            </a:r>
          </a:p>
        </p:txBody>
      </p:sp>
      <p:sp>
        <p:nvSpPr>
          <p:cNvPr id="717" name="TextBox 78"/>
          <p:cNvSpPr txBox="1"/>
          <p:nvPr/>
        </p:nvSpPr>
        <p:spPr>
          <a:xfrm>
            <a:off x="2770632" y="2286000"/>
            <a:ext cx="1682496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greenDuration : int</a:t>
            </a:r>
          </a:p>
        </p:txBody>
      </p:sp>
      <p:sp>
        <p:nvSpPr>
          <p:cNvPr id="718" name="TextBox 79"/>
          <p:cNvSpPr txBox="1"/>
          <p:nvPr/>
        </p:nvSpPr>
        <p:spPr>
          <a:xfrm>
            <a:off x="2770632" y="24688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cycleTime : int</a:t>
            </a:r>
          </a:p>
        </p:txBody>
      </p:sp>
      <p:sp>
        <p:nvSpPr>
          <p:cNvPr id="719" name="Rectangle 80"/>
          <p:cNvSpPr/>
          <p:nvPr/>
        </p:nvSpPr>
        <p:spPr>
          <a:xfrm>
            <a:off x="2688335" y="2907792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0" name="TextBox 81"/>
          <p:cNvSpPr txBox="1"/>
          <p:nvPr/>
        </p:nvSpPr>
        <p:spPr>
          <a:xfrm>
            <a:off x="2734055" y="2944367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Methods —</a:t>
            </a:r>
          </a:p>
        </p:txBody>
      </p:sp>
      <p:sp>
        <p:nvSpPr>
          <p:cNvPr id="721" name="TextBox 82"/>
          <p:cNvSpPr txBox="1"/>
          <p:nvPr/>
        </p:nvSpPr>
        <p:spPr>
          <a:xfrm>
            <a:off x="2770632" y="3182111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update(float t) : void</a:t>
            </a:r>
          </a:p>
        </p:txBody>
      </p:sp>
      <p:sp>
        <p:nvSpPr>
          <p:cNvPr id="722" name="TextBox 83"/>
          <p:cNvSpPr txBox="1"/>
          <p:nvPr/>
        </p:nvSpPr>
        <p:spPr>
          <a:xfrm>
            <a:off x="2770632" y="33832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getState() : LightState</a:t>
            </a:r>
          </a:p>
        </p:txBody>
      </p:sp>
      <p:sp>
        <p:nvSpPr>
          <p:cNvPr id="723" name="TextBox 84"/>
          <p:cNvSpPr txBox="1"/>
          <p:nvPr/>
        </p:nvSpPr>
        <p:spPr>
          <a:xfrm>
            <a:off x="2770632" y="3584447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setGreenDuration(int)</a:t>
            </a:r>
          </a:p>
        </p:txBody>
      </p:sp>
      <p:sp>
        <p:nvSpPr>
          <p:cNvPr id="724" name="TextBox 85"/>
          <p:cNvSpPr txBox="1"/>
          <p:nvPr/>
        </p:nvSpPr>
        <p:spPr>
          <a:xfrm>
            <a:off x="2770632" y="3785615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isGreen() : bool</a:t>
            </a:r>
          </a:p>
        </p:txBody>
      </p:sp>
      <p:sp>
        <p:nvSpPr>
          <p:cNvPr id="725" name="Rectangle 86"/>
          <p:cNvSpPr/>
          <p:nvPr/>
        </p:nvSpPr>
        <p:spPr>
          <a:xfrm>
            <a:off x="4773167" y="1207007"/>
            <a:ext cx="2029969" cy="349301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Rectangle 87"/>
          <p:cNvSpPr/>
          <p:nvPr/>
        </p:nvSpPr>
        <p:spPr>
          <a:xfrm>
            <a:off x="4773167" y="1207008"/>
            <a:ext cx="2029969" cy="402337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7" name="TextBox 88"/>
          <p:cNvSpPr txBox="1"/>
          <p:nvPr/>
        </p:nvSpPr>
        <p:spPr>
          <a:xfrm>
            <a:off x="4928616" y="1273555"/>
            <a:ext cx="17190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Lane</a:t>
            </a:r>
          </a:p>
        </p:txBody>
      </p:sp>
      <p:sp>
        <p:nvSpPr>
          <p:cNvPr id="728" name="TextBox 89"/>
          <p:cNvSpPr txBox="1"/>
          <p:nvPr/>
        </p:nvSpPr>
        <p:spPr>
          <a:xfrm>
            <a:off x="4928616" y="1645920"/>
            <a:ext cx="171907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Attributes —</a:t>
            </a:r>
          </a:p>
        </p:txBody>
      </p:sp>
      <p:sp>
        <p:nvSpPr>
          <p:cNvPr id="729" name="Rectangle 90"/>
          <p:cNvSpPr/>
          <p:nvPr/>
        </p:nvSpPr>
        <p:spPr>
          <a:xfrm>
            <a:off x="4882896" y="1883664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0" name="TextBox 91"/>
          <p:cNvSpPr txBox="1"/>
          <p:nvPr/>
        </p:nvSpPr>
        <p:spPr>
          <a:xfrm>
            <a:off x="4965191" y="192023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laneID : int</a:t>
            </a:r>
          </a:p>
        </p:txBody>
      </p:sp>
      <p:sp>
        <p:nvSpPr>
          <p:cNvPr id="731" name="TextBox 92"/>
          <p:cNvSpPr txBox="1"/>
          <p:nvPr/>
        </p:nvSpPr>
        <p:spPr>
          <a:xfrm>
            <a:off x="4965191" y="2103120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queue : queue&lt;Vehicle*&gt;</a:t>
            </a:r>
          </a:p>
        </p:txBody>
      </p:sp>
      <p:sp>
        <p:nvSpPr>
          <p:cNvPr id="732" name="TextBox 93"/>
          <p:cNvSpPr txBox="1"/>
          <p:nvPr/>
        </p:nvSpPr>
        <p:spPr>
          <a:xfrm>
            <a:off x="4965191" y="2286000"/>
            <a:ext cx="1682496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totalDeparts : int</a:t>
            </a:r>
          </a:p>
        </p:txBody>
      </p:sp>
      <p:sp>
        <p:nvSpPr>
          <p:cNvPr id="733" name="TextBox 94"/>
          <p:cNvSpPr txBox="1"/>
          <p:nvPr/>
        </p:nvSpPr>
        <p:spPr>
          <a:xfrm>
            <a:off x="4965191" y="24688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maxQueueLen : int</a:t>
            </a:r>
          </a:p>
        </p:txBody>
      </p:sp>
      <p:sp>
        <p:nvSpPr>
          <p:cNvPr id="734" name="Rectangle 95"/>
          <p:cNvSpPr/>
          <p:nvPr/>
        </p:nvSpPr>
        <p:spPr>
          <a:xfrm>
            <a:off x="4882896" y="2907792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5" name="TextBox 96"/>
          <p:cNvSpPr txBox="1"/>
          <p:nvPr/>
        </p:nvSpPr>
        <p:spPr>
          <a:xfrm>
            <a:off x="4928616" y="2944367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Methods —</a:t>
            </a:r>
          </a:p>
        </p:txBody>
      </p:sp>
      <p:sp>
        <p:nvSpPr>
          <p:cNvPr id="736" name="TextBox 97"/>
          <p:cNvSpPr txBox="1"/>
          <p:nvPr/>
        </p:nvSpPr>
        <p:spPr>
          <a:xfrm>
            <a:off x="4965191" y="3182111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enqueue(Vehicle*) : void</a:t>
            </a:r>
          </a:p>
        </p:txBody>
      </p:sp>
      <p:sp>
        <p:nvSpPr>
          <p:cNvPr id="737" name="TextBox 98"/>
          <p:cNvSpPr txBox="1"/>
          <p:nvPr/>
        </p:nvSpPr>
        <p:spPr>
          <a:xfrm>
            <a:off x="4965191" y="33832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dequeue() : Vehicle*</a:t>
            </a:r>
          </a:p>
        </p:txBody>
      </p:sp>
      <p:sp>
        <p:nvSpPr>
          <p:cNvPr id="738" name="TextBox 99"/>
          <p:cNvSpPr txBox="1"/>
          <p:nvPr/>
        </p:nvSpPr>
        <p:spPr>
          <a:xfrm>
            <a:off x="4965191" y="3584447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getQueueSize() : int</a:t>
            </a:r>
          </a:p>
        </p:txBody>
      </p:sp>
      <p:sp>
        <p:nvSpPr>
          <p:cNvPr id="739" name="TextBox 100"/>
          <p:cNvSpPr txBox="1"/>
          <p:nvPr/>
        </p:nvSpPr>
        <p:spPr>
          <a:xfrm>
            <a:off x="4965191" y="3785615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getStats() : LaneStats</a:t>
            </a:r>
          </a:p>
        </p:txBody>
      </p:sp>
      <p:sp>
        <p:nvSpPr>
          <p:cNvPr id="740" name="Rectangle 101"/>
          <p:cNvSpPr/>
          <p:nvPr/>
        </p:nvSpPr>
        <p:spPr>
          <a:xfrm>
            <a:off x="6967726" y="1207007"/>
            <a:ext cx="2029969" cy="349301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1" name="Rectangle 102"/>
          <p:cNvSpPr/>
          <p:nvPr/>
        </p:nvSpPr>
        <p:spPr>
          <a:xfrm>
            <a:off x="6967726" y="1207008"/>
            <a:ext cx="2029969" cy="402337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TextBox 103"/>
          <p:cNvSpPr txBox="1"/>
          <p:nvPr/>
        </p:nvSpPr>
        <p:spPr>
          <a:xfrm>
            <a:off x="7123174" y="1273555"/>
            <a:ext cx="171907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Intersection</a:t>
            </a:r>
          </a:p>
        </p:txBody>
      </p:sp>
      <p:sp>
        <p:nvSpPr>
          <p:cNvPr id="743" name="TextBox 104"/>
          <p:cNvSpPr txBox="1"/>
          <p:nvPr/>
        </p:nvSpPr>
        <p:spPr>
          <a:xfrm>
            <a:off x="7123174" y="1645920"/>
            <a:ext cx="1719073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Attributes —</a:t>
            </a:r>
          </a:p>
        </p:txBody>
      </p:sp>
      <p:sp>
        <p:nvSpPr>
          <p:cNvPr id="744" name="Rectangle 105"/>
          <p:cNvSpPr/>
          <p:nvPr/>
        </p:nvSpPr>
        <p:spPr>
          <a:xfrm>
            <a:off x="7077454" y="1883664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106"/>
          <p:cNvSpPr txBox="1"/>
          <p:nvPr/>
        </p:nvSpPr>
        <p:spPr>
          <a:xfrm>
            <a:off x="7159750" y="192023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lanes : vector&lt;Lane&gt;</a:t>
            </a:r>
          </a:p>
        </p:txBody>
      </p:sp>
      <p:sp>
        <p:nvSpPr>
          <p:cNvPr id="746" name="TextBox 107"/>
          <p:cNvSpPr txBox="1"/>
          <p:nvPr/>
        </p:nvSpPr>
        <p:spPr>
          <a:xfrm>
            <a:off x="7159750" y="2103120"/>
            <a:ext cx="1682496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lights : vector&lt;TrafficLight&gt;</a:t>
            </a:r>
          </a:p>
        </p:txBody>
      </p:sp>
      <p:sp>
        <p:nvSpPr>
          <p:cNvPr id="747" name="TextBox 108"/>
          <p:cNvSpPr txBox="1"/>
          <p:nvPr/>
        </p:nvSpPr>
        <p:spPr>
          <a:xfrm>
            <a:off x="7159750" y="2286000"/>
            <a:ext cx="1682496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clock : float</a:t>
            </a:r>
          </a:p>
        </p:txBody>
      </p:sp>
      <p:sp>
        <p:nvSpPr>
          <p:cNvPr id="748" name="TextBox 109"/>
          <p:cNvSpPr txBox="1"/>
          <p:nvPr/>
        </p:nvSpPr>
        <p:spPr>
          <a:xfrm>
            <a:off x="7159750" y="24688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 report : SimStats</a:t>
            </a:r>
          </a:p>
        </p:txBody>
      </p:sp>
      <p:sp>
        <p:nvSpPr>
          <p:cNvPr id="749" name="Rectangle 110"/>
          <p:cNvSpPr/>
          <p:nvPr/>
        </p:nvSpPr>
        <p:spPr>
          <a:xfrm>
            <a:off x="7077454" y="2907792"/>
            <a:ext cx="1810513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0" name="TextBox 111"/>
          <p:cNvSpPr txBox="1"/>
          <p:nvPr/>
        </p:nvSpPr>
        <p:spPr>
          <a:xfrm>
            <a:off x="7123174" y="2944367"/>
            <a:ext cx="1719073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002366"/>
                </a:solidFill>
              </a:defRPr>
            </a:lvl1pPr>
          </a:lstStyle>
          <a:p>
            <a:pPr/>
            <a:r>
              <a:t>— Methods —</a:t>
            </a:r>
          </a:p>
        </p:txBody>
      </p:sp>
      <p:sp>
        <p:nvSpPr>
          <p:cNvPr id="751" name="TextBox 112"/>
          <p:cNvSpPr txBox="1"/>
          <p:nvPr/>
        </p:nvSpPr>
        <p:spPr>
          <a:xfrm>
            <a:off x="7159750" y="3182111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simulate(int) : void</a:t>
            </a:r>
          </a:p>
        </p:txBody>
      </p:sp>
      <p:sp>
        <p:nvSpPr>
          <p:cNvPr id="752" name="TextBox 113"/>
          <p:cNvSpPr txBox="1"/>
          <p:nvPr/>
        </p:nvSpPr>
        <p:spPr>
          <a:xfrm>
            <a:off x="7159750" y="3383279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generateVehicles()</a:t>
            </a:r>
          </a:p>
        </p:txBody>
      </p:sp>
      <p:sp>
        <p:nvSpPr>
          <p:cNvPr id="753" name="TextBox 114"/>
          <p:cNvSpPr txBox="1"/>
          <p:nvPr/>
        </p:nvSpPr>
        <p:spPr>
          <a:xfrm>
            <a:off x="7159750" y="3584447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updateSignals()</a:t>
            </a:r>
          </a:p>
        </p:txBody>
      </p:sp>
      <p:sp>
        <p:nvSpPr>
          <p:cNvPr id="754" name="TextBox 115"/>
          <p:cNvSpPr txBox="1"/>
          <p:nvPr/>
        </p:nvSpPr>
        <p:spPr>
          <a:xfrm>
            <a:off x="7159750" y="3785615"/>
            <a:ext cx="1682496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+ printReport() : void</a:t>
            </a:r>
          </a:p>
        </p:txBody>
      </p:sp>
      <p:sp>
        <p:nvSpPr>
          <p:cNvPr id="755" name="TextBox 116"/>
          <p:cNvSpPr txBox="1"/>
          <p:nvPr/>
        </p:nvSpPr>
        <p:spPr>
          <a:xfrm>
            <a:off x="429767" y="4700015"/>
            <a:ext cx="82296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8A8A8A"/>
                </a:solidFill>
              </a:defRPr>
            </a:lvl1pPr>
          </a:lstStyle>
          <a:p>
            <a:pPr/>
            <a:r>
              <a:t>Intersection aggregates Lane and TrafficLight  ·  Vehicle is owned by Lane via queue</a:t>
            </a:r>
          </a:p>
        </p:txBody>
      </p:sp>
      <p:sp>
        <p:nvSpPr>
          <p:cNvPr id="756" name="Rectangle 11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7" name="TextBox 118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758" name="TextBox 119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8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76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1" name="Rounded Rectangle 52"/>
          <p:cNvSpPr/>
          <p:nvPr/>
        </p:nvSpPr>
        <p:spPr>
          <a:xfrm>
            <a:off x="384047" y="182879"/>
            <a:ext cx="2048257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2" name="TextBox 53"/>
          <p:cNvSpPr txBox="1"/>
          <p:nvPr/>
        </p:nvSpPr>
        <p:spPr>
          <a:xfrm>
            <a:off x="429768" y="182879"/>
            <a:ext cx="1956817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OOP DESIGN TABLE</a:t>
            </a:r>
          </a:p>
        </p:txBody>
      </p:sp>
      <p:sp>
        <p:nvSpPr>
          <p:cNvPr id="813" name="TextBox 54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002366"/>
                </a:solidFill>
              </a:defRPr>
            </a:lvl1pPr>
          </a:lstStyle>
          <a:p>
            <a:pPr/>
            <a:r>
              <a:t>OOP Design Table</a:t>
            </a:r>
          </a:p>
        </p:txBody>
      </p:sp>
      <p:graphicFrame>
        <p:nvGraphicFramePr>
          <p:cNvPr id="814" name="Table 55"/>
          <p:cNvGraphicFramePr/>
          <p:nvPr/>
        </p:nvGraphicFramePr>
        <p:xfrm>
          <a:off x="384047" y="1207008"/>
          <a:ext cx="8412482" cy="34564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234440"/>
                <a:gridCol w="1737360"/>
                <a:gridCol w="822960"/>
                <a:gridCol w="1417320"/>
                <a:gridCol w="3200400"/>
              </a:tblGrid>
              <a:tr h="24688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/ Method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Access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 Type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0236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1A1A"/>
                          </a:solidFill>
                        </a:rPr>
                        <a:t>Vehicle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Unique vehicle identifier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arrivalTime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Time vehicle arrived at queue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waitTime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Total time spent waiting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getWaitTime()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Returns computed wait time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1A1A"/>
                          </a:solidFill>
                        </a:rPr>
                        <a:t>TrafficLight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LightState (enum)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Current RED/YELLOW/GREEN state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greenDuration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Seconds light stays green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update(float t)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Updates state based on sim time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isGreen()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Returns true if currently green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1A1A"/>
                          </a:solidFill>
                        </a:rPr>
                        <a:t>Lane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C8102E"/>
                          </a:solidFill>
                        </a:rPr>
                        <a:t>private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queue&lt;Vehicle*&gt;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FIFO queue of waiting vehicles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enqueue()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Adds vehicle to end of queue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dequeue()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Vehicle*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Removes and returns front vehicle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1A1A"/>
                          </a:solidFill>
                        </a:rPr>
                        <a:t>Intersection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simulate(int)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Runs full simulation loop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printReport()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1A6B1A"/>
                          </a:solidFill>
                        </a:rPr>
                        <a:t>public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900">
                          <a:solidFill>
                            <a:srgbClr val="1A1A1A"/>
                          </a:solidFill>
                        </a:rPr>
                        <a:t>Outputs all statistics to console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8F0F0"/>
                    </a:solidFill>
                  </a:tcPr>
                </a:tc>
              </a:tr>
            </a:tbl>
          </a:graphicData>
        </a:graphic>
      </p:graphicFrame>
      <p:sp>
        <p:nvSpPr>
          <p:cNvPr id="815" name="TextBox 56"/>
          <p:cNvSpPr txBox="1"/>
          <p:nvPr/>
        </p:nvSpPr>
        <p:spPr>
          <a:xfrm>
            <a:off x="429767" y="4700015"/>
            <a:ext cx="82296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8A8A8A"/>
                </a:solidFill>
              </a:defRPr>
            </a:lvl1pPr>
          </a:lstStyle>
          <a:p>
            <a:pPr/>
            <a:r>
              <a:t>Red = private  |  Green = public  |  Add/remove rows to match your actual implementation</a:t>
            </a:r>
          </a:p>
        </p:txBody>
      </p:sp>
      <p:sp>
        <p:nvSpPr>
          <p:cNvPr id="816" name="Rectangle 5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7" name="TextBox 58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818" name="TextBox 59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9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2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82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1" name="Rounded Rectangle 52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2" name="TextBox 53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SYSTEM OVERVIEW</a:t>
            </a:r>
          </a:p>
        </p:txBody>
      </p:sp>
      <p:sp>
        <p:nvSpPr>
          <p:cNvPr id="873" name="TextBox 54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02366"/>
                </a:solidFill>
              </a:defRPr>
            </a:lvl1pPr>
          </a:lstStyle>
          <a:p>
            <a:pPr/>
            <a:r>
              <a:t>System Overview — Input  ·  Process  ·  Output</a:t>
            </a:r>
          </a:p>
        </p:txBody>
      </p:sp>
      <p:sp>
        <p:nvSpPr>
          <p:cNvPr id="874" name="Rectangle 55"/>
          <p:cNvSpPr/>
          <p:nvPr/>
        </p:nvSpPr>
        <p:spPr>
          <a:xfrm>
            <a:off x="384047" y="1207008"/>
            <a:ext cx="2651762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5" name="Rectangle 56"/>
          <p:cNvSpPr/>
          <p:nvPr/>
        </p:nvSpPr>
        <p:spPr>
          <a:xfrm>
            <a:off x="384047" y="1207008"/>
            <a:ext cx="2651762" cy="457201"/>
          </a:xfrm>
          <a:prstGeom prst="rect">
            <a:avLst/>
          </a:prstGeom>
          <a:solidFill>
            <a:srgbClr val="1565C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6" name="TextBox 57"/>
          <p:cNvSpPr txBox="1"/>
          <p:nvPr/>
        </p:nvSpPr>
        <p:spPr>
          <a:xfrm>
            <a:off x="576072" y="1285311"/>
            <a:ext cx="241401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877" name="Rectangle 58"/>
          <p:cNvSpPr/>
          <p:nvPr/>
        </p:nvSpPr>
        <p:spPr>
          <a:xfrm>
            <a:off x="548639" y="1773935"/>
            <a:ext cx="2322578" cy="566929"/>
          </a:xfrm>
          <a:prstGeom prst="rect">
            <a:avLst/>
          </a:prstGeom>
          <a:solidFill>
            <a:srgbClr val="E3F2FD"/>
          </a:solidFill>
          <a:ln>
            <a:solidFill>
              <a:srgbClr val="BBDEF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8" name="TextBox 59"/>
          <p:cNvSpPr txBox="1"/>
          <p:nvPr/>
        </p:nvSpPr>
        <p:spPr>
          <a:xfrm>
            <a:off x="685800" y="1884593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0D47A1"/>
                </a:solidFill>
              </a:defRPr>
            </a:pPr>
            <a:r>
              <a:t>Intersection config</a:t>
            </a:r>
          </a:p>
          <a:p>
            <a:pPr>
              <a:defRPr sz="900">
                <a:solidFill>
                  <a:srgbClr val="0D47A1"/>
                </a:solidFill>
              </a:defRPr>
            </a:pPr>
            <a:r>
              <a:t>(# lanes, # phases)</a:t>
            </a:r>
          </a:p>
        </p:txBody>
      </p:sp>
      <p:sp>
        <p:nvSpPr>
          <p:cNvPr id="879" name="Rectangle 60"/>
          <p:cNvSpPr/>
          <p:nvPr/>
        </p:nvSpPr>
        <p:spPr>
          <a:xfrm>
            <a:off x="548639" y="2468879"/>
            <a:ext cx="2322578" cy="566929"/>
          </a:xfrm>
          <a:prstGeom prst="rect">
            <a:avLst/>
          </a:prstGeom>
          <a:solidFill>
            <a:srgbClr val="E3F2FD"/>
          </a:solidFill>
          <a:ln>
            <a:solidFill>
              <a:srgbClr val="BBDEF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TextBox 61"/>
          <p:cNvSpPr txBox="1"/>
          <p:nvPr/>
        </p:nvSpPr>
        <p:spPr>
          <a:xfrm>
            <a:off x="685800" y="2579537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0D47A1"/>
                </a:solidFill>
              </a:defRPr>
            </a:pPr>
            <a:r>
              <a:t>Arrival rate</a:t>
            </a:r>
          </a:p>
          <a:p>
            <a:pPr>
              <a:defRPr sz="900">
                <a:solidFill>
                  <a:srgbClr val="0D47A1"/>
                </a:solidFill>
              </a:defRPr>
            </a:pPr>
            <a:r>
              <a:t>(vehicles/min/lane)</a:t>
            </a:r>
          </a:p>
        </p:txBody>
      </p:sp>
      <p:sp>
        <p:nvSpPr>
          <p:cNvPr id="881" name="Rectangle 62"/>
          <p:cNvSpPr/>
          <p:nvPr/>
        </p:nvSpPr>
        <p:spPr>
          <a:xfrm>
            <a:off x="548639" y="3163823"/>
            <a:ext cx="2322578" cy="566929"/>
          </a:xfrm>
          <a:prstGeom prst="rect">
            <a:avLst/>
          </a:prstGeom>
          <a:solidFill>
            <a:srgbClr val="E3F2FD"/>
          </a:solidFill>
          <a:ln>
            <a:solidFill>
              <a:srgbClr val="BBDEF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2" name="TextBox 63"/>
          <p:cNvSpPr txBox="1"/>
          <p:nvPr/>
        </p:nvSpPr>
        <p:spPr>
          <a:xfrm>
            <a:off x="685800" y="3274481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0D47A1"/>
                </a:solidFill>
              </a:defRPr>
            </a:pPr>
            <a:r>
              <a:t>Phase durations</a:t>
            </a:r>
          </a:p>
          <a:p>
            <a:pPr>
              <a:defRPr sz="900">
                <a:solidFill>
                  <a:srgbClr val="0D47A1"/>
                </a:solidFill>
              </a:defRPr>
            </a:pPr>
            <a:r>
              <a:t>(green/yellow sec)</a:t>
            </a:r>
          </a:p>
        </p:txBody>
      </p:sp>
      <p:sp>
        <p:nvSpPr>
          <p:cNvPr id="883" name="Rectangle 64"/>
          <p:cNvSpPr/>
          <p:nvPr/>
        </p:nvSpPr>
        <p:spPr>
          <a:xfrm>
            <a:off x="548639" y="3858767"/>
            <a:ext cx="2322578" cy="566929"/>
          </a:xfrm>
          <a:prstGeom prst="rect">
            <a:avLst/>
          </a:prstGeom>
          <a:solidFill>
            <a:srgbClr val="E3F2FD"/>
          </a:solidFill>
          <a:ln>
            <a:solidFill>
              <a:srgbClr val="BBDEF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4" name="TextBox 65"/>
          <p:cNvSpPr txBox="1"/>
          <p:nvPr/>
        </p:nvSpPr>
        <p:spPr>
          <a:xfrm>
            <a:off x="685800" y="3969425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0D47A1"/>
                </a:solidFill>
              </a:defRPr>
            </a:pPr>
            <a:r>
              <a:t>Simulation runtime</a:t>
            </a:r>
          </a:p>
          <a:p>
            <a:pPr>
              <a:defRPr sz="900">
                <a:solidFill>
                  <a:srgbClr val="0D47A1"/>
                </a:solidFill>
              </a:defRPr>
            </a:pPr>
            <a:r>
              <a:t>(total seconds)</a:t>
            </a:r>
          </a:p>
        </p:txBody>
      </p:sp>
      <p:sp>
        <p:nvSpPr>
          <p:cNvPr id="885" name="TextBox 66"/>
          <p:cNvSpPr txBox="1"/>
          <p:nvPr/>
        </p:nvSpPr>
        <p:spPr>
          <a:xfrm>
            <a:off x="3136392" y="2728557"/>
            <a:ext cx="128017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C8102E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886" name="Rectangle 67"/>
          <p:cNvSpPr/>
          <p:nvPr/>
        </p:nvSpPr>
        <p:spPr>
          <a:xfrm>
            <a:off x="3218688" y="1207008"/>
            <a:ext cx="2651761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7" name="Rectangle 68"/>
          <p:cNvSpPr/>
          <p:nvPr/>
        </p:nvSpPr>
        <p:spPr>
          <a:xfrm>
            <a:off x="3218688" y="1207008"/>
            <a:ext cx="2651761" cy="457201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8" name="TextBox 69"/>
          <p:cNvSpPr txBox="1"/>
          <p:nvPr/>
        </p:nvSpPr>
        <p:spPr>
          <a:xfrm>
            <a:off x="3410711" y="1285311"/>
            <a:ext cx="241401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PROCESS</a:t>
            </a:r>
          </a:p>
        </p:txBody>
      </p:sp>
      <p:sp>
        <p:nvSpPr>
          <p:cNvPr id="889" name="Oval 70"/>
          <p:cNvSpPr/>
          <p:nvPr/>
        </p:nvSpPr>
        <p:spPr>
          <a:xfrm>
            <a:off x="3401567" y="1911094"/>
            <a:ext cx="292609" cy="29260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0" name="TextBox 71"/>
          <p:cNvSpPr txBox="1"/>
          <p:nvPr/>
        </p:nvSpPr>
        <p:spPr>
          <a:xfrm>
            <a:off x="3447288" y="1954442"/>
            <a:ext cx="20116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91" name="TextBox 72"/>
          <p:cNvSpPr txBox="1"/>
          <p:nvPr/>
        </p:nvSpPr>
        <p:spPr>
          <a:xfrm>
            <a:off x="3813048" y="1884593"/>
            <a:ext cx="190195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Generate vehicles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(Poisson arrival)</a:t>
            </a:r>
          </a:p>
        </p:txBody>
      </p:sp>
      <p:sp>
        <p:nvSpPr>
          <p:cNvPr id="892" name="Rectangle 73"/>
          <p:cNvSpPr/>
          <p:nvPr/>
        </p:nvSpPr>
        <p:spPr>
          <a:xfrm>
            <a:off x="3383279" y="2322576"/>
            <a:ext cx="2322577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3" name="Oval 74"/>
          <p:cNvSpPr/>
          <p:nvPr/>
        </p:nvSpPr>
        <p:spPr>
          <a:xfrm>
            <a:off x="3401567" y="2478023"/>
            <a:ext cx="292609" cy="29260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TextBox 75"/>
          <p:cNvSpPr txBox="1"/>
          <p:nvPr/>
        </p:nvSpPr>
        <p:spPr>
          <a:xfrm>
            <a:off x="3447288" y="2521371"/>
            <a:ext cx="20116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95" name="TextBox 76"/>
          <p:cNvSpPr txBox="1"/>
          <p:nvPr/>
        </p:nvSpPr>
        <p:spPr>
          <a:xfrm>
            <a:off x="3813048" y="2521371"/>
            <a:ext cx="190195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Enqueue to lane queues</a:t>
            </a:r>
          </a:p>
        </p:txBody>
      </p:sp>
      <p:sp>
        <p:nvSpPr>
          <p:cNvPr id="896" name="Rectangle 77"/>
          <p:cNvSpPr/>
          <p:nvPr/>
        </p:nvSpPr>
        <p:spPr>
          <a:xfrm>
            <a:off x="3383279" y="2889504"/>
            <a:ext cx="2322577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7" name="Oval 78"/>
          <p:cNvSpPr/>
          <p:nvPr/>
        </p:nvSpPr>
        <p:spPr>
          <a:xfrm>
            <a:off x="3401567" y="3044950"/>
            <a:ext cx="292609" cy="29260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8" name="TextBox 79"/>
          <p:cNvSpPr txBox="1"/>
          <p:nvPr/>
        </p:nvSpPr>
        <p:spPr>
          <a:xfrm>
            <a:off x="3447288" y="3088298"/>
            <a:ext cx="20116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99" name="TextBox 80"/>
          <p:cNvSpPr txBox="1"/>
          <p:nvPr/>
        </p:nvSpPr>
        <p:spPr>
          <a:xfrm>
            <a:off x="3813048" y="3018448"/>
            <a:ext cx="190195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Update signal phases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(timer)</a:t>
            </a:r>
          </a:p>
        </p:txBody>
      </p:sp>
      <p:sp>
        <p:nvSpPr>
          <p:cNvPr id="900" name="Rectangle 81"/>
          <p:cNvSpPr/>
          <p:nvPr/>
        </p:nvSpPr>
        <p:spPr>
          <a:xfrm>
            <a:off x="3383279" y="3456432"/>
            <a:ext cx="2322577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1" name="Oval 82"/>
          <p:cNvSpPr/>
          <p:nvPr/>
        </p:nvSpPr>
        <p:spPr>
          <a:xfrm>
            <a:off x="3401567" y="3611879"/>
            <a:ext cx="292609" cy="29260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2" name="TextBox 83"/>
          <p:cNvSpPr txBox="1"/>
          <p:nvPr/>
        </p:nvSpPr>
        <p:spPr>
          <a:xfrm>
            <a:off x="3447288" y="3655226"/>
            <a:ext cx="20116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3" name="TextBox 84"/>
          <p:cNvSpPr txBox="1"/>
          <p:nvPr/>
        </p:nvSpPr>
        <p:spPr>
          <a:xfrm>
            <a:off x="3813048" y="3585377"/>
            <a:ext cx="190195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Dequeue on GREEN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&gt; record wait time</a:t>
            </a:r>
          </a:p>
        </p:txBody>
      </p:sp>
      <p:sp>
        <p:nvSpPr>
          <p:cNvPr id="904" name="Rectangle 85"/>
          <p:cNvSpPr/>
          <p:nvPr/>
        </p:nvSpPr>
        <p:spPr>
          <a:xfrm>
            <a:off x="3383279" y="4023359"/>
            <a:ext cx="2322577" cy="27433"/>
          </a:xfrm>
          <a:prstGeom prst="rect">
            <a:avLst/>
          </a:prstGeom>
          <a:solidFill>
            <a:srgbClr val="E0E0E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5" name="Oval 86"/>
          <p:cNvSpPr/>
          <p:nvPr/>
        </p:nvSpPr>
        <p:spPr>
          <a:xfrm>
            <a:off x="3401567" y="4178808"/>
            <a:ext cx="292609" cy="29260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6" name="TextBox 87"/>
          <p:cNvSpPr txBox="1"/>
          <p:nvPr/>
        </p:nvSpPr>
        <p:spPr>
          <a:xfrm>
            <a:off x="3447288" y="4222155"/>
            <a:ext cx="20116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07" name="TextBox 88"/>
          <p:cNvSpPr txBox="1"/>
          <p:nvPr/>
        </p:nvSpPr>
        <p:spPr>
          <a:xfrm>
            <a:off x="3813048" y="4222155"/>
            <a:ext cx="190195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Accumulate stats per cycle</a:t>
            </a:r>
          </a:p>
        </p:txBody>
      </p:sp>
      <p:sp>
        <p:nvSpPr>
          <p:cNvPr id="908" name="TextBox 89"/>
          <p:cNvSpPr txBox="1"/>
          <p:nvPr/>
        </p:nvSpPr>
        <p:spPr>
          <a:xfrm>
            <a:off x="5971032" y="2728557"/>
            <a:ext cx="128017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C8102E"/>
                </a:solidFill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909" name="Rectangle 90"/>
          <p:cNvSpPr/>
          <p:nvPr/>
        </p:nvSpPr>
        <p:spPr>
          <a:xfrm>
            <a:off x="6053328" y="1207008"/>
            <a:ext cx="2651761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0" name="Rectangle 91"/>
          <p:cNvSpPr/>
          <p:nvPr/>
        </p:nvSpPr>
        <p:spPr>
          <a:xfrm>
            <a:off x="6053328" y="1207008"/>
            <a:ext cx="2651761" cy="457201"/>
          </a:xfrm>
          <a:prstGeom prst="rect">
            <a:avLst/>
          </a:prstGeom>
          <a:solidFill>
            <a:srgbClr val="2E7D3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1" name="TextBox 92"/>
          <p:cNvSpPr txBox="1"/>
          <p:nvPr/>
        </p:nvSpPr>
        <p:spPr>
          <a:xfrm>
            <a:off x="6245352" y="1285311"/>
            <a:ext cx="241401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912" name="Rectangle 93"/>
          <p:cNvSpPr/>
          <p:nvPr/>
        </p:nvSpPr>
        <p:spPr>
          <a:xfrm>
            <a:off x="6217920" y="1773935"/>
            <a:ext cx="2322577" cy="566929"/>
          </a:xfrm>
          <a:prstGeom prst="rect">
            <a:avLst/>
          </a:prstGeom>
          <a:solidFill>
            <a:srgbClr val="E8F5E9"/>
          </a:solidFill>
          <a:ln>
            <a:solidFill>
              <a:srgbClr val="A5D6A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3" name="TextBox 94"/>
          <p:cNvSpPr txBox="1"/>
          <p:nvPr/>
        </p:nvSpPr>
        <p:spPr>
          <a:xfrm>
            <a:off x="6355079" y="1884593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B5E20"/>
                </a:solidFill>
              </a:defRPr>
            </a:pPr>
            <a:r>
              <a:t>Avg wait time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per vehicle (sec)</a:t>
            </a:r>
          </a:p>
        </p:txBody>
      </p:sp>
      <p:sp>
        <p:nvSpPr>
          <p:cNvPr id="914" name="Rectangle 95"/>
          <p:cNvSpPr/>
          <p:nvPr/>
        </p:nvSpPr>
        <p:spPr>
          <a:xfrm>
            <a:off x="6217920" y="2468879"/>
            <a:ext cx="2322577" cy="566929"/>
          </a:xfrm>
          <a:prstGeom prst="rect">
            <a:avLst/>
          </a:prstGeom>
          <a:solidFill>
            <a:srgbClr val="E8F5E9"/>
          </a:solidFill>
          <a:ln>
            <a:solidFill>
              <a:srgbClr val="A5D6A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5" name="TextBox 96"/>
          <p:cNvSpPr txBox="1"/>
          <p:nvPr/>
        </p:nvSpPr>
        <p:spPr>
          <a:xfrm>
            <a:off x="6355079" y="2579537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B5E20"/>
                </a:solidFill>
              </a:defRPr>
            </a:pPr>
            <a:r>
              <a:t>Total throughput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(vehicles cleared)</a:t>
            </a:r>
          </a:p>
        </p:txBody>
      </p:sp>
      <p:sp>
        <p:nvSpPr>
          <p:cNvPr id="916" name="Rectangle 97"/>
          <p:cNvSpPr/>
          <p:nvPr/>
        </p:nvSpPr>
        <p:spPr>
          <a:xfrm>
            <a:off x="6217920" y="3163823"/>
            <a:ext cx="2322577" cy="566929"/>
          </a:xfrm>
          <a:prstGeom prst="rect">
            <a:avLst/>
          </a:prstGeom>
          <a:solidFill>
            <a:srgbClr val="E8F5E9"/>
          </a:solidFill>
          <a:ln>
            <a:solidFill>
              <a:srgbClr val="A5D6A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7" name="TextBox 98"/>
          <p:cNvSpPr txBox="1"/>
          <p:nvPr/>
        </p:nvSpPr>
        <p:spPr>
          <a:xfrm>
            <a:off x="6355079" y="3274481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B5E20"/>
                </a:solidFill>
              </a:defRPr>
            </a:pPr>
            <a:r>
              <a:t>Max queue depth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per lane</a:t>
            </a:r>
          </a:p>
        </p:txBody>
      </p:sp>
      <p:sp>
        <p:nvSpPr>
          <p:cNvPr id="918" name="Rectangle 99"/>
          <p:cNvSpPr/>
          <p:nvPr/>
        </p:nvSpPr>
        <p:spPr>
          <a:xfrm>
            <a:off x="6217920" y="3858767"/>
            <a:ext cx="2322577" cy="566929"/>
          </a:xfrm>
          <a:prstGeom prst="rect">
            <a:avLst/>
          </a:prstGeom>
          <a:solidFill>
            <a:srgbClr val="E8F5E9"/>
          </a:solidFill>
          <a:ln>
            <a:solidFill>
              <a:srgbClr val="A5D6A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TextBox 100"/>
          <p:cNvSpPr txBox="1"/>
          <p:nvPr/>
        </p:nvSpPr>
        <p:spPr>
          <a:xfrm>
            <a:off x="6355079" y="3969425"/>
            <a:ext cx="2084833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1B5E20"/>
                </a:solidFill>
              </a:defRPr>
            </a:pPr>
            <a:r>
              <a:t>Phase efficiency</a:t>
            </a:r>
          </a:p>
          <a:p>
            <a:pPr>
              <a:defRPr sz="900">
                <a:solidFill>
                  <a:srgbClr val="1B5E20"/>
                </a:solidFill>
              </a:defRPr>
            </a:pPr>
            <a:r>
              <a:t>(% green utilized)</a:t>
            </a:r>
          </a:p>
        </p:txBody>
      </p:sp>
      <p:sp>
        <p:nvSpPr>
          <p:cNvPr id="920" name="Rectangle 101"/>
          <p:cNvSpPr/>
          <p:nvPr/>
        </p:nvSpPr>
        <p:spPr>
          <a:xfrm>
            <a:off x="384047" y="4663440"/>
            <a:ext cx="8412482" cy="201169"/>
          </a:xfrm>
          <a:prstGeom prst="rect">
            <a:avLst/>
          </a:prstGeom>
          <a:solidFill>
            <a:srgbClr val="FEF3CD"/>
          </a:solidFill>
          <a:ln>
            <a:solidFill>
              <a:srgbClr val="FADC8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1" name="TextBox 102"/>
          <p:cNvSpPr txBox="1"/>
          <p:nvPr/>
        </p:nvSpPr>
        <p:spPr>
          <a:xfrm>
            <a:off x="521207" y="4672584"/>
            <a:ext cx="813816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7A5A00"/>
                </a:solidFill>
              </a:defRPr>
            </a:lvl1pPr>
          </a:lstStyle>
          <a:p>
            <a:pPr/>
            <a:r>
              <a:t>Data Flow: main()  &gt;  Intersection::simulate()  &gt;  Lane::enqueue()/dequeue()  &gt;  TrafficLight::update()  &gt;  SimStats::printReport()</a:t>
            </a:r>
          </a:p>
        </p:txBody>
      </p:sp>
      <p:sp>
        <p:nvSpPr>
          <p:cNvPr id="922" name="Rectangle 10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3" name="TextBox 10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924" name="TextBox 10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10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14400" y="-914400"/>
            <a:ext cx="1463040" cy="1463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740664" y="-740664"/>
            <a:ext cx="1115568" cy="1115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29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0" y="4663440"/>
            <a:ext cx="1280161" cy="1280161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Oval 5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1" name="Oval 6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2" name="Oval 7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3" name="Oval 8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Oval 9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5" name="Oval 10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6" name="Oval 11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7" name="Oval 12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8" name="Oval 13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Oval 14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0" name="Oval 15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1" name="Oval 16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2" name="Oval 17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3" name="Oval 18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Oval 19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5" name="Oval 20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6" name="Oval 21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7" name="Oval 22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8" name="Oval 23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Oval 24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0" name="Oval 25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1" name="Oval 26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2" name="Oval 27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3" name="Oval 28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Oval 29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5" name="Oval 30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6" name="Oval 31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7" name="Oval 32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8" name="Oval 33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Oval 34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0" name="Oval 35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1" name="Oval 36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2" name="Oval 37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3" name="Oval 38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Oval 39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5" name="Rounded Rectangle 40"/>
          <p:cNvSpPr/>
          <p:nvPr/>
        </p:nvSpPr>
        <p:spPr>
          <a:xfrm>
            <a:off x="457200" y="182879"/>
            <a:ext cx="2574036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6" name="TextBox 41"/>
          <p:cNvSpPr txBox="1"/>
          <p:nvPr/>
        </p:nvSpPr>
        <p:spPr>
          <a:xfrm>
            <a:off x="502920" y="182879"/>
            <a:ext cx="2482596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IMPLEMENTATION &amp; DEMO</a:t>
            </a:r>
          </a:p>
        </p:txBody>
      </p:sp>
      <p:sp>
        <p:nvSpPr>
          <p:cNvPr id="967" name="TextBox 42"/>
          <p:cNvSpPr txBox="1"/>
          <p:nvPr/>
        </p:nvSpPr>
        <p:spPr>
          <a:xfrm>
            <a:off x="457199" y="590149"/>
            <a:ext cx="822960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Implementation Highlights &amp; Demo Results</a:t>
            </a:r>
          </a:p>
        </p:txBody>
      </p:sp>
      <p:sp>
        <p:nvSpPr>
          <p:cNvPr id="968" name="Rectangle 43"/>
          <p:cNvSpPr/>
          <p:nvPr/>
        </p:nvSpPr>
        <p:spPr>
          <a:xfrm>
            <a:off x="347471" y="1170431"/>
            <a:ext cx="4956050" cy="3493010"/>
          </a:xfrm>
          <a:prstGeom prst="rect">
            <a:avLst/>
          </a:prstGeom>
          <a:solidFill>
            <a:srgbClr val="050F1E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Rectangle 44"/>
          <p:cNvSpPr/>
          <p:nvPr/>
        </p:nvSpPr>
        <p:spPr>
          <a:xfrm>
            <a:off x="347471" y="1170432"/>
            <a:ext cx="4956050" cy="34747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0" name="TextBox 45"/>
          <p:cNvSpPr txBox="1"/>
          <p:nvPr/>
        </p:nvSpPr>
        <p:spPr>
          <a:xfrm>
            <a:off x="502920" y="1241211"/>
            <a:ext cx="464515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KEY C++ — Intersection::simulate()</a:t>
            </a:r>
          </a:p>
        </p:txBody>
      </p:sp>
      <p:sp>
        <p:nvSpPr>
          <p:cNvPr id="971" name="TextBox 46"/>
          <p:cNvSpPr txBox="1"/>
          <p:nvPr/>
        </p:nvSpPr>
        <p:spPr>
          <a:xfrm>
            <a:off x="502920" y="1572767"/>
            <a:ext cx="4645152" cy="232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void </a:t>
            </a:r>
            <a:r>
              <a:rPr>
                <a:solidFill>
                  <a:srgbClr val="F4A261"/>
                </a:solidFill>
              </a:rPr>
              <a:t>Intersection</a:t>
            </a:r>
            <a:r>
              <a:rPr>
                <a:solidFill>
                  <a:srgbClr val="ABB2BF"/>
                </a:solidFill>
              </a:rPr>
              <a:t>::simulate(</a:t>
            </a:r>
            <a:r>
              <a:t>int </a:t>
            </a:r>
            <a:r>
              <a:rPr>
                <a:solidFill>
                  <a:srgbClr val="ABB2BF"/>
                </a:solidFill>
              </a:rPr>
              <a:t>duration) {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</a:t>
            </a:r>
            <a:r>
              <a:rPr>
                <a:solidFill>
                  <a:srgbClr val="ABB2BF"/>
                </a:solidFill>
              </a:rPr>
              <a:t> (int t=0; t&lt;duration; t++) {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// Generate vehicles (Poisson)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for</a:t>
            </a:r>
            <a:r>
              <a:rPr>
                <a:solidFill>
                  <a:srgbClr val="ABB2BF"/>
                </a:solidFill>
              </a:rPr>
              <a:t> (auto&amp; lane : lanes_) {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int</a:t>
            </a:r>
            <a:r>
              <a:rPr>
                <a:solidFill>
                  <a:srgbClr val="ABB2BF"/>
                </a:solidFill>
              </a:rPr>
              <a:t> arrivals = poisson(rate_);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for</a:t>
            </a:r>
            <a:r>
              <a:rPr>
                <a:solidFill>
                  <a:srgbClr val="ABB2BF"/>
                </a:solidFill>
              </a:rPr>
              <a:t> (int i=0; i&lt;arrivals; i++) {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lane.enqueue(</a:t>
            </a:r>
            <a:r>
              <a:rPr>
                <a:solidFill>
                  <a:srgbClr val="C678DD"/>
                </a:solidFill>
              </a:rPr>
              <a:t>new </a:t>
            </a:r>
            <a:r>
              <a:rPr>
                <a:solidFill>
                  <a:srgbClr val="F4A261"/>
                </a:solidFill>
              </a:rPr>
              <a:t>Vehicle(t));</a:t>
            </a:r>
            <a:endParaRPr>
              <a:solidFill>
                <a:srgbClr val="F4A261"/>
              </a:solidFill>
            </a:endParaRPr>
          </a:p>
          <a:p>
            <a:pPr>
              <a:defRPr sz="9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}  }  // end lane loop</a:t>
            </a:r>
          </a:p>
          <a:p>
            <a:pPr>
              <a:defRPr sz="9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// Update signals &amp; dequeue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for</a:t>
            </a:r>
            <a:r>
              <a:rPr>
                <a:solidFill>
                  <a:srgbClr val="ABB2BF"/>
                </a:solidFill>
              </a:rPr>
              <a:t> (int i=0; i&lt;4; i++) {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lights_[i].update(t);</a:t>
            </a:r>
          </a:p>
          <a:p>
            <a:pPr>
              <a:defRPr sz="9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if</a:t>
            </a:r>
            <a:r>
              <a:rPr>
                <a:solidFill>
                  <a:srgbClr val="ABB2BF"/>
                </a:solidFill>
              </a:rPr>
              <a:t> (lights_[i].isGreen())</a:t>
            </a:r>
            <a:endParaRPr>
              <a:solidFill>
                <a:srgbClr val="ABB2BF"/>
              </a:solidFill>
            </a:endParaRP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lanes_[i].dequeue(t);</a:t>
            </a:r>
          </a:p>
          <a:p>
            <a:pPr>
              <a:defRPr sz="9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} } // end loops</a:t>
            </a: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stats_.printReport();</a:t>
            </a:r>
          </a:p>
          <a:p>
            <a:pPr>
              <a:defRPr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972" name="Rectangle 47"/>
          <p:cNvSpPr/>
          <p:nvPr/>
        </p:nvSpPr>
        <p:spPr>
          <a:xfrm>
            <a:off x="5486400" y="1170432"/>
            <a:ext cx="3401568" cy="749809"/>
          </a:xfrm>
          <a:prstGeom prst="rect">
            <a:avLst/>
          </a:prstGeom>
          <a:solidFill>
            <a:srgbClr val="0A1A3A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3" name="TextBox 48"/>
          <p:cNvSpPr txBox="1"/>
          <p:nvPr/>
        </p:nvSpPr>
        <p:spPr>
          <a:xfrm>
            <a:off x="5605272" y="1352648"/>
            <a:ext cx="10972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8102E"/>
                </a:solidFill>
              </a:defRPr>
            </a:lvl1pPr>
          </a:lstStyle>
          <a:p>
            <a:pPr/>
            <a:r>
              <a:t>&lt; 2 sec</a:t>
            </a:r>
          </a:p>
        </p:txBody>
      </p:sp>
      <p:sp>
        <p:nvSpPr>
          <p:cNvPr id="974" name="Rectangle 49"/>
          <p:cNvSpPr/>
          <p:nvPr/>
        </p:nvSpPr>
        <p:spPr>
          <a:xfrm>
            <a:off x="6748271" y="1261872"/>
            <a:ext cx="27433" cy="566928"/>
          </a:xfrm>
          <a:prstGeom prst="rect">
            <a:avLst/>
          </a:prstGeom>
          <a:solidFill>
            <a:srgbClr val="304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5" name="TextBox 50"/>
          <p:cNvSpPr txBox="1"/>
          <p:nvPr/>
        </p:nvSpPr>
        <p:spPr>
          <a:xfrm>
            <a:off x="6885431" y="1348530"/>
            <a:ext cx="186537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AABBD0"/>
                </a:solidFill>
              </a:defRPr>
            </a:pPr>
            <a:r>
              <a:t>Average compile</a:t>
            </a:r>
          </a:p>
          <a:p>
            <a:pPr>
              <a:defRPr sz="1000">
                <a:solidFill>
                  <a:srgbClr val="AABBD0"/>
                </a:solidFill>
              </a:defRPr>
            </a:pPr>
            <a:r>
              <a:t>&amp; run time</a:t>
            </a:r>
          </a:p>
        </p:txBody>
      </p:sp>
      <p:sp>
        <p:nvSpPr>
          <p:cNvPr id="976" name="Rectangle 51"/>
          <p:cNvSpPr/>
          <p:nvPr/>
        </p:nvSpPr>
        <p:spPr>
          <a:xfrm>
            <a:off x="5486400" y="2029966"/>
            <a:ext cx="3401568" cy="749809"/>
          </a:xfrm>
          <a:prstGeom prst="rect">
            <a:avLst/>
          </a:prstGeom>
          <a:solidFill>
            <a:srgbClr val="0A1A3A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7" name="TextBox 52"/>
          <p:cNvSpPr txBox="1"/>
          <p:nvPr/>
        </p:nvSpPr>
        <p:spPr>
          <a:xfrm>
            <a:off x="5605272" y="2212183"/>
            <a:ext cx="10972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8102E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78" name="Rectangle 53"/>
          <p:cNvSpPr/>
          <p:nvPr/>
        </p:nvSpPr>
        <p:spPr>
          <a:xfrm>
            <a:off x="6748271" y="2121407"/>
            <a:ext cx="27433" cy="566929"/>
          </a:xfrm>
          <a:prstGeom prst="rect">
            <a:avLst/>
          </a:prstGeom>
          <a:solidFill>
            <a:srgbClr val="304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TextBox 54"/>
          <p:cNvSpPr txBox="1"/>
          <p:nvPr/>
        </p:nvSpPr>
        <p:spPr>
          <a:xfrm>
            <a:off x="6885431" y="2208065"/>
            <a:ext cx="186537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AABBD0"/>
                </a:solidFill>
              </a:defRPr>
            </a:pPr>
            <a:r>
              <a:t>Classes fully</a:t>
            </a:r>
          </a:p>
          <a:p>
            <a:pPr>
              <a:defRPr sz="1000">
                <a:solidFill>
                  <a:srgbClr val="AABBD0"/>
                </a:solidFill>
              </a:defRPr>
            </a:pPr>
            <a:r>
              <a:t>implemented</a:t>
            </a:r>
          </a:p>
        </p:txBody>
      </p:sp>
      <p:sp>
        <p:nvSpPr>
          <p:cNvPr id="980" name="Rectangle 55"/>
          <p:cNvSpPr/>
          <p:nvPr/>
        </p:nvSpPr>
        <p:spPr>
          <a:xfrm>
            <a:off x="5486400" y="2889504"/>
            <a:ext cx="3401568" cy="749809"/>
          </a:xfrm>
          <a:prstGeom prst="rect">
            <a:avLst/>
          </a:prstGeom>
          <a:solidFill>
            <a:srgbClr val="0A1A3A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1" name="TextBox 56"/>
          <p:cNvSpPr txBox="1"/>
          <p:nvPr/>
        </p:nvSpPr>
        <p:spPr>
          <a:xfrm>
            <a:off x="5605272" y="3071720"/>
            <a:ext cx="10972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8102E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982" name="Rectangle 57"/>
          <p:cNvSpPr/>
          <p:nvPr/>
        </p:nvSpPr>
        <p:spPr>
          <a:xfrm>
            <a:off x="6748271" y="2980944"/>
            <a:ext cx="27433" cy="566929"/>
          </a:xfrm>
          <a:prstGeom prst="rect">
            <a:avLst/>
          </a:prstGeom>
          <a:solidFill>
            <a:srgbClr val="304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3" name="TextBox 58"/>
          <p:cNvSpPr txBox="1"/>
          <p:nvPr/>
        </p:nvSpPr>
        <p:spPr>
          <a:xfrm>
            <a:off x="6885431" y="3067602"/>
            <a:ext cx="186537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AABBD0"/>
                </a:solidFill>
              </a:defRPr>
            </a:pPr>
            <a:r>
              <a:t>Functions</a:t>
            </a:r>
          </a:p>
          <a:p>
            <a:pPr>
              <a:defRPr sz="1000">
                <a:solidFill>
                  <a:srgbClr val="AABBD0"/>
                </a:solidFill>
              </a:defRPr>
            </a:pPr>
            <a:r>
              <a:t>with test coverage</a:t>
            </a:r>
          </a:p>
        </p:txBody>
      </p:sp>
      <p:sp>
        <p:nvSpPr>
          <p:cNvPr id="984" name="Rectangle 59"/>
          <p:cNvSpPr/>
          <p:nvPr/>
        </p:nvSpPr>
        <p:spPr>
          <a:xfrm>
            <a:off x="5486400" y="3749038"/>
            <a:ext cx="3401568" cy="749810"/>
          </a:xfrm>
          <a:prstGeom prst="rect">
            <a:avLst/>
          </a:prstGeom>
          <a:solidFill>
            <a:srgbClr val="0A1A3A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5" name="TextBox 60"/>
          <p:cNvSpPr txBox="1"/>
          <p:nvPr/>
        </p:nvSpPr>
        <p:spPr>
          <a:xfrm>
            <a:off x="5605272" y="3931255"/>
            <a:ext cx="10972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8102E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86" name="Rectangle 61"/>
          <p:cNvSpPr/>
          <p:nvPr/>
        </p:nvSpPr>
        <p:spPr>
          <a:xfrm>
            <a:off x="6748271" y="3840479"/>
            <a:ext cx="27433" cy="566929"/>
          </a:xfrm>
          <a:prstGeom prst="rect">
            <a:avLst/>
          </a:prstGeom>
          <a:solidFill>
            <a:srgbClr val="304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7" name="TextBox 62"/>
          <p:cNvSpPr txBox="1"/>
          <p:nvPr/>
        </p:nvSpPr>
        <p:spPr>
          <a:xfrm>
            <a:off x="6885431" y="3927137"/>
            <a:ext cx="1865377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AABBD0"/>
                </a:solidFill>
              </a:defRPr>
            </a:pPr>
            <a:r>
              <a:t>Memory leaks</a:t>
            </a:r>
          </a:p>
          <a:p>
            <a:pPr>
              <a:defRPr sz="1000">
                <a:solidFill>
                  <a:srgbClr val="AABBD0"/>
                </a:solidFill>
              </a:defRPr>
            </a:pPr>
            <a:r>
              <a:t>(Valgrind verified)</a:t>
            </a:r>
          </a:p>
        </p:txBody>
      </p:sp>
      <p:sp>
        <p:nvSpPr>
          <p:cNvPr id="988" name="Rectangle 6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TextBox 6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990" name="TextBox 6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11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99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7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998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0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1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2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3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5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6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7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8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0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1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2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3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5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6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7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8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0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1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2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3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5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6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7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8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9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0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1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2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3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4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5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6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8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9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0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1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3" name="Rounded Rectangle 52"/>
          <p:cNvSpPr/>
          <p:nvPr/>
        </p:nvSpPr>
        <p:spPr>
          <a:xfrm>
            <a:off x="384047" y="182879"/>
            <a:ext cx="2679194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4" name="TextBox 53"/>
          <p:cNvSpPr txBox="1"/>
          <p:nvPr/>
        </p:nvSpPr>
        <p:spPr>
          <a:xfrm>
            <a:off x="429767" y="182879"/>
            <a:ext cx="2587754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CHALLENGES &amp; SOLUTIONS</a:t>
            </a:r>
          </a:p>
        </p:txBody>
      </p:sp>
      <p:sp>
        <p:nvSpPr>
          <p:cNvPr id="1045" name="TextBox 54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002366"/>
                </a:solidFill>
              </a:defRPr>
            </a:lvl1pPr>
          </a:lstStyle>
          <a:p>
            <a:pPr/>
            <a:r>
              <a:t>What Was Different  And How We Solved It</a:t>
            </a:r>
          </a:p>
        </p:txBody>
      </p:sp>
      <p:sp>
        <p:nvSpPr>
          <p:cNvPr id="1046" name="Rectangle 55"/>
          <p:cNvSpPr/>
          <p:nvPr/>
        </p:nvSpPr>
        <p:spPr>
          <a:xfrm>
            <a:off x="384048" y="1234439"/>
            <a:ext cx="4251960" cy="162763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Rectangle 56"/>
          <p:cNvSpPr/>
          <p:nvPr/>
        </p:nvSpPr>
        <p:spPr>
          <a:xfrm>
            <a:off x="384047" y="1234439"/>
            <a:ext cx="402338" cy="1627634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8" name="TextBox 57"/>
          <p:cNvSpPr txBox="1"/>
          <p:nvPr/>
        </p:nvSpPr>
        <p:spPr>
          <a:xfrm>
            <a:off x="429768" y="1919155"/>
            <a:ext cx="31089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49" name="Rectangle 58"/>
          <p:cNvSpPr/>
          <p:nvPr/>
        </p:nvSpPr>
        <p:spPr>
          <a:xfrm>
            <a:off x="859536" y="1325880"/>
            <a:ext cx="3657601" cy="658369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0" name="TextBox 59"/>
          <p:cNvSpPr txBox="1"/>
          <p:nvPr/>
        </p:nvSpPr>
        <p:spPr>
          <a:xfrm>
            <a:off x="996696" y="1482257"/>
            <a:ext cx="3419856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Challenge: </a:t>
            </a:r>
            <a:r>
              <a:rPr b="0">
                <a:solidFill>
                  <a:srgbClr val="6B1A1A"/>
                </a:solidFill>
              </a:rPr>
              <a:t>Synchronizing signal phases with vehicle departures was harder than expected — early drafts allowed vehicles to depart on RED.</a:t>
            </a:r>
          </a:p>
        </p:txBody>
      </p:sp>
      <p:sp>
        <p:nvSpPr>
          <p:cNvPr id="1051" name="Rectangle 60"/>
          <p:cNvSpPr/>
          <p:nvPr/>
        </p:nvSpPr>
        <p:spPr>
          <a:xfrm>
            <a:off x="859536" y="2057400"/>
            <a:ext cx="3657601" cy="658369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TextBox 61"/>
          <p:cNvSpPr txBox="1"/>
          <p:nvPr/>
        </p:nvSpPr>
        <p:spPr>
          <a:xfrm>
            <a:off x="996696" y="2213777"/>
            <a:ext cx="3419856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Solution: </a:t>
            </a:r>
            <a:r>
              <a:rPr b="0">
                <a:solidFill>
                  <a:srgbClr val="1A3A6B"/>
                </a:solidFill>
              </a:rPr>
              <a:t>We introduced a time-step loop where TrafficLight::update() is always called before Lane::dequeue(), enforcing correct ordering.</a:t>
            </a:r>
          </a:p>
        </p:txBody>
      </p:sp>
      <p:sp>
        <p:nvSpPr>
          <p:cNvPr id="1053" name="Rectangle 62"/>
          <p:cNvSpPr/>
          <p:nvPr/>
        </p:nvSpPr>
        <p:spPr>
          <a:xfrm>
            <a:off x="4818888" y="1234439"/>
            <a:ext cx="4251960" cy="1627634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4" name="Rectangle 63"/>
          <p:cNvSpPr/>
          <p:nvPr/>
        </p:nvSpPr>
        <p:spPr>
          <a:xfrm>
            <a:off x="4818888" y="1234439"/>
            <a:ext cx="402337" cy="1627634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5" name="TextBox 64"/>
          <p:cNvSpPr txBox="1"/>
          <p:nvPr/>
        </p:nvSpPr>
        <p:spPr>
          <a:xfrm>
            <a:off x="4864608" y="1919155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56" name="Rectangle 65"/>
          <p:cNvSpPr/>
          <p:nvPr/>
        </p:nvSpPr>
        <p:spPr>
          <a:xfrm>
            <a:off x="5294374" y="1325880"/>
            <a:ext cx="3657601" cy="658369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TextBox 66"/>
          <p:cNvSpPr txBox="1"/>
          <p:nvPr/>
        </p:nvSpPr>
        <p:spPr>
          <a:xfrm>
            <a:off x="5431535" y="1482257"/>
            <a:ext cx="341985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Challenge: </a:t>
            </a:r>
            <a:r>
              <a:rPr b="0">
                <a:solidFill>
                  <a:srgbClr val="6B1A1A"/>
                </a:solidFill>
              </a:rPr>
              <a:t>Poisson-distributed arrivals produced occasional extreme bursts (20+ vehicles in one second) that overwhelmed queue bounds.</a:t>
            </a:r>
          </a:p>
        </p:txBody>
      </p:sp>
      <p:sp>
        <p:nvSpPr>
          <p:cNvPr id="1058" name="Rectangle 67"/>
          <p:cNvSpPr/>
          <p:nvPr/>
        </p:nvSpPr>
        <p:spPr>
          <a:xfrm>
            <a:off x="5294374" y="2057400"/>
            <a:ext cx="3657601" cy="658369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9" name="TextBox 68"/>
          <p:cNvSpPr txBox="1"/>
          <p:nvPr/>
        </p:nvSpPr>
        <p:spPr>
          <a:xfrm>
            <a:off x="5431535" y="2213777"/>
            <a:ext cx="341985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Solution: </a:t>
            </a:r>
            <a:r>
              <a:rPr b="0">
                <a:solidFill>
                  <a:srgbClr val="1A3A6B"/>
                </a:solidFill>
              </a:rPr>
              <a:t>We added a max queue capacity check and a dropped-vehicle counter to the stats, making overflow visible and manageable.</a:t>
            </a:r>
          </a:p>
        </p:txBody>
      </p:sp>
      <p:sp>
        <p:nvSpPr>
          <p:cNvPr id="1060" name="Rectangle 69"/>
          <p:cNvSpPr/>
          <p:nvPr/>
        </p:nvSpPr>
        <p:spPr>
          <a:xfrm>
            <a:off x="384048" y="2990088"/>
            <a:ext cx="4251960" cy="162763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1" name="Rectangle 70"/>
          <p:cNvSpPr/>
          <p:nvPr/>
        </p:nvSpPr>
        <p:spPr>
          <a:xfrm>
            <a:off x="384047" y="2990088"/>
            <a:ext cx="402338" cy="162763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TextBox 71"/>
          <p:cNvSpPr txBox="1"/>
          <p:nvPr/>
        </p:nvSpPr>
        <p:spPr>
          <a:xfrm>
            <a:off x="429768" y="3674802"/>
            <a:ext cx="31089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63" name="Rectangle 72"/>
          <p:cNvSpPr/>
          <p:nvPr/>
        </p:nvSpPr>
        <p:spPr>
          <a:xfrm>
            <a:off x="859536" y="3081527"/>
            <a:ext cx="3657601" cy="658369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4" name="TextBox 73"/>
          <p:cNvSpPr txBox="1"/>
          <p:nvPr/>
        </p:nvSpPr>
        <p:spPr>
          <a:xfrm>
            <a:off x="996696" y="3237905"/>
            <a:ext cx="3419856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Challenge: </a:t>
            </a:r>
            <a:r>
              <a:rPr b="0">
                <a:solidFill>
                  <a:srgbClr val="6B1A1A"/>
                </a:solidFill>
              </a:rPr>
              <a:t>Memory leaks when Vehicle* objects were dequeued but not deleted, causing Valgrind errors in early testing.</a:t>
            </a:r>
          </a:p>
        </p:txBody>
      </p:sp>
      <p:sp>
        <p:nvSpPr>
          <p:cNvPr id="1065" name="Rectangle 74"/>
          <p:cNvSpPr/>
          <p:nvPr/>
        </p:nvSpPr>
        <p:spPr>
          <a:xfrm>
            <a:off x="859536" y="3813047"/>
            <a:ext cx="3657601" cy="658369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6" name="TextBox 75"/>
          <p:cNvSpPr txBox="1"/>
          <p:nvPr/>
        </p:nvSpPr>
        <p:spPr>
          <a:xfrm>
            <a:off x="996696" y="3969425"/>
            <a:ext cx="3419856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Solution: </a:t>
            </a:r>
            <a:r>
              <a:rPr b="0">
                <a:solidFill>
                  <a:srgbClr val="1A3A6B"/>
                </a:solidFill>
              </a:rPr>
              <a:t>Replaced raw Vehicle* with std::unique_ptr&lt;Vehicle&gt; in Lane, automatically deleting vehicles upon departure.</a:t>
            </a:r>
          </a:p>
        </p:txBody>
      </p:sp>
      <p:sp>
        <p:nvSpPr>
          <p:cNvPr id="1067" name="Rectangle 76"/>
          <p:cNvSpPr/>
          <p:nvPr/>
        </p:nvSpPr>
        <p:spPr>
          <a:xfrm>
            <a:off x="4818888" y="2990088"/>
            <a:ext cx="4251960" cy="162763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8" name="Rectangle 77"/>
          <p:cNvSpPr/>
          <p:nvPr/>
        </p:nvSpPr>
        <p:spPr>
          <a:xfrm>
            <a:off x="4818888" y="2990088"/>
            <a:ext cx="402337" cy="162763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9" name="TextBox 78"/>
          <p:cNvSpPr txBox="1"/>
          <p:nvPr/>
        </p:nvSpPr>
        <p:spPr>
          <a:xfrm>
            <a:off x="4864608" y="3674802"/>
            <a:ext cx="31089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070" name="Rectangle 79"/>
          <p:cNvSpPr/>
          <p:nvPr/>
        </p:nvSpPr>
        <p:spPr>
          <a:xfrm>
            <a:off x="5294374" y="3081527"/>
            <a:ext cx="3657601" cy="658369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1" name="TextBox 80"/>
          <p:cNvSpPr txBox="1"/>
          <p:nvPr/>
        </p:nvSpPr>
        <p:spPr>
          <a:xfrm>
            <a:off x="5431535" y="3237905"/>
            <a:ext cx="341985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C8102E"/>
                </a:solidFill>
              </a:defRPr>
            </a:pPr>
            <a:r>
              <a:t>Challenge: </a:t>
            </a:r>
            <a:r>
              <a:rPr b="0">
                <a:solidFill>
                  <a:srgbClr val="6B1A1A"/>
                </a:solidFill>
              </a:rPr>
              <a:t>Team member commits were overwriting each other's code due to working directly on the main branch.</a:t>
            </a:r>
          </a:p>
        </p:txBody>
      </p:sp>
      <p:sp>
        <p:nvSpPr>
          <p:cNvPr id="1072" name="Rectangle 81"/>
          <p:cNvSpPr/>
          <p:nvPr/>
        </p:nvSpPr>
        <p:spPr>
          <a:xfrm>
            <a:off x="5294374" y="3813047"/>
            <a:ext cx="3657601" cy="658369"/>
          </a:xfrm>
          <a:prstGeom prst="rect">
            <a:avLst/>
          </a:prstGeom>
          <a:solidFill>
            <a:srgbClr val="E8F0FB"/>
          </a:solidFill>
          <a:ln>
            <a:solidFill>
              <a:srgbClr val="C5D8F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3" name="TextBox 82"/>
          <p:cNvSpPr txBox="1"/>
          <p:nvPr/>
        </p:nvSpPr>
        <p:spPr>
          <a:xfrm>
            <a:off x="5431535" y="3899575"/>
            <a:ext cx="3419857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Solution: </a:t>
            </a:r>
            <a:r>
              <a:rPr b="0">
                <a:solidFill>
                  <a:srgbClr val="1A3A6B"/>
                </a:solidFill>
              </a:rPr>
              <a:t>Adopted feature branches: member-1/oop-design, member-2/algorithm, member-3/io. Merged via pull requests after review.</a:t>
            </a:r>
          </a:p>
        </p:txBody>
      </p:sp>
      <p:sp>
        <p:nvSpPr>
          <p:cNvPr id="1074" name="Rectangle 8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5" name="TextBox 8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1076" name="TextBox 8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12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7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14400" y="-914400"/>
            <a:ext cx="1463040" cy="1463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740664" y="-740664"/>
            <a:ext cx="1115568" cy="1115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1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0" y="4663440"/>
            <a:ext cx="1280161" cy="1280161"/>
          </a:xfrm>
          <a:prstGeom prst="rect">
            <a:avLst/>
          </a:prstGeom>
          <a:ln w="12700">
            <a:miter lim="400000"/>
          </a:ln>
        </p:spPr>
      </p:pic>
      <p:sp>
        <p:nvSpPr>
          <p:cNvPr id="1082" name="Oval 5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3" name="Oval 6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4" name="Oval 7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5" name="Oval 8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6" name="Oval 9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Oval 10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8" name="Oval 11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9" name="Oval 12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0" name="Oval 13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1" name="Oval 14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Oval 15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3" name="Oval 16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4" name="Oval 17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5" name="Oval 18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6" name="Oval 19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Oval 20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8" name="Oval 21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9" name="Oval 22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0" name="Oval 23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1" name="Oval 24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Oval 25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3" name="Oval 26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4" name="Oval 27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" name="Oval 28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6" name="Oval 29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Oval 30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8" name="Oval 31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9" name="Oval 32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0" name="Oval 33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1" name="Oval 34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Oval 35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3" name="Oval 36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4" name="Oval 37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5" name="Oval 38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6" name="Oval 39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Rounded Rectangle 40"/>
          <p:cNvSpPr/>
          <p:nvPr/>
        </p:nvSpPr>
        <p:spPr>
          <a:xfrm>
            <a:off x="457200" y="182879"/>
            <a:ext cx="1943100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8" name="TextBox 41"/>
          <p:cNvSpPr txBox="1"/>
          <p:nvPr/>
        </p:nvSpPr>
        <p:spPr>
          <a:xfrm>
            <a:off x="502919" y="182879"/>
            <a:ext cx="1851662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LESSONS LEARNED</a:t>
            </a:r>
          </a:p>
        </p:txBody>
      </p:sp>
      <p:sp>
        <p:nvSpPr>
          <p:cNvPr id="1119" name="TextBox 42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What We Learned</a:t>
            </a:r>
          </a:p>
        </p:txBody>
      </p:sp>
      <p:sp>
        <p:nvSpPr>
          <p:cNvPr id="1120" name="Rectangle 43"/>
          <p:cNvSpPr/>
          <p:nvPr/>
        </p:nvSpPr>
        <p:spPr>
          <a:xfrm>
            <a:off x="347472" y="1225296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1" name="Rectangle 44"/>
          <p:cNvSpPr/>
          <p:nvPr/>
        </p:nvSpPr>
        <p:spPr>
          <a:xfrm>
            <a:off x="347472" y="1225296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Oval 45"/>
          <p:cNvSpPr/>
          <p:nvPr/>
        </p:nvSpPr>
        <p:spPr>
          <a:xfrm>
            <a:off x="512063" y="1609344"/>
            <a:ext cx="438913" cy="438912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3" name="TextBox 46"/>
          <p:cNvSpPr txBox="1"/>
          <p:nvPr/>
        </p:nvSpPr>
        <p:spPr>
          <a:xfrm>
            <a:off x="557784" y="1688400"/>
            <a:ext cx="34747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24" name="TextBox 47"/>
          <p:cNvSpPr txBox="1"/>
          <p:nvPr/>
        </p:nvSpPr>
        <p:spPr>
          <a:xfrm>
            <a:off x="1124711" y="1316736"/>
            <a:ext cx="331012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OOP Pays Off</a:t>
            </a:r>
          </a:p>
        </p:txBody>
      </p:sp>
      <p:sp>
        <p:nvSpPr>
          <p:cNvPr id="1125" name="TextBox 48"/>
          <p:cNvSpPr txBox="1"/>
          <p:nvPr/>
        </p:nvSpPr>
        <p:spPr>
          <a:xfrm>
            <a:off x="1124711" y="1645920"/>
            <a:ext cx="3310129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Designing classes before writing code saved hours of refactoring. Encapsulation made adding adaptive timing trivial — we just extended TrafficLight without touching other classes.</a:t>
            </a:r>
          </a:p>
        </p:txBody>
      </p:sp>
      <p:sp>
        <p:nvSpPr>
          <p:cNvPr id="1126" name="Rectangle 49"/>
          <p:cNvSpPr/>
          <p:nvPr/>
        </p:nvSpPr>
        <p:spPr>
          <a:xfrm>
            <a:off x="4809744" y="1225296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Rectangle 50"/>
          <p:cNvSpPr/>
          <p:nvPr/>
        </p:nvSpPr>
        <p:spPr>
          <a:xfrm>
            <a:off x="4809744" y="1225296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8" name="Oval 51"/>
          <p:cNvSpPr/>
          <p:nvPr/>
        </p:nvSpPr>
        <p:spPr>
          <a:xfrm>
            <a:off x="4974335" y="1609344"/>
            <a:ext cx="438913" cy="438912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9" name="TextBox 52"/>
          <p:cNvSpPr txBox="1"/>
          <p:nvPr/>
        </p:nvSpPr>
        <p:spPr>
          <a:xfrm>
            <a:off x="5020055" y="1688400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30" name="TextBox 53"/>
          <p:cNvSpPr txBox="1"/>
          <p:nvPr/>
        </p:nvSpPr>
        <p:spPr>
          <a:xfrm>
            <a:off x="5586984" y="1316736"/>
            <a:ext cx="331012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Time-Stepped Simulation</a:t>
            </a:r>
          </a:p>
        </p:txBody>
      </p:sp>
      <p:sp>
        <p:nvSpPr>
          <p:cNvPr id="1131" name="TextBox 54"/>
          <p:cNvSpPr txBox="1"/>
          <p:nvPr/>
        </p:nvSpPr>
        <p:spPr>
          <a:xfrm>
            <a:off x="5586984" y="1645920"/>
            <a:ext cx="3310128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We learned how real-world simulators (SUMO, Vissim) work — discrete time steps are the core pattern. Our loop structure directly mirrors professional engineering simulation frameworks.</a:t>
            </a:r>
          </a:p>
        </p:txBody>
      </p:sp>
      <p:sp>
        <p:nvSpPr>
          <p:cNvPr id="1132" name="Rectangle 55"/>
          <p:cNvSpPr/>
          <p:nvPr/>
        </p:nvSpPr>
        <p:spPr>
          <a:xfrm>
            <a:off x="347472" y="2432304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3" name="Rectangle 56"/>
          <p:cNvSpPr/>
          <p:nvPr/>
        </p:nvSpPr>
        <p:spPr>
          <a:xfrm>
            <a:off x="347472" y="2432304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4" name="Oval 57"/>
          <p:cNvSpPr/>
          <p:nvPr/>
        </p:nvSpPr>
        <p:spPr>
          <a:xfrm>
            <a:off x="512063" y="2816351"/>
            <a:ext cx="438913" cy="438913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5" name="TextBox 58"/>
          <p:cNvSpPr txBox="1"/>
          <p:nvPr/>
        </p:nvSpPr>
        <p:spPr>
          <a:xfrm>
            <a:off x="557784" y="2895408"/>
            <a:ext cx="34747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36" name="TextBox 59"/>
          <p:cNvSpPr txBox="1"/>
          <p:nvPr/>
        </p:nvSpPr>
        <p:spPr>
          <a:xfrm>
            <a:off x="1124711" y="2523744"/>
            <a:ext cx="331012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Debugging Complex State</a:t>
            </a:r>
          </a:p>
        </p:txBody>
      </p:sp>
      <p:sp>
        <p:nvSpPr>
          <p:cNvPr id="1137" name="TextBox 60"/>
          <p:cNvSpPr txBox="1"/>
          <p:nvPr/>
        </p:nvSpPr>
        <p:spPr>
          <a:xfrm>
            <a:off x="1124711" y="2852927"/>
            <a:ext cx="3310129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When vehicles departed at wrong times, we added a verbose mode printing signal states each tick. Logging intermediate state is essential when debugging multi-object systems.</a:t>
            </a:r>
          </a:p>
        </p:txBody>
      </p:sp>
      <p:sp>
        <p:nvSpPr>
          <p:cNvPr id="1138" name="Rectangle 61"/>
          <p:cNvSpPr/>
          <p:nvPr/>
        </p:nvSpPr>
        <p:spPr>
          <a:xfrm>
            <a:off x="4809744" y="2432304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9" name="Rectangle 62"/>
          <p:cNvSpPr/>
          <p:nvPr/>
        </p:nvSpPr>
        <p:spPr>
          <a:xfrm>
            <a:off x="4809744" y="2432304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0" name="Oval 63"/>
          <p:cNvSpPr/>
          <p:nvPr/>
        </p:nvSpPr>
        <p:spPr>
          <a:xfrm>
            <a:off x="4974335" y="2816351"/>
            <a:ext cx="438913" cy="438913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1" name="TextBox 64"/>
          <p:cNvSpPr txBox="1"/>
          <p:nvPr/>
        </p:nvSpPr>
        <p:spPr>
          <a:xfrm>
            <a:off x="5020055" y="2895408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42" name="TextBox 65"/>
          <p:cNvSpPr txBox="1"/>
          <p:nvPr/>
        </p:nvSpPr>
        <p:spPr>
          <a:xfrm>
            <a:off x="5586984" y="2523744"/>
            <a:ext cx="331012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Data Structures Matter</a:t>
            </a:r>
          </a:p>
        </p:txBody>
      </p:sp>
      <p:sp>
        <p:nvSpPr>
          <p:cNvPr id="1143" name="TextBox 66"/>
          <p:cNvSpPr txBox="1"/>
          <p:nvPr/>
        </p:nvSpPr>
        <p:spPr>
          <a:xfrm>
            <a:off x="5586984" y="2852927"/>
            <a:ext cx="3310128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Choosing std::queue for lanes vs. std::vector changed our dequeue complexity from O(n) to O(1). This showed measurable speedup at high traffic volumes in benchmarking.</a:t>
            </a:r>
          </a:p>
        </p:txBody>
      </p:sp>
      <p:sp>
        <p:nvSpPr>
          <p:cNvPr id="1144" name="Rectangle 67"/>
          <p:cNvSpPr/>
          <p:nvPr/>
        </p:nvSpPr>
        <p:spPr>
          <a:xfrm>
            <a:off x="347472" y="3639311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5" name="Rectangle 68"/>
          <p:cNvSpPr/>
          <p:nvPr/>
        </p:nvSpPr>
        <p:spPr>
          <a:xfrm>
            <a:off x="347472" y="3639311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6" name="Oval 69"/>
          <p:cNvSpPr/>
          <p:nvPr/>
        </p:nvSpPr>
        <p:spPr>
          <a:xfrm>
            <a:off x="512063" y="4023359"/>
            <a:ext cx="438913" cy="438913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TextBox 70"/>
          <p:cNvSpPr txBox="1"/>
          <p:nvPr/>
        </p:nvSpPr>
        <p:spPr>
          <a:xfrm>
            <a:off x="557784" y="4102416"/>
            <a:ext cx="34747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48" name="TextBox 71"/>
          <p:cNvSpPr txBox="1"/>
          <p:nvPr/>
        </p:nvSpPr>
        <p:spPr>
          <a:xfrm>
            <a:off x="1124711" y="3730752"/>
            <a:ext cx="331012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Git Branches = Team Sanity</a:t>
            </a:r>
          </a:p>
        </p:txBody>
      </p:sp>
      <p:sp>
        <p:nvSpPr>
          <p:cNvPr id="1149" name="TextBox 72"/>
          <p:cNvSpPr txBox="1"/>
          <p:nvPr/>
        </p:nvSpPr>
        <p:spPr>
          <a:xfrm>
            <a:off x="1124711" y="4059935"/>
            <a:ext cx="3310129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Without feature branches, our early merges caused 3 code-breaking conflicts. After adopting the branching strategy, every member's work was clearly isolated and reviewable.</a:t>
            </a:r>
          </a:p>
        </p:txBody>
      </p:sp>
      <p:sp>
        <p:nvSpPr>
          <p:cNvPr id="1150" name="Rectangle 73"/>
          <p:cNvSpPr/>
          <p:nvPr/>
        </p:nvSpPr>
        <p:spPr>
          <a:xfrm>
            <a:off x="4809744" y="3639311"/>
            <a:ext cx="4261104" cy="1078993"/>
          </a:xfrm>
          <a:prstGeom prst="rect">
            <a:avLst/>
          </a:prstGeom>
          <a:solidFill>
            <a:srgbClr val="0A1A3A"/>
          </a:solidFill>
          <a:ln>
            <a:solidFill>
              <a:srgbClr val="1A3A6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1" name="Rectangle 74"/>
          <p:cNvSpPr/>
          <p:nvPr/>
        </p:nvSpPr>
        <p:spPr>
          <a:xfrm>
            <a:off x="4809744" y="3639311"/>
            <a:ext cx="54865" cy="107899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Oval 75"/>
          <p:cNvSpPr/>
          <p:nvPr/>
        </p:nvSpPr>
        <p:spPr>
          <a:xfrm>
            <a:off x="4974335" y="4023359"/>
            <a:ext cx="438913" cy="438913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3" name="TextBox 76"/>
          <p:cNvSpPr txBox="1"/>
          <p:nvPr/>
        </p:nvSpPr>
        <p:spPr>
          <a:xfrm>
            <a:off x="5020055" y="4102416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54" name="TextBox 77"/>
          <p:cNvSpPr txBox="1"/>
          <p:nvPr/>
        </p:nvSpPr>
        <p:spPr>
          <a:xfrm>
            <a:off x="5586984" y="3730752"/>
            <a:ext cx="331012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Engineering = Iteration</a:t>
            </a:r>
          </a:p>
        </p:txBody>
      </p:sp>
      <p:sp>
        <p:nvSpPr>
          <p:cNvPr id="1155" name="TextBox 78"/>
          <p:cNvSpPr txBox="1"/>
          <p:nvPr/>
        </p:nvSpPr>
        <p:spPr>
          <a:xfrm>
            <a:off x="5586984" y="4059935"/>
            <a:ext cx="3310128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AABBD0"/>
                </a:solidFill>
              </a:defRPr>
            </a:lvl1pPr>
          </a:lstStyle>
          <a:p>
            <a:pPr/>
            <a:r>
              <a:t>Our first simulation produced obviously wrong results — avg wait time of 0. Real engineering means testing against expected behavior, finding the bug, fixing it, and repeating.</a:t>
            </a:r>
          </a:p>
        </p:txBody>
      </p:sp>
      <p:sp>
        <p:nvSpPr>
          <p:cNvPr id="1156" name="Rectangle 79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TextBox 80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1158" name="TextBox 81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13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16635" y="-544069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425196" y="-452628"/>
            <a:ext cx="594360" cy="594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738" y="132587"/>
            <a:ext cx="502921" cy="502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2831" y="-457200"/>
            <a:ext cx="731521" cy="731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41664" y="4928615"/>
            <a:ext cx="658369" cy="658369"/>
          </a:xfrm>
          <a:prstGeom prst="rect">
            <a:avLst/>
          </a:prstGeom>
          <a:ln w="12700">
            <a:miter lim="400000"/>
          </a:ln>
        </p:spPr>
      </p:pic>
      <p:sp>
        <p:nvSpPr>
          <p:cNvPr id="1166" name="Oval 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Oval 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8" name="Oval 9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9" name="Oval 1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0" name="Oval 1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1" name="Oval 12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Oval 1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3" name="Oval 1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4" name="Oval 1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5" name="Oval 1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6" name="Oval 1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7" name="Oval 1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8" name="Oval 19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9" name="Oval 2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0" name="Oval 2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1" name="Oval 22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2" name="Oval 2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3" name="Oval 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4" name="Oval 2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5" name="Oval 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Oval 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7" name="Oval 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8" name="Oval 29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9" name="Oval 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0" name="Oval 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Oval 32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2" name="Oval 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3" name="Oval 3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4" name="Oval 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5" name="Oval 3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Oval 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7" name="Oval 3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8" name="Oval 39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9" name="Oval 4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0" name="Oval 4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Oval 42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2" name="Oval 4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3" name="Oval 4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4" name="Oval 4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5" name="Oval 4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Oval 4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7" name="Oval 4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8" name="Oval 49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9" name="Oval 5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0" name="Rectangle 5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1" name="Rounded Rectangle 52"/>
          <p:cNvSpPr/>
          <p:nvPr/>
        </p:nvSpPr>
        <p:spPr>
          <a:xfrm>
            <a:off x="384047" y="182879"/>
            <a:ext cx="1522477" cy="274321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2" name="TextBox 53"/>
          <p:cNvSpPr txBox="1"/>
          <p:nvPr/>
        </p:nvSpPr>
        <p:spPr>
          <a:xfrm>
            <a:off x="429767" y="182879"/>
            <a:ext cx="1431038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1213" name="TextBox 54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002366"/>
                </a:solidFill>
              </a:defRPr>
            </a:lvl1pPr>
          </a:lstStyle>
          <a:p>
            <a:pPr/>
            <a:r>
              <a:t>Project Limitations &amp; Future Work</a:t>
            </a:r>
          </a:p>
        </p:txBody>
      </p:sp>
      <p:sp>
        <p:nvSpPr>
          <p:cNvPr id="1214" name="Rectangle 55"/>
          <p:cNvSpPr/>
          <p:nvPr/>
        </p:nvSpPr>
        <p:spPr>
          <a:xfrm>
            <a:off x="384048" y="123443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5" name="Rectangle 56"/>
          <p:cNvSpPr/>
          <p:nvPr/>
        </p:nvSpPr>
        <p:spPr>
          <a:xfrm>
            <a:off x="384048" y="1234439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TextBox 57"/>
          <p:cNvSpPr txBox="1"/>
          <p:nvPr/>
        </p:nvSpPr>
        <p:spPr>
          <a:xfrm>
            <a:off x="557783" y="1286178"/>
            <a:ext cx="39319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Console-Only Output</a:t>
            </a:r>
          </a:p>
        </p:txBody>
      </p:sp>
      <p:sp>
        <p:nvSpPr>
          <p:cNvPr id="1217" name="TextBox 58"/>
          <p:cNvSpPr txBox="1"/>
          <p:nvPr/>
        </p:nvSpPr>
        <p:spPr>
          <a:xfrm>
            <a:off x="557783" y="160020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Results are printed to terminal — no graphical visualization of signals or real-time display.</a:t>
            </a:r>
          </a:p>
        </p:txBody>
      </p:sp>
      <p:sp>
        <p:nvSpPr>
          <p:cNvPr id="1218" name="TextBox 59"/>
          <p:cNvSpPr txBox="1"/>
          <p:nvPr/>
        </p:nvSpPr>
        <p:spPr>
          <a:xfrm>
            <a:off x="557783" y="1947672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integrate ncurses or Qt GUI showing live signal states and vehicle queues.</a:t>
            </a:r>
          </a:p>
        </p:txBody>
      </p:sp>
      <p:sp>
        <p:nvSpPr>
          <p:cNvPr id="1219" name="Rectangle 60"/>
          <p:cNvSpPr/>
          <p:nvPr/>
        </p:nvSpPr>
        <p:spPr>
          <a:xfrm>
            <a:off x="4818888" y="123443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0" name="Rectangle 61"/>
          <p:cNvSpPr/>
          <p:nvPr/>
        </p:nvSpPr>
        <p:spPr>
          <a:xfrm>
            <a:off x="4818888" y="1234439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TextBox 62"/>
          <p:cNvSpPr txBox="1"/>
          <p:nvPr/>
        </p:nvSpPr>
        <p:spPr>
          <a:xfrm>
            <a:off x="4992623" y="1286178"/>
            <a:ext cx="39319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No Pedestrian Modeling</a:t>
            </a:r>
          </a:p>
        </p:txBody>
      </p:sp>
      <p:sp>
        <p:nvSpPr>
          <p:cNvPr id="1222" name="TextBox 63"/>
          <p:cNvSpPr txBox="1"/>
          <p:nvPr/>
        </p:nvSpPr>
        <p:spPr>
          <a:xfrm>
            <a:off x="4992623" y="160020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Pedestrian crossing phases are ignored, reducing realism and throughput accuracy.</a:t>
            </a:r>
          </a:p>
        </p:txBody>
      </p:sp>
      <p:sp>
        <p:nvSpPr>
          <p:cNvPr id="1223" name="TextBox 64"/>
          <p:cNvSpPr txBox="1"/>
          <p:nvPr/>
        </p:nvSpPr>
        <p:spPr>
          <a:xfrm>
            <a:off x="4992623" y="1947672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add a PedestrianPhase class with dedicated walk/don't-walk signal logic.</a:t>
            </a:r>
          </a:p>
        </p:txBody>
      </p:sp>
      <p:sp>
        <p:nvSpPr>
          <p:cNvPr id="1224" name="Rectangle 65"/>
          <p:cNvSpPr/>
          <p:nvPr/>
        </p:nvSpPr>
        <p:spPr>
          <a:xfrm>
            <a:off x="384048" y="2423160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5" name="Rectangle 66"/>
          <p:cNvSpPr/>
          <p:nvPr/>
        </p:nvSpPr>
        <p:spPr>
          <a:xfrm>
            <a:off x="384048" y="2423160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TextBox 67"/>
          <p:cNvSpPr txBox="1"/>
          <p:nvPr/>
        </p:nvSpPr>
        <p:spPr>
          <a:xfrm>
            <a:off x="557783" y="2474898"/>
            <a:ext cx="3931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Single Intersection Only</a:t>
            </a:r>
          </a:p>
        </p:txBody>
      </p:sp>
      <p:sp>
        <p:nvSpPr>
          <p:cNvPr id="1227" name="TextBox 68"/>
          <p:cNvSpPr txBox="1"/>
          <p:nvPr/>
        </p:nvSpPr>
        <p:spPr>
          <a:xfrm>
            <a:off x="557783" y="278892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Only one isolated 4-way intersection. Real cities have networks of hundreds of connected nodes.</a:t>
            </a:r>
          </a:p>
        </p:txBody>
      </p:sp>
      <p:sp>
        <p:nvSpPr>
          <p:cNvPr id="1228" name="TextBox 69"/>
          <p:cNvSpPr txBox="1"/>
          <p:nvPr/>
        </p:nvSpPr>
        <p:spPr>
          <a:xfrm>
            <a:off x="557783" y="3136392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graph-based IntersectionNetwork class with inter-node vehicle routing.</a:t>
            </a:r>
          </a:p>
        </p:txBody>
      </p:sp>
      <p:sp>
        <p:nvSpPr>
          <p:cNvPr id="1229" name="Rectangle 70"/>
          <p:cNvSpPr/>
          <p:nvPr/>
        </p:nvSpPr>
        <p:spPr>
          <a:xfrm>
            <a:off x="4818888" y="2423160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0" name="Rectangle 71"/>
          <p:cNvSpPr/>
          <p:nvPr/>
        </p:nvSpPr>
        <p:spPr>
          <a:xfrm>
            <a:off x="4818888" y="2423160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TextBox 72"/>
          <p:cNvSpPr txBox="1"/>
          <p:nvPr/>
        </p:nvSpPr>
        <p:spPr>
          <a:xfrm>
            <a:off x="4992623" y="2474898"/>
            <a:ext cx="3931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Fixed Topology</a:t>
            </a:r>
          </a:p>
        </p:txBody>
      </p:sp>
      <p:sp>
        <p:nvSpPr>
          <p:cNvPr id="1232" name="TextBox 73"/>
          <p:cNvSpPr txBox="1"/>
          <p:nvPr/>
        </p:nvSpPr>
        <p:spPr>
          <a:xfrm>
            <a:off x="4992623" y="278892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Number of lanes and geometry are hardcoded. Changing config requires recompilation.</a:t>
            </a:r>
          </a:p>
        </p:txBody>
      </p:sp>
      <p:sp>
        <p:nvSpPr>
          <p:cNvPr id="1233" name="TextBox 74"/>
          <p:cNvSpPr txBox="1"/>
          <p:nvPr/>
        </p:nvSpPr>
        <p:spPr>
          <a:xfrm>
            <a:off x="4992623" y="3136392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load intersection config from a JSON file at runtime using a ConfigParser class.</a:t>
            </a:r>
          </a:p>
        </p:txBody>
      </p:sp>
      <p:sp>
        <p:nvSpPr>
          <p:cNvPr id="1234" name="Rectangle 75"/>
          <p:cNvSpPr/>
          <p:nvPr/>
        </p:nvSpPr>
        <p:spPr>
          <a:xfrm>
            <a:off x="384048" y="361187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5" name="Rectangle 76"/>
          <p:cNvSpPr/>
          <p:nvPr/>
        </p:nvSpPr>
        <p:spPr>
          <a:xfrm>
            <a:off x="384048" y="3611879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6" name="TextBox 77"/>
          <p:cNvSpPr txBox="1"/>
          <p:nvPr/>
        </p:nvSpPr>
        <p:spPr>
          <a:xfrm>
            <a:off x="557783" y="3663617"/>
            <a:ext cx="3931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Simplified Arrival Model</a:t>
            </a:r>
          </a:p>
        </p:txBody>
      </p:sp>
      <p:sp>
        <p:nvSpPr>
          <p:cNvPr id="1237" name="TextBox 78"/>
          <p:cNvSpPr txBox="1"/>
          <p:nvPr/>
        </p:nvSpPr>
        <p:spPr>
          <a:xfrm>
            <a:off x="557783" y="397764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Poisson distribution assumes independent arrivals. Real traffic arrives in correlated platoons.</a:t>
            </a:r>
          </a:p>
        </p:txBody>
      </p:sp>
      <p:sp>
        <p:nvSpPr>
          <p:cNvPr id="1238" name="TextBox 79"/>
          <p:cNvSpPr txBox="1"/>
          <p:nvPr/>
        </p:nvSpPr>
        <p:spPr>
          <a:xfrm>
            <a:off x="557783" y="4325111"/>
            <a:ext cx="3913632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time-dependent arrival rates and vehicle platooning using Markov chain models.</a:t>
            </a:r>
          </a:p>
        </p:txBody>
      </p:sp>
      <p:sp>
        <p:nvSpPr>
          <p:cNvPr id="1239" name="Rectangle 80"/>
          <p:cNvSpPr/>
          <p:nvPr/>
        </p:nvSpPr>
        <p:spPr>
          <a:xfrm>
            <a:off x="4818888" y="3611879"/>
            <a:ext cx="4251960" cy="107899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0" name="Rectangle 81"/>
          <p:cNvSpPr/>
          <p:nvPr/>
        </p:nvSpPr>
        <p:spPr>
          <a:xfrm>
            <a:off x="4818888" y="3611879"/>
            <a:ext cx="4251960" cy="329185"/>
          </a:xfrm>
          <a:prstGeom prst="rect">
            <a:avLst/>
          </a:prstGeom>
          <a:solidFill>
            <a:srgbClr val="FDE8E8"/>
          </a:solidFill>
          <a:ln>
            <a:solidFill>
              <a:srgbClr val="F5C5C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TextBox 82"/>
          <p:cNvSpPr txBox="1"/>
          <p:nvPr/>
        </p:nvSpPr>
        <p:spPr>
          <a:xfrm>
            <a:off x="4992623" y="3663617"/>
            <a:ext cx="3931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C8102E"/>
                </a:solidFill>
              </a:defRPr>
            </a:lvl1pPr>
          </a:lstStyle>
          <a:p>
            <a:pPr/>
            <a:r>
              <a:t>! No Adaptive Signal Logic</a:t>
            </a:r>
          </a:p>
        </p:txBody>
      </p:sp>
      <p:sp>
        <p:nvSpPr>
          <p:cNvPr id="1242" name="TextBox 83"/>
          <p:cNvSpPr txBox="1"/>
          <p:nvPr/>
        </p:nvSpPr>
        <p:spPr>
          <a:xfrm>
            <a:off x="4992623" y="3977640"/>
            <a:ext cx="391363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8B1A1A"/>
                </a:solidFill>
              </a:defRPr>
            </a:pPr>
            <a:r>
              <a:t>Current: </a:t>
            </a:r>
            <a:r>
              <a:rPr b="0">
                <a:solidFill>
                  <a:srgbClr val="1A1A1A"/>
                </a:solidFill>
              </a:rPr>
              <a:t>Fixed-phase timer only. Industry uses SCOOT, SCATS, or AI-based adaptive timing algorithms.</a:t>
            </a:r>
          </a:p>
        </p:txBody>
      </p:sp>
      <p:sp>
        <p:nvSpPr>
          <p:cNvPr id="1243" name="TextBox 84"/>
          <p:cNvSpPr txBox="1"/>
          <p:nvPr/>
        </p:nvSpPr>
        <p:spPr>
          <a:xfrm>
            <a:off x="4992623" y="4325111"/>
            <a:ext cx="3913632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">
                <a:solidFill>
                  <a:srgbClr val="002366"/>
                </a:solidFill>
              </a:defRPr>
            </a:pPr>
            <a:r>
              <a:t>Future: </a:t>
            </a:r>
            <a:r>
              <a:rPr b="0">
                <a:solidFill>
                  <a:srgbClr val="1A3A6B"/>
                </a:solidFill>
              </a:rPr>
              <a:t>Future: queue-density feedback loop — if queue &gt; threshold, extend green phase proportionally.</a:t>
            </a:r>
          </a:p>
        </p:txBody>
      </p:sp>
      <p:sp>
        <p:nvSpPr>
          <p:cNvPr id="1244" name="Rectangle 85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5" name="TextBox 86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1246" name="TextBox 87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14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4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88720" y="-1234440"/>
            <a:ext cx="1828801" cy="182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905256" y="-950976"/>
            <a:ext cx="1261873" cy="1261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7" y="365758"/>
            <a:ext cx="1005840" cy="1005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4592" y="466344"/>
            <a:ext cx="804673" cy="804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3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484632" y="1252727"/>
            <a:ext cx="822961" cy="8229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4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64008" y="1892806"/>
            <a:ext cx="640082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1255" name="Oval 8"/>
          <p:cNvSpPr/>
          <p:nvPr/>
        </p:nvSpPr>
        <p:spPr>
          <a:xfrm>
            <a:off x="182879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Oval 9"/>
          <p:cNvSpPr/>
          <p:nvPr/>
        </p:nvSpPr>
        <p:spPr>
          <a:xfrm>
            <a:off x="338327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7" name="Oval 10"/>
          <p:cNvSpPr/>
          <p:nvPr/>
        </p:nvSpPr>
        <p:spPr>
          <a:xfrm>
            <a:off x="493776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8" name="Oval 11"/>
          <p:cNvSpPr/>
          <p:nvPr/>
        </p:nvSpPr>
        <p:spPr>
          <a:xfrm>
            <a:off x="649223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9" name="Oval 12"/>
          <p:cNvSpPr/>
          <p:nvPr/>
        </p:nvSpPr>
        <p:spPr>
          <a:xfrm>
            <a:off x="804672" y="2999232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0" name="Oval 13"/>
          <p:cNvSpPr/>
          <p:nvPr/>
        </p:nvSpPr>
        <p:spPr>
          <a:xfrm>
            <a:off x="182879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Oval 14"/>
          <p:cNvSpPr/>
          <p:nvPr/>
        </p:nvSpPr>
        <p:spPr>
          <a:xfrm>
            <a:off x="338327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2" name="Oval 15"/>
          <p:cNvSpPr/>
          <p:nvPr/>
        </p:nvSpPr>
        <p:spPr>
          <a:xfrm>
            <a:off x="493776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3" name="Oval 16"/>
          <p:cNvSpPr/>
          <p:nvPr/>
        </p:nvSpPr>
        <p:spPr>
          <a:xfrm>
            <a:off x="649223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4" name="Oval 17"/>
          <p:cNvSpPr/>
          <p:nvPr/>
        </p:nvSpPr>
        <p:spPr>
          <a:xfrm>
            <a:off x="804672" y="3154678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5" name="Oval 18"/>
          <p:cNvSpPr/>
          <p:nvPr/>
        </p:nvSpPr>
        <p:spPr>
          <a:xfrm>
            <a:off x="182879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Oval 19"/>
          <p:cNvSpPr/>
          <p:nvPr/>
        </p:nvSpPr>
        <p:spPr>
          <a:xfrm>
            <a:off x="338327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7" name="Oval 20"/>
          <p:cNvSpPr/>
          <p:nvPr/>
        </p:nvSpPr>
        <p:spPr>
          <a:xfrm>
            <a:off x="493776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8" name="Oval 21"/>
          <p:cNvSpPr/>
          <p:nvPr/>
        </p:nvSpPr>
        <p:spPr>
          <a:xfrm>
            <a:off x="649223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9" name="Oval 22"/>
          <p:cNvSpPr/>
          <p:nvPr/>
        </p:nvSpPr>
        <p:spPr>
          <a:xfrm>
            <a:off x="804672" y="331012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0" name="Oval 23"/>
          <p:cNvSpPr/>
          <p:nvPr/>
        </p:nvSpPr>
        <p:spPr>
          <a:xfrm>
            <a:off x="182879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Oval 24"/>
          <p:cNvSpPr/>
          <p:nvPr/>
        </p:nvSpPr>
        <p:spPr>
          <a:xfrm>
            <a:off x="338327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2" name="Oval 25"/>
          <p:cNvSpPr/>
          <p:nvPr/>
        </p:nvSpPr>
        <p:spPr>
          <a:xfrm>
            <a:off x="493776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3" name="Oval 26"/>
          <p:cNvSpPr/>
          <p:nvPr/>
        </p:nvSpPr>
        <p:spPr>
          <a:xfrm>
            <a:off x="649223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4" name="Oval 27"/>
          <p:cNvSpPr/>
          <p:nvPr/>
        </p:nvSpPr>
        <p:spPr>
          <a:xfrm>
            <a:off x="804672" y="3465576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5" name="Oval 28"/>
          <p:cNvSpPr/>
          <p:nvPr/>
        </p:nvSpPr>
        <p:spPr>
          <a:xfrm>
            <a:off x="182879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Oval 29"/>
          <p:cNvSpPr/>
          <p:nvPr/>
        </p:nvSpPr>
        <p:spPr>
          <a:xfrm>
            <a:off x="338327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7" name="Oval 30"/>
          <p:cNvSpPr/>
          <p:nvPr/>
        </p:nvSpPr>
        <p:spPr>
          <a:xfrm>
            <a:off x="493776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8" name="Oval 31"/>
          <p:cNvSpPr/>
          <p:nvPr/>
        </p:nvSpPr>
        <p:spPr>
          <a:xfrm>
            <a:off x="649223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9" name="Oval 32"/>
          <p:cNvSpPr/>
          <p:nvPr/>
        </p:nvSpPr>
        <p:spPr>
          <a:xfrm>
            <a:off x="804672" y="3621023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0" name="Oval 33"/>
          <p:cNvSpPr/>
          <p:nvPr/>
        </p:nvSpPr>
        <p:spPr>
          <a:xfrm>
            <a:off x="182879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Oval 34"/>
          <p:cNvSpPr/>
          <p:nvPr/>
        </p:nvSpPr>
        <p:spPr>
          <a:xfrm>
            <a:off x="338327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2" name="Oval 35"/>
          <p:cNvSpPr/>
          <p:nvPr/>
        </p:nvSpPr>
        <p:spPr>
          <a:xfrm>
            <a:off x="493776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3" name="Oval 36"/>
          <p:cNvSpPr/>
          <p:nvPr/>
        </p:nvSpPr>
        <p:spPr>
          <a:xfrm>
            <a:off x="649223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4" name="Oval 37"/>
          <p:cNvSpPr/>
          <p:nvPr/>
        </p:nvSpPr>
        <p:spPr>
          <a:xfrm>
            <a:off x="804672" y="3776471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5" name="Oval 38"/>
          <p:cNvSpPr/>
          <p:nvPr/>
        </p:nvSpPr>
        <p:spPr>
          <a:xfrm>
            <a:off x="182879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Oval 39"/>
          <p:cNvSpPr/>
          <p:nvPr/>
        </p:nvSpPr>
        <p:spPr>
          <a:xfrm>
            <a:off x="338327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7" name="Oval 40"/>
          <p:cNvSpPr/>
          <p:nvPr/>
        </p:nvSpPr>
        <p:spPr>
          <a:xfrm>
            <a:off x="493776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8" name="Oval 41"/>
          <p:cNvSpPr/>
          <p:nvPr/>
        </p:nvSpPr>
        <p:spPr>
          <a:xfrm>
            <a:off x="649223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9" name="Oval 42"/>
          <p:cNvSpPr/>
          <p:nvPr/>
        </p:nvSpPr>
        <p:spPr>
          <a:xfrm>
            <a:off x="804672" y="3931920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0" name="Oval 43"/>
          <p:cNvSpPr/>
          <p:nvPr/>
        </p:nvSpPr>
        <p:spPr>
          <a:xfrm>
            <a:off x="182879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Oval 44"/>
          <p:cNvSpPr/>
          <p:nvPr/>
        </p:nvSpPr>
        <p:spPr>
          <a:xfrm>
            <a:off x="338327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2" name="Oval 45"/>
          <p:cNvSpPr/>
          <p:nvPr/>
        </p:nvSpPr>
        <p:spPr>
          <a:xfrm>
            <a:off x="493776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3" name="Oval 46"/>
          <p:cNvSpPr/>
          <p:nvPr/>
        </p:nvSpPr>
        <p:spPr>
          <a:xfrm>
            <a:off x="649223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4" name="Oval 47"/>
          <p:cNvSpPr/>
          <p:nvPr/>
        </p:nvSpPr>
        <p:spPr>
          <a:xfrm>
            <a:off x="804672" y="4087367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5" name="Oval 48"/>
          <p:cNvSpPr/>
          <p:nvPr/>
        </p:nvSpPr>
        <p:spPr>
          <a:xfrm>
            <a:off x="182879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6" name="Oval 49"/>
          <p:cNvSpPr/>
          <p:nvPr/>
        </p:nvSpPr>
        <p:spPr>
          <a:xfrm>
            <a:off x="338327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7" name="Oval 50"/>
          <p:cNvSpPr/>
          <p:nvPr/>
        </p:nvSpPr>
        <p:spPr>
          <a:xfrm>
            <a:off x="493776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8" name="Oval 51"/>
          <p:cNvSpPr/>
          <p:nvPr/>
        </p:nvSpPr>
        <p:spPr>
          <a:xfrm>
            <a:off x="649223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9" name="Oval 52"/>
          <p:cNvSpPr/>
          <p:nvPr/>
        </p:nvSpPr>
        <p:spPr>
          <a:xfrm>
            <a:off x="804672" y="4242815"/>
            <a:ext cx="41149" cy="41149"/>
          </a:xfrm>
          <a:prstGeom prst="ellipse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0" name="Oval 53"/>
          <p:cNvSpPr/>
          <p:nvPr/>
        </p:nvSpPr>
        <p:spPr>
          <a:xfrm>
            <a:off x="5943600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Oval 54"/>
          <p:cNvSpPr/>
          <p:nvPr/>
        </p:nvSpPr>
        <p:spPr>
          <a:xfrm>
            <a:off x="6099047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2" name="Oval 55"/>
          <p:cNvSpPr/>
          <p:nvPr/>
        </p:nvSpPr>
        <p:spPr>
          <a:xfrm>
            <a:off x="6254496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3" name="Oval 56"/>
          <p:cNvSpPr/>
          <p:nvPr/>
        </p:nvSpPr>
        <p:spPr>
          <a:xfrm>
            <a:off x="6409944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4" name="Oval 57"/>
          <p:cNvSpPr/>
          <p:nvPr/>
        </p:nvSpPr>
        <p:spPr>
          <a:xfrm>
            <a:off x="6565392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5" name="Oval 58"/>
          <p:cNvSpPr/>
          <p:nvPr/>
        </p:nvSpPr>
        <p:spPr>
          <a:xfrm>
            <a:off x="6720840" y="16459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Oval 59"/>
          <p:cNvSpPr/>
          <p:nvPr/>
        </p:nvSpPr>
        <p:spPr>
          <a:xfrm>
            <a:off x="5943600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7" name="Oval 60"/>
          <p:cNvSpPr/>
          <p:nvPr/>
        </p:nvSpPr>
        <p:spPr>
          <a:xfrm>
            <a:off x="6099047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8" name="Oval 61"/>
          <p:cNvSpPr/>
          <p:nvPr/>
        </p:nvSpPr>
        <p:spPr>
          <a:xfrm>
            <a:off x="6254496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9" name="Oval 62"/>
          <p:cNvSpPr/>
          <p:nvPr/>
        </p:nvSpPr>
        <p:spPr>
          <a:xfrm>
            <a:off x="6409944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0" name="Oval 63"/>
          <p:cNvSpPr/>
          <p:nvPr/>
        </p:nvSpPr>
        <p:spPr>
          <a:xfrm>
            <a:off x="6565392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Oval 64"/>
          <p:cNvSpPr/>
          <p:nvPr/>
        </p:nvSpPr>
        <p:spPr>
          <a:xfrm>
            <a:off x="6720840" y="32004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2" name="Oval 65"/>
          <p:cNvSpPr/>
          <p:nvPr/>
        </p:nvSpPr>
        <p:spPr>
          <a:xfrm>
            <a:off x="5943600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3" name="Oval 66"/>
          <p:cNvSpPr/>
          <p:nvPr/>
        </p:nvSpPr>
        <p:spPr>
          <a:xfrm>
            <a:off x="6099047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4" name="Oval 67"/>
          <p:cNvSpPr/>
          <p:nvPr/>
        </p:nvSpPr>
        <p:spPr>
          <a:xfrm>
            <a:off x="6254496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5" name="Oval 68"/>
          <p:cNvSpPr/>
          <p:nvPr/>
        </p:nvSpPr>
        <p:spPr>
          <a:xfrm>
            <a:off x="6409944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Oval 69"/>
          <p:cNvSpPr/>
          <p:nvPr/>
        </p:nvSpPr>
        <p:spPr>
          <a:xfrm>
            <a:off x="6565392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7" name="Oval 70"/>
          <p:cNvSpPr/>
          <p:nvPr/>
        </p:nvSpPr>
        <p:spPr>
          <a:xfrm>
            <a:off x="6720840" y="47548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8" name="Oval 71"/>
          <p:cNvSpPr/>
          <p:nvPr/>
        </p:nvSpPr>
        <p:spPr>
          <a:xfrm>
            <a:off x="5943600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9" name="Oval 72"/>
          <p:cNvSpPr/>
          <p:nvPr/>
        </p:nvSpPr>
        <p:spPr>
          <a:xfrm>
            <a:off x="6099047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0" name="Oval 73"/>
          <p:cNvSpPr/>
          <p:nvPr/>
        </p:nvSpPr>
        <p:spPr>
          <a:xfrm>
            <a:off x="6254496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Oval 74"/>
          <p:cNvSpPr/>
          <p:nvPr/>
        </p:nvSpPr>
        <p:spPr>
          <a:xfrm>
            <a:off x="6409944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2" name="Oval 75"/>
          <p:cNvSpPr/>
          <p:nvPr/>
        </p:nvSpPr>
        <p:spPr>
          <a:xfrm>
            <a:off x="6565392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3" name="Oval 76"/>
          <p:cNvSpPr/>
          <p:nvPr/>
        </p:nvSpPr>
        <p:spPr>
          <a:xfrm>
            <a:off x="6720840" y="630936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4" name="Oval 77"/>
          <p:cNvSpPr/>
          <p:nvPr/>
        </p:nvSpPr>
        <p:spPr>
          <a:xfrm>
            <a:off x="5943600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5" name="Oval 78"/>
          <p:cNvSpPr/>
          <p:nvPr/>
        </p:nvSpPr>
        <p:spPr>
          <a:xfrm>
            <a:off x="6099047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Oval 79"/>
          <p:cNvSpPr/>
          <p:nvPr/>
        </p:nvSpPr>
        <p:spPr>
          <a:xfrm>
            <a:off x="6254496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7" name="Oval 80"/>
          <p:cNvSpPr/>
          <p:nvPr/>
        </p:nvSpPr>
        <p:spPr>
          <a:xfrm>
            <a:off x="6409944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8" name="Oval 81"/>
          <p:cNvSpPr/>
          <p:nvPr/>
        </p:nvSpPr>
        <p:spPr>
          <a:xfrm>
            <a:off x="6565392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9" name="Oval 82"/>
          <p:cNvSpPr/>
          <p:nvPr/>
        </p:nvSpPr>
        <p:spPr>
          <a:xfrm>
            <a:off x="6720840" y="786383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0" name="Oval 83"/>
          <p:cNvSpPr/>
          <p:nvPr/>
        </p:nvSpPr>
        <p:spPr>
          <a:xfrm>
            <a:off x="5943600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Oval 84"/>
          <p:cNvSpPr/>
          <p:nvPr/>
        </p:nvSpPr>
        <p:spPr>
          <a:xfrm>
            <a:off x="6099047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2" name="Oval 85"/>
          <p:cNvSpPr/>
          <p:nvPr/>
        </p:nvSpPr>
        <p:spPr>
          <a:xfrm>
            <a:off x="6254496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3" name="Oval 86"/>
          <p:cNvSpPr/>
          <p:nvPr/>
        </p:nvSpPr>
        <p:spPr>
          <a:xfrm>
            <a:off x="6409944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4" name="Oval 87"/>
          <p:cNvSpPr/>
          <p:nvPr/>
        </p:nvSpPr>
        <p:spPr>
          <a:xfrm>
            <a:off x="6565392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5" name="Oval 88"/>
          <p:cNvSpPr/>
          <p:nvPr/>
        </p:nvSpPr>
        <p:spPr>
          <a:xfrm>
            <a:off x="6720840" y="941832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Oval 89"/>
          <p:cNvSpPr/>
          <p:nvPr/>
        </p:nvSpPr>
        <p:spPr>
          <a:xfrm>
            <a:off x="5943600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7" name="Oval 90"/>
          <p:cNvSpPr/>
          <p:nvPr/>
        </p:nvSpPr>
        <p:spPr>
          <a:xfrm>
            <a:off x="6099047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8" name="Oval 91"/>
          <p:cNvSpPr/>
          <p:nvPr/>
        </p:nvSpPr>
        <p:spPr>
          <a:xfrm>
            <a:off x="6254496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9" name="Oval 92"/>
          <p:cNvSpPr/>
          <p:nvPr/>
        </p:nvSpPr>
        <p:spPr>
          <a:xfrm>
            <a:off x="6409944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0" name="Oval 93"/>
          <p:cNvSpPr/>
          <p:nvPr/>
        </p:nvSpPr>
        <p:spPr>
          <a:xfrm>
            <a:off x="6565392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1" name="Oval 94"/>
          <p:cNvSpPr/>
          <p:nvPr/>
        </p:nvSpPr>
        <p:spPr>
          <a:xfrm>
            <a:off x="6720840" y="1097280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2" name="Oval 95"/>
          <p:cNvSpPr/>
          <p:nvPr/>
        </p:nvSpPr>
        <p:spPr>
          <a:xfrm>
            <a:off x="5943600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3" name="Oval 96"/>
          <p:cNvSpPr/>
          <p:nvPr/>
        </p:nvSpPr>
        <p:spPr>
          <a:xfrm>
            <a:off x="6099047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4" name="Oval 97"/>
          <p:cNvSpPr/>
          <p:nvPr/>
        </p:nvSpPr>
        <p:spPr>
          <a:xfrm>
            <a:off x="6254496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5" name="Oval 98"/>
          <p:cNvSpPr/>
          <p:nvPr/>
        </p:nvSpPr>
        <p:spPr>
          <a:xfrm>
            <a:off x="6409944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Oval 99"/>
          <p:cNvSpPr/>
          <p:nvPr/>
        </p:nvSpPr>
        <p:spPr>
          <a:xfrm>
            <a:off x="6565392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7" name="Oval 100"/>
          <p:cNvSpPr/>
          <p:nvPr/>
        </p:nvSpPr>
        <p:spPr>
          <a:xfrm>
            <a:off x="6720840" y="1252727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8" name="Oval 101"/>
          <p:cNvSpPr/>
          <p:nvPr/>
        </p:nvSpPr>
        <p:spPr>
          <a:xfrm>
            <a:off x="5943600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9" name="Oval 102"/>
          <p:cNvSpPr/>
          <p:nvPr/>
        </p:nvSpPr>
        <p:spPr>
          <a:xfrm>
            <a:off x="6099047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Oval 103"/>
          <p:cNvSpPr/>
          <p:nvPr/>
        </p:nvSpPr>
        <p:spPr>
          <a:xfrm>
            <a:off x="6254496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Oval 104"/>
          <p:cNvSpPr/>
          <p:nvPr/>
        </p:nvSpPr>
        <p:spPr>
          <a:xfrm>
            <a:off x="6409944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2" name="Oval 105"/>
          <p:cNvSpPr/>
          <p:nvPr/>
        </p:nvSpPr>
        <p:spPr>
          <a:xfrm>
            <a:off x="6565392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3" name="Oval 106"/>
          <p:cNvSpPr/>
          <p:nvPr/>
        </p:nvSpPr>
        <p:spPr>
          <a:xfrm>
            <a:off x="6720840" y="1408175"/>
            <a:ext cx="41149" cy="41149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54" name="Picture 107" descr="Picture 10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47888" y="4645152"/>
            <a:ext cx="1463040" cy="1463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5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94192" y="4791455"/>
            <a:ext cx="1170433" cy="1170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6" name="Picture 109" descr="Picture 10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584947" y="4110228"/>
            <a:ext cx="777241" cy="777241"/>
          </a:xfrm>
          <a:prstGeom prst="rect">
            <a:avLst/>
          </a:prstGeom>
          <a:ln w="12700">
            <a:miter lim="400000"/>
          </a:ln>
        </p:spPr>
      </p:pic>
      <p:sp>
        <p:nvSpPr>
          <p:cNvPr id="1357" name="Oval 110"/>
          <p:cNvSpPr/>
          <p:nvPr/>
        </p:nvSpPr>
        <p:spPr>
          <a:xfrm>
            <a:off x="4041647" y="566927"/>
            <a:ext cx="1060705" cy="1060705"/>
          </a:xfrm>
          <a:prstGeom prst="ellipse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8" name="TextBox 111"/>
          <p:cNvSpPr txBox="1"/>
          <p:nvPr/>
        </p:nvSpPr>
        <p:spPr>
          <a:xfrm>
            <a:off x="4087367" y="874901"/>
            <a:ext cx="96926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1359" name="TextBox 112"/>
          <p:cNvSpPr txBox="1"/>
          <p:nvPr/>
        </p:nvSpPr>
        <p:spPr>
          <a:xfrm>
            <a:off x="960119" y="1728724"/>
            <a:ext cx="7223761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0023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1360" name="TextBox 113"/>
          <p:cNvSpPr txBox="1"/>
          <p:nvPr/>
        </p:nvSpPr>
        <p:spPr>
          <a:xfrm>
            <a:off x="960119" y="2450592"/>
            <a:ext cx="72237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i="1" sz="2000">
                <a:solidFill>
                  <a:srgbClr val="C8102E"/>
                </a:solidFill>
              </a:defRPr>
            </a:lvl1pPr>
          </a:lstStyle>
          <a:p>
            <a:pPr/>
            <a:r>
              <a:t>Questions &amp; Discussion</a:t>
            </a:r>
          </a:p>
        </p:txBody>
      </p:sp>
      <p:sp>
        <p:nvSpPr>
          <p:cNvPr id="1361" name="Rectangle 114"/>
          <p:cNvSpPr/>
          <p:nvPr/>
        </p:nvSpPr>
        <p:spPr>
          <a:xfrm>
            <a:off x="1645919" y="2871216"/>
            <a:ext cx="5852162" cy="27433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2" name="TextBox 115"/>
          <p:cNvSpPr txBox="1"/>
          <p:nvPr/>
        </p:nvSpPr>
        <p:spPr>
          <a:xfrm>
            <a:off x="1691639" y="2962655"/>
            <a:ext cx="576072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02366"/>
                </a:solidFill>
              </a:defRPr>
            </a:lvl1pPr>
          </a:lstStyle>
          <a:p>
            <a:pPr/>
            <a:r>
              <a:t>•  Implemented a 4-class C++ OOP simulator modeling real traffic engineering principles</a:t>
            </a:r>
          </a:p>
        </p:txBody>
      </p:sp>
      <p:sp>
        <p:nvSpPr>
          <p:cNvPr id="1363" name="TextBox 116"/>
          <p:cNvSpPr txBox="1"/>
          <p:nvPr/>
        </p:nvSpPr>
        <p:spPr>
          <a:xfrm>
            <a:off x="1691639" y="3273552"/>
            <a:ext cx="576072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02366"/>
                </a:solidFill>
              </a:defRPr>
            </a:lvl1pPr>
          </a:lstStyle>
          <a:p>
            <a:pPr/>
            <a:r>
              <a:t>•  Compared fixed-timing vs. adaptive signal strategies with measurable throughput results</a:t>
            </a:r>
          </a:p>
        </p:txBody>
      </p:sp>
      <p:sp>
        <p:nvSpPr>
          <p:cNvPr id="1364" name="TextBox 117"/>
          <p:cNvSpPr txBox="1"/>
          <p:nvPr/>
        </p:nvSpPr>
        <p:spPr>
          <a:xfrm>
            <a:off x="1691639" y="3584447"/>
            <a:ext cx="576072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002366"/>
                </a:solidFill>
              </a:defRPr>
            </a:lvl1pPr>
          </a:lstStyle>
          <a:p>
            <a:pPr/>
            <a:r>
              <a:t>•  Applied core data structures: queues, vectors, and enums in a time-stepped system</a:t>
            </a:r>
          </a:p>
        </p:txBody>
      </p:sp>
      <p:sp>
        <p:nvSpPr>
          <p:cNvPr id="1365" name="Rectangle 118"/>
          <p:cNvSpPr/>
          <p:nvPr/>
        </p:nvSpPr>
        <p:spPr>
          <a:xfrm>
            <a:off x="2926079" y="4005071"/>
            <a:ext cx="3291842" cy="384049"/>
          </a:xfrm>
          <a:prstGeom prst="rect">
            <a:avLst/>
          </a:prstGeom>
          <a:solidFill>
            <a:srgbClr val="002366"/>
          </a:solidFill>
          <a:ln>
            <a:solidFill>
              <a:srgbClr val="C8102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6" name="TextBox 119"/>
          <p:cNvSpPr txBox="1"/>
          <p:nvPr/>
        </p:nvSpPr>
        <p:spPr>
          <a:xfrm>
            <a:off x="3136392" y="4084241"/>
            <a:ext cx="285292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github.com/[your-repo-link-here]</a:t>
            </a:r>
          </a:p>
        </p:txBody>
      </p:sp>
      <p:sp>
        <p:nvSpPr>
          <p:cNvPr id="1367" name="Rectangle 120"/>
          <p:cNvSpPr/>
          <p:nvPr/>
        </p:nvSpPr>
        <p:spPr>
          <a:xfrm>
            <a:off x="7360919" y="4480559"/>
            <a:ext cx="1691641" cy="502920"/>
          </a:xfrm>
          <a:prstGeom prst="rect">
            <a:avLst/>
          </a:prstGeom>
          <a:solidFill>
            <a:srgbClr val="C810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TextBox 121"/>
          <p:cNvSpPr txBox="1"/>
          <p:nvPr/>
        </p:nvSpPr>
        <p:spPr>
          <a:xfrm>
            <a:off x="7406639" y="4527549"/>
            <a:ext cx="41148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369" name="TextBox 122"/>
          <p:cNvSpPr txBox="1"/>
          <p:nvPr/>
        </p:nvSpPr>
        <p:spPr>
          <a:xfrm>
            <a:off x="7927846" y="4581809"/>
            <a:ext cx="1078993" cy="30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700">
                <a:solidFill>
                  <a:srgbClr val="FFFFFF"/>
                </a:solidFill>
              </a:defRPr>
            </a:pPr>
            <a:r>
              <a:t>Northeastern University</a:t>
            </a:r>
          </a:p>
          <a:p>
            <a:pPr>
              <a:defRPr sz="700">
                <a:solidFill>
                  <a:srgbClr val="FFFFFF"/>
                </a:solidFill>
              </a:defRPr>
            </a:pPr>
            <a:r>
              <a:t>College of Engineering</a:t>
            </a:r>
          </a:p>
        </p:txBody>
      </p:sp>
      <p:sp>
        <p:nvSpPr>
          <p:cNvPr id="1370" name="Rectangle 12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TextBox 12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AABBD0"/>
                </a:solidFill>
              </a:defRPr>
            </a:lvl1pPr>
          </a:lstStyle>
          <a:p>
            <a:pPr/>
            <a:r>
              <a:t>EECE 2140  ·  Computing Fundamentals for Engineers  ·  Dr. Fatema Nafa  ·  Spring 2026</a:t>
            </a:r>
          </a:p>
        </p:txBody>
      </p:sp>
      <p:sp>
        <p:nvSpPr>
          <p:cNvPr id="1372" name="TextBox 125"/>
          <p:cNvSpPr txBox="1"/>
          <p:nvPr/>
        </p:nvSpPr>
        <p:spPr>
          <a:xfrm>
            <a:off x="8138159" y="4882896"/>
            <a:ext cx="7315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15 /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