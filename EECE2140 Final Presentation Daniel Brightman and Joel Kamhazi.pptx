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5"/>
    <p:sldMasterId id="214748366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2575AC-35D3-427C-A4F8-54C01BDF5D16}">
  <a:tblStyle styleId="{DE2575AC-35D3-427C-A4F8-54C01BDF5D1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6e97f69e8_2_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96e97f69e8_2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6e97f69e8_2_1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6e97f69e8_2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6e97f69e8_2_2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96e97f69e8_2_2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6e97f69e8_2_2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96e97f69e8_2_2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96e97f69e8_2_3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96e97f69e8_2_3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96e97f69e8_2_4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Danny: Slides 6-12</a:t>
            </a:r>
            <a:endParaRPr/>
          </a:p>
        </p:txBody>
      </p:sp>
      <p:sp>
        <p:nvSpPr>
          <p:cNvPr id="500" name="Google Shape;500;g396e97f69e8_2_4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96e97f69e8_2_5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96e97f69e8_2_5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96e97f69e8_2_6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96e97f69e8_2_6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96e97f69e8_2_7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g396e97f69e8_2_7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96e97f69e8_0_1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96e97f69e8_0_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96e97f69e8_2_7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96e97f69e8_2_7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96e97f69e8_2_8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g396e97f69e8_2_8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96e97f69e8_2_9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g396e97f69e8_2_9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96e97f69e8_2_10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g396e97f69e8_2_10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96e97f69e8_2_1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g396e97f69e8_2_1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g396e97f69e8_2_12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g396e97f69e8_2_12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7" name="Google Shape;87;p22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95" name="Google Shape;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5176" y="-396621"/>
            <a:ext cx="1828801" cy="1828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96" name="Google Shape;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5" y="-153163"/>
            <a:ext cx="1261874" cy="1261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97" name="Google Shape;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096" y="932688"/>
            <a:ext cx="1005840" cy="10058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98" name="Google Shape;9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679" y="1029842"/>
            <a:ext cx="804673" cy="804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99" name="Google Shape;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0" y="1517902"/>
            <a:ext cx="822961" cy="822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00" name="Google Shape;10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672" y="1931670"/>
            <a:ext cx="640081" cy="64008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3"/>
          <p:cNvSpPr/>
          <p:nvPr/>
        </p:nvSpPr>
        <p:spPr>
          <a:xfrm>
            <a:off x="182879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3"/>
          <p:cNvSpPr/>
          <p:nvPr/>
        </p:nvSpPr>
        <p:spPr>
          <a:xfrm>
            <a:off x="338327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3"/>
          <p:cNvSpPr/>
          <p:nvPr/>
        </p:nvSpPr>
        <p:spPr>
          <a:xfrm>
            <a:off x="493776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3"/>
          <p:cNvSpPr/>
          <p:nvPr/>
        </p:nvSpPr>
        <p:spPr>
          <a:xfrm>
            <a:off x="649223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3"/>
          <p:cNvSpPr/>
          <p:nvPr/>
        </p:nvSpPr>
        <p:spPr>
          <a:xfrm>
            <a:off x="804672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3"/>
          <p:cNvSpPr/>
          <p:nvPr/>
        </p:nvSpPr>
        <p:spPr>
          <a:xfrm>
            <a:off x="182879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3"/>
          <p:cNvSpPr/>
          <p:nvPr/>
        </p:nvSpPr>
        <p:spPr>
          <a:xfrm>
            <a:off x="338327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3"/>
          <p:cNvSpPr/>
          <p:nvPr/>
        </p:nvSpPr>
        <p:spPr>
          <a:xfrm>
            <a:off x="493776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3"/>
          <p:cNvSpPr/>
          <p:nvPr/>
        </p:nvSpPr>
        <p:spPr>
          <a:xfrm>
            <a:off x="649223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3"/>
          <p:cNvSpPr/>
          <p:nvPr/>
        </p:nvSpPr>
        <p:spPr>
          <a:xfrm>
            <a:off x="804672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3"/>
          <p:cNvSpPr/>
          <p:nvPr/>
        </p:nvSpPr>
        <p:spPr>
          <a:xfrm>
            <a:off x="182879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3"/>
          <p:cNvSpPr/>
          <p:nvPr/>
        </p:nvSpPr>
        <p:spPr>
          <a:xfrm>
            <a:off x="338327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493776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649223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3"/>
          <p:cNvSpPr/>
          <p:nvPr/>
        </p:nvSpPr>
        <p:spPr>
          <a:xfrm>
            <a:off x="804672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3"/>
          <p:cNvSpPr/>
          <p:nvPr/>
        </p:nvSpPr>
        <p:spPr>
          <a:xfrm>
            <a:off x="182879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3"/>
          <p:cNvSpPr/>
          <p:nvPr/>
        </p:nvSpPr>
        <p:spPr>
          <a:xfrm>
            <a:off x="338327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493776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649223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804672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3"/>
          <p:cNvSpPr/>
          <p:nvPr/>
        </p:nvSpPr>
        <p:spPr>
          <a:xfrm>
            <a:off x="182879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338327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493776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649223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804672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3"/>
          <p:cNvSpPr/>
          <p:nvPr/>
        </p:nvSpPr>
        <p:spPr>
          <a:xfrm>
            <a:off x="182879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338327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493776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3"/>
          <p:cNvSpPr/>
          <p:nvPr/>
        </p:nvSpPr>
        <p:spPr>
          <a:xfrm>
            <a:off x="649223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804672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182879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338327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493776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649223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3"/>
          <p:cNvSpPr/>
          <p:nvPr/>
        </p:nvSpPr>
        <p:spPr>
          <a:xfrm>
            <a:off x="804672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182879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338327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3"/>
          <p:cNvSpPr/>
          <p:nvPr/>
        </p:nvSpPr>
        <p:spPr>
          <a:xfrm>
            <a:off x="493776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/>
          <p:nvPr/>
        </p:nvSpPr>
        <p:spPr>
          <a:xfrm>
            <a:off x="649223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/>
          <p:nvPr/>
        </p:nvSpPr>
        <p:spPr>
          <a:xfrm>
            <a:off x="804672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182879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338327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493776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649223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804672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107" id="146" name="Google Shape;1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4014" y="2460256"/>
            <a:ext cx="1463041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8" id="147" name="Google Shape;14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5502" y="2610611"/>
            <a:ext cx="1170433" cy="1170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9" id="148" name="Google Shape;14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9811" y="1540763"/>
            <a:ext cx="777241" cy="777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3"/>
          <p:cNvSpPr txBox="1"/>
          <p:nvPr/>
        </p:nvSpPr>
        <p:spPr>
          <a:xfrm>
            <a:off x="2606039" y="1127060"/>
            <a:ext cx="3931920" cy="5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College of Engineering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Department of Electrical and Computer Engineering</a:t>
            </a:r>
            <a:endParaRPr/>
          </a:p>
        </p:txBody>
      </p:sp>
      <p:sp>
        <p:nvSpPr>
          <p:cNvPr id="150" name="Google Shape;150;p23"/>
          <p:cNvSpPr txBox="1"/>
          <p:nvPr/>
        </p:nvSpPr>
        <p:spPr>
          <a:xfrm>
            <a:off x="2331720" y="2028270"/>
            <a:ext cx="4480560" cy="625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EECE 2140:  COMPUTING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FUNDAMENTALS FOR ENGINEERS</a:t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2240280" y="2933385"/>
            <a:ext cx="4663440" cy="277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500"/>
              <a:buFont typeface="Calibri"/>
              <a:buNone/>
            </a:pPr>
            <a:r>
              <a:rPr b="1" i="1" lang="en" sz="15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Elevator Scheduling System</a:t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2240280" y="3383279"/>
            <a:ext cx="4663440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Spring 2026</a:t>
            </a: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2240280" y="3730752"/>
            <a:ext cx="4663440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Dr. Fatema Nafa</a:t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7415783" y="4578281"/>
            <a:ext cx="1691641" cy="50292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7461505" y="4600737"/>
            <a:ext cx="411480" cy="408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7982711" y="4654997"/>
            <a:ext cx="1078994" cy="300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Northeastern University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College of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162" name="Google Shape;1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163" name="Google Shape;1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164" name="Google Shape;1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165" name="Google Shape;16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166" name="Google Shape;16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4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4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4"/>
          <p:cNvSpPr/>
          <p:nvPr/>
        </p:nvSpPr>
        <p:spPr>
          <a:xfrm>
            <a:off x="384047" y="182879"/>
            <a:ext cx="1371601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429768" y="182879"/>
            <a:ext cx="128016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384048" y="1234439"/>
            <a:ext cx="40690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384047" y="1234439"/>
            <a:ext cx="402338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429768" y="1343082"/>
            <a:ext cx="310896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941831" y="1348031"/>
            <a:ext cx="3410713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Team Introduction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4928615" y="1234439"/>
            <a:ext cx="4069081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4928615" y="1234439"/>
            <a:ext cx="402337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4974335" y="1343082"/>
            <a:ext cx="310897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22" name="Google Shape;222;p24"/>
          <p:cNvSpPr txBox="1"/>
          <p:nvPr/>
        </p:nvSpPr>
        <p:spPr>
          <a:xfrm>
            <a:off x="5486400" y="1348031"/>
            <a:ext cx="3410712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384048" y="1819655"/>
            <a:ext cx="40690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384047" y="1819655"/>
            <a:ext cx="402338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429768" y="1928298"/>
            <a:ext cx="310896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941831" y="1933246"/>
            <a:ext cx="3410713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Team Objectives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4928615" y="1819655"/>
            <a:ext cx="4069081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4928615" y="1819655"/>
            <a:ext cx="402337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974335" y="1928298"/>
            <a:ext cx="310897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486400" y="1933246"/>
            <a:ext cx="3410712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Core Functionalities</a:t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384048" y="2404872"/>
            <a:ext cx="40690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384047" y="2404872"/>
            <a:ext cx="402338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429768" y="2513514"/>
            <a:ext cx="310896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941831" y="2518463"/>
            <a:ext cx="3410713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Pseudo Code</a:t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4928615" y="2404872"/>
            <a:ext cx="4069081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/>
          <p:nvPr/>
        </p:nvSpPr>
        <p:spPr>
          <a:xfrm>
            <a:off x="4928615" y="2404872"/>
            <a:ext cx="402337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4974335" y="2513514"/>
            <a:ext cx="310897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486400" y="2518463"/>
            <a:ext cx="3410712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OOP Class Design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384048" y="2990088"/>
            <a:ext cx="40690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384047" y="2990088"/>
            <a:ext cx="402338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429768" y="3098730"/>
            <a:ext cx="310896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941831" y="3103679"/>
            <a:ext cx="3410713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OOP Design Table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4928615" y="2990088"/>
            <a:ext cx="4069081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4928615" y="2990088"/>
            <a:ext cx="402337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974335" y="3098730"/>
            <a:ext cx="310897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486400" y="3103679"/>
            <a:ext cx="3410712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System Overview — IPO Diagram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384048" y="3575303"/>
            <a:ext cx="40690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84047" y="3575303"/>
            <a:ext cx="402338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429768" y="3683946"/>
            <a:ext cx="310896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941831" y="3688895"/>
            <a:ext cx="3410713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Implementation and Demo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4928615" y="3575303"/>
            <a:ext cx="4069081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928615" y="3575303"/>
            <a:ext cx="402337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4974335" y="3683946"/>
            <a:ext cx="310897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486400" y="3688895"/>
            <a:ext cx="3410712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Challenges and Solutions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384048" y="4160520"/>
            <a:ext cx="4069080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384047" y="4160520"/>
            <a:ext cx="402338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429768" y="4269162"/>
            <a:ext cx="310896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941831" y="4274111"/>
            <a:ext cx="3410713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4928615" y="4160520"/>
            <a:ext cx="4069081" cy="47548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4928615" y="4160520"/>
            <a:ext cx="402337" cy="475488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4974335" y="4269162"/>
            <a:ext cx="310897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486400" y="4274111"/>
            <a:ext cx="3410712" cy="24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Limitations and Future Work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271" name="Google Shape;2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14400" y="-91440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272" name="Google Shape;2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0664" y="-740664"/>
            <a:ext cx="1115568" cy="111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4663440"/>
            <a:ext cx="1280161" cy="128016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457200" y="182879"/>
            <a:ext cx="1371600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502919" y="182879"/>
            <a:ext cx="1280162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Meet the Team</a:t>
            </a:r>
            <a:endParaRPr/>
          </a:p>
        </p:txBody>
      </p:sp>
      <p:sp>
        <p:nvSpPr>
          <p:cNvPr id="312" name="Google Shape;312;p25"/>
          <p:cNvSpPr/>
          <p:nvPr/>
        </p:nvSpPr>
        <p:spPr>
          <a:xfrm>
            <a:off x="347471" y="1298448"/>
            <a:ext cx="2697482" cy="3364992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E8505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47471" y="1298447"/>
            <a:ext cx="2697482" cy="7315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1353311" y="1417319"/>
            <a:ext cx="694945" cy="694945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1399031" y="1572104"/>
            <a:ext cx="603505" cy="38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521207" y="2176272"/>
            <a:ext cx="2359154" cy="248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Joel Kamhazi</a:t>
            </a:r>
            <a:endParaRPr/>
          </a:p>
        </p:txBody>
      </p:sp>
      <p:sp>
        <p:nvSpPr>
          <p:cNvPr id="317" name="Google Shape;317;p25"/>
          <p:cNvSpPr txBox="1"/>
          <p:nvPr/>
        </p:nvSpPr>
        <p:spPr>
          <a:xfrm>
            <a:off x="521207" y="2578607"/>
            <a:ext cx="235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Systems Architect</a:t>
            </a:r>
            <a:r>
              <a:rPr b="0" i="1" lang="en" sz="9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 —</a:t>
            </a:r>
            <a:r>
              <a:rPr i="1"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 Design &amp; Integration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804672" y="2999232"/>
            <a:ext cx="1783079" cy="2743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576071" y="3090672"/>
            <a:ext cx="226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EF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Designed overall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 architecture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576071" y="3529584"/>
            <a:ext cx="22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EF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Defined program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 and structure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576071" y="3968496"/>
            <a:ext cx="226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EF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Led system integration and testing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3273552" y="1298448"/>
            <a:ext cx="2697481" cy="3364992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E8505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3273552" y="1298447"/>
            <a:ext cx="2697481" cy="7315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4279391" y="1417319"/>
            <a:ext cx="694945" cy="694945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4325111" y="1572104"/>
            <a:ext cx="603505" cy="38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26" name="Google Shape;326;p25"/>
          <p:cNvSpPr txBox="1"/>
          <p:nvPr/>
        </p:nvSpPr>
        <p:spPr>
          <a:xfrm>
            <a:off x="3447288" y="2176272"/>
            <a:ext cx="2359153" cy="248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Daniel Brightman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3447288" y="2578607"/>
            <a:ext cx="2359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Lead</a:t>
            </a:r>
            <a:r>
              <a:rPr b="0" i="1" lang="en" sz="9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 Developer — </a:t>
            </a:r>
            <a:r>
              <a:rPr i="1"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Implementation &amp; Code</a:t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3730752" y="2999232"/>
            <a:ext cx="1783080" cy="2743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3502152" y="3090672"/>
            <a:ext cx="226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EF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Implemented core C++ classes 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3502152" y="3569488"/>
            <a:ext cx="226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EF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Developed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 algorithms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3502152" y="3968496"/>
            <a:ext cx="226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DEF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Built simulation and </a:t>
            </a:r>
            <a:r>
              <a:rPr lang="en" sz="1000">
                <a:solidFill>
                  <a:srgbClr val="D0DEF0"/>
                </a:solidFill>
                <a:latin typeface="Calibri"/>
                <a:ea typeface="Calibri"/>
                <a:cs typeface="Calibri"/>
                <a:sym typeface="Calibri"/>
              </a:rPr>
              <a:t>debugging</a:t>
            </a:r>
            <a:endParaRPr/>
          </a:p>
        </p:txBody>
      </p:sp>
      <p:sp>
        <p:nvSpPr>
          <p:cNvPr id="332" name="Google Shape;332;p25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340" name="Google Shape;3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341" name="Google Shape;34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342" name="Google Shape;34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343" name="Google Shape;34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344" name="Google Shape;34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6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384047" y="182879"/>
            <a:ext cx="2048257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 txBox="1"/>
          <p:nvPr/>
        </p:nvSpPr>
        <p:spPr>
          <a:xfrm>
            <a:off x="429768" y="182879"/>
            <a:ext cx="1956817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457199" y="590149"/>
            <a:ext cx="8229601" cy="392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Project Overview — Elevator Scheduling Simulation</a:t>
            </a:r>
            <a:endParaRPr/>
          </a:p>
        </p:txBody>
      </p:sp>
      <p:sp>
        <p:nvSpPr>
          <p:cNvPr id="393" name="Google Shape;393;p26"/>
          <p:cNvSpPr/>
          <p:nvPr/>
        </p:nvSpPr>
        <p:spPr>
          <a:xfrm>
            <a:off x="384047" y="1207008"/>
            <a:ext cx="4114801" cy="34290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384047" y="1207008"/>
            <a:ext cx="4114801" cy="438912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923544" y="1297363"/>
            <a:ext cx="3401568" cy="25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594359" y="1737360"/>
            <a:ext cx="3730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Elevators in real buildings </a:t>
            </a: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must</a:t>
            </a: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respond efficiently to many floor requests. I</a:t>
            </a: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 requests are handled poorly, elevators waste time, travel unnecessarily, and increase wait time for users.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Our solution for this is a C++ simulation that models a building with multiple floors, one or more elevators, floor request queues, scheduling algorithms that decide visit order, and a simulation that moves elevators floor by floor. </a:t>
            </a:r>
            <a:endParaRPr/>
          </a:p>
        </p:txBody>
      </p:sp>
      <p:sp>
        <p:nvSpPr>
          <p:cNvPr id="397" name="Google Shape;397;p26"/>
          <p:cNvSpPr/>
          <p:nvPr/>
        </p:nvSpPr>
        <p:spPr>
          <a:xfrm>
            <a:off x="4681728" y="1207008"/>
            <a:ext cx="4114801" cy="34290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4681728" y="1207008"/>
            <a:ext cx="4114801" cy="438912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5221223" y="1297363"/>
            <a:ext cx="3401569" cy="25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Simulate?</a:t>
            </a:r>
            <a:endParaRPr/>
          </a:p>
        </p:txBody>
      </p:sp>
      <p:sp>
        <p:nvSpPr>
          <p:cNvPr id="400" name="Google Shape;400;p26"/>
          <p:cNvSpPr txBox="1"/>
          <p:nvPr/>
        </p:nvSpPr>
        <p:spPr>
          <a:xfrm>
            <a:off x="4864608" y="1737359"/>
            <a:ext cx="3749040" cy="225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Real elevators are expensive and difficult to test physically</a:t>
            </a:r>
            <a:endParaRPr/>
          </a:p>
        </p:txBody>
      </p:sp>
      <p:sp>
        <p:nvSpPr>
          <p:cNvPr id="401" name="Google Shape;401;p26"/>
          <p:cNvSpPr txBox="1"/>
          <p:nvPr/>
        </p:nvSpPr>
        <p:spPr>
          <a:xfrm>
            <a:off x="4873752" y="2240279"/>
            <a:ext cx="374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Simulation</a:t>
            </a: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helps compare </a:t>
            </a: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scheduling methods safely</a:t>
            </a:r>
            <a:endParaRPr/>
          </a:p>
        </p:txBody>
      </p:sp>
      <p:sp>
        <p:nvSpPr>
          <p:cNvPr id="402" name="Google Shape;402;p26"/>
          <p:cNvSpPr txBox="1"/>
          <p:nvPr/>
        </p:nvSpPr>
        <p:spPr>
          <a:xfrm>
            <a:off x="4873752" y="2743200"/>
            <a:ext cx="374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 allows us to study efficiency and behavior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4873752" y="3246120"/>
            <a:ext cx="3749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" sz="11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 applies real engineering and computer science concepts </a:t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406" name="Google Shape;406;p26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412" name="Google Shape;4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413" name="Google Shape;41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414" name="Google Shape;41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415" name="Google Shape;41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416" name="Google Shape;41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7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7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7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7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7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7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7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7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7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7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7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7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7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7"/>
          <p:cNvSpPr/>
          <p:nvPr/>
        </p:nvSpPr>
        <p:spPr>
          <a:xfrm>
            <a:off x="384047" y="182879"/>
            <a:ext cx="1943101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7"/>
          <p:cNvSpPr txBox="1"/>
          <p:nvPr/>
        </p:nvSpPr>
        <p:spPr>
          <a:xfrm>
            <a:off x="429768" y="182879"/>
            <a:ext cx="185166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OBJECTIVES</a:t>
            </a:r>
            <a:endParaRPr/>
          </a:p>
        </p:txBody>
      </p:sp>
      <p:sp>
        <p:nvSpPr>
          <p:cNvPr id="464" name="Google Shape;464;p27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Team Objectives</a:t>
            </a:r>
            <a:endParaRPr/>
          </a:p>
        </p:txBody>
      </p:sp>
      <p:sp>
        <p:nvSpPr>
          <p:cNvPr id="465" name="Google Shape;465;p27"/>
          <p:cNvSpPr/>
          <p:nvPr/>
        </p:nvSpPr>
        <p:spPr>
          <a:xfrm>
            <a:off x="384048" y="1234439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384047" y="1234439"/>
            <a:ext cx="475489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 txBox="1"/>
          <p:nvPr/>
        </p:nvSpPr>
        <p:spPr>
          <a:xfrm>
            <a:off x="429768" y="1644834"/>
            <a:ext cx="384048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996695" y="1325880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Build a Working C++ Elevator</a:t>
            </a:r>
            <a:r>
              <a:rPr b="1" lang="en" sz="11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11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Simulator</a:t>
            </a:r>
            <a:endParaRPr/>
          </a:p>
        </p:txBody>
      </p:sp>
      <p:sp>
        <p:nvSpPr>
          <p:cNvPr id="469" name="Google Shape;469;p27"/>
          <p:cNvSpPr txBox="1"/>
          <p:nvPr/>
        </p:nvSpPr>
        <p:spPr>
          <a:xfrm>
            <a:off x="996695" y="1655064"/>
            <a:ext cx="3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Create a program that models a building, elevators, requests, and elevator movement.</a:t>
            </a:r>
            <a:endParaRPr/>
          </a:p>
        </p:txBody>
      </p:sp>
      <p:sp>
        <p:nvSpPr>
          <p:cNvPr id="470" name="Google Shape;470;p27"/>
          <p:cNvSpPr/>
          <p:nvPr/>
        </p:nvSpPr>
        <p:spPr>
          <a:xfrm>
            <a:off x="4818888" y="1234439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4818888" y="1234439"/>
            <a:ext cx="475488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7"/>
          <p:cNvSpPr txBox="1"/>
          <p:nvPr/>
        </p:nvSpPr>
        <p:spPr>
          <a:xfrm>
            <a:off x="4864608" y="1644834"/>
            <a:ext cx="384048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5431535" y="1325880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Apply </a:t>
            </a:r>
            <a:r>
              <a:rPr b="1" lang="en" sz="11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Object-Oriented Programming</a:t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5431535" y="1655064"/>
            <a:ext cx="3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multiple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classes with clear responsibilities, including building, elevator scheduler, and simulation. </a:t>
            </a:r>
            <a:endParaRPr/>
          </a:p>
        </p:txBody>
      </p:sp>
      <p:sp>
        <p:nvSpPr>
          <p:cNvPr id="475" name="Google Shape;475;p27"/>
          <p:cNvSpPr/>
          <p:nvPr/>
        </p:nvSpPr>
        <p:spPr>
          <a:xfrm>
            <a:off x="384048" y="2423160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384047" y="2423160"/>
            <a:ext cx="475489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429768" y="2833555"/>
            <a:ext cx="384048" cy="25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996695" y="2514600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Implement Scheduling Algorithms</a:t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996695" y="2843783"/>
            <a:ext cx="3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Support FCFS, SSTF, and SCAN to compare different request-handling strategies. </a:t>
            </a:r>
            <a:endParaRPr/>
          </a:p>
        </p:txBody>
      </p:sp>
      <p:sp>
        <p:nvSpPr>
          <p:cNvPr id="480" name="Google Shape;480;p27"/>
          <p:cNvSpPr/>
          <p:nvPr/>
        </p:nvSpPr>
        <p:spPr>
          <a:xfrm>
            <a:off x="4818888" y="2423160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7"/>
          <p:cNvSpPr/>
          <p:nvPr/>
        </p:nvSpPr>
        <p:spPr>
          <a:xfrm>
            <a:off x="4818888" y="2423160"/>
            <a:ext cx="475488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7"/>
          <p:cNvSpPr txBox="1"/>
          <p:nvPr/>
        </p:nvSpPr>
        <p:spPr>
          <a:xfrm>
            <a:off x="4864608" y="2833555"/>
            <a:ext cx="384048" cy="25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483" name="Google Shape;483;p27"/>
          <p:cNvSpPr txBox="1"/>
          <p:nvPr/>
        </p:nvSpPr>
        <p:spPr>
          <a:xfrm>
            <a:off x="5431535" y="2514600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Simulate Elevator Movement</a:t>
            </a:r>
            <a:endParaRPr/>
          </a:p>
        </p:txBody>
      </p:sp>
      <p:sp>
        <p:nvSpPr>
          <p:cNvPr id="484" name="Google Shape;484;p27"/>
          <p:cNvSpPr txBox="1"/>
          <p:nvPr/>
        </p:nvSpPr>
        <p:spPr>
          <a:xfrm>
            <a:off x="5431535" y="2843783"/>
            <a:ext cx="34746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Show how elevators move from floor to floor based on calculated paths.</a:t>
            </a:r>
            <a:endParaRPr/>
          </a:p>
        </p:txBody>
      </p:sp>
      <p:sp>
        <p:nvSpPr>
          <p:cNvPr id="485" name="Google Shape;485;p27"/>
          <p:cNvSpPr/>
          <p:nvPr/>
        </p:nvSpPr>
        <p:spPr>
          <a:xfrm>
            <a:off x="384048" y="3611879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384047" y="3611879"/>
            <a:ext cx="475489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7"/>
          <p:cNvSpPr txBox="1"/>
          <p:nvPr/>
        </p:nvSpPr>
        <p:spPr>
          <a:xfrm>
            <a:off x="429768" y="4022275"/>
            <a:ext cx="384048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488" name="Google Shape;488;p27"/>
          <p:cNvSpPr txBox="1"/>
          <p:nvPr/>
        </p:nvSpPr>
        <p:spPr>
          <a:xfrm>
            <a:off x="996695" y="3703320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Validate Input and Output Results</a:t>
            </a:r>
            <a:endParaRPr/>
          </a:p>
        </p:txBody>
      </p:sp>
      <p:sp>
        <p:nvSpPr>
          <p:cNvPr id="489" name="Google Shape;489;p27"/>
          <p:cNvSpPr txBox="1"/>
          <p:nvPr/>
        </p:nvSpPr>
        <p:spPr>
          <a:xfrm>
            <a:off x="996695" y="4032503"/>
            <a:ext cx="3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Handle invalid input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safely and print useful status information before and after scheduling. </a:t>
            </a:r>
            <a:endParaRPr/>
          </a:p>
        </p:txBody>
      </p:sp>
      <p:sp>
        <p:nvSpPr>
          <p:cNvPr id="490" name="Google Shape;490;p27"/>
          <p:cNvSpPr/>
          <p:nvPr/>
        </p:nvSpPr>
        <p:spPr>
          <a:xfrm>
            <a:off x="4818888" y="3611879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7"/>
          <p:cNvSpPr/>
          <p:nvPr/>
        </p:nvSpPr>
        <p:spPr>
          <a:xfrm>
            <a:off x="4818888" y="3611879"/>
            <a:ext cx="475488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 txBox="1"/>
          <p:nvPr/>
        </p:nvSpPr>
        <p:spPr>
          <a:xfrm>
            <a:off x="4864608" y="4022275"/>
            <a:ext cx="384048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493" name="Google Shape;493;p27"/>
          <p:cNvSpPr txBox="1"/>
          <p:nvPr/>
        </p:nvSpPr>
        <p:spPr>
          <a:xfrm>
            <a:off x="5431535" y="3703320"/>
            <a:ext cx="3474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Practice Team Collaboration 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5431535" y="4032503"/>
            <a:ext cx="347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Organize project responsibilities, combine code, and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prepare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 complete final presentation. </a:t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497" name="Google Shape;497;p27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503" name="Google Shape;50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504" name="Google Shape;50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505" name="Google Shape;5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506" name="Google Shape;50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507" name="Google Shape;50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8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8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8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8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8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8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8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8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8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8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8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384047" y="182879"/>
            <a:ext cx="1943101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429768" y="182879"/>
            <a:ext cx="185166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FUNCTIONALITIES</a:t>
            </a:r>
            <a:endParaRPr/>
          </a:p>
        </p:txBody>
      </p:sp>
      <p:sp>
        <p:nvSpPr>
          <p:cNvPr id="555" name="Google Shape;555;p28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Core Functionalities</a:t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384048" y="1261872"/>
            <a:ext cx="4251960" cy="164592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384048" y="1261872"/>
            <a:ext cx="4251960" cy="420624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 txBox="1"/>
          <p:nvPr/>
        </p:nvSpPr>
        <p:spPr>
          <a:xfrm>
            <a:off x="539495" y="1331784"/>
            <a:ext cx="274322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F1</a:t>
            </a:r>
            <a:endParaRPr/>
          </a:p>
        </p:txBody>
      </p:sp>
      <p:sp>
        <p:nvSpPr>
          <p:cNvPr id="559" name="Google Shape;559;p28"/>
          <p:cNvSpPr txBox="1"/>
          <p:nvPr/>
        </p:nvSpPr>
        <p:spPr>
          <a:xfrm>
            <a:off x="941832" y="1343083"/>
            <a:ext cx="352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Floor Request Input &amp; Validation</a:t>
            </a:r>
            <a:endParaRPr/>
          </a:p>
        </p:txBody>
      </p:sp>
      <p:sp>
        <p:nvSpPr>
          <p:cNvPr id="560" name="Google Shape;560;p28"/>
          <p:cNvSpPr txBox="1"/>
          <p:nvPr/>
        </p:nvSpPr>
        <p:spPr>
          <a:xfrm>
            <a:off x="594359" y="1737360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Computes the order floors should be visited using FCFS, SSTF, or SCAN depending on the selected algorithm.</a:t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548640" y="2450590"/>
            <a:ext cx="1828801" cy="329185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 txBox="1"/>
          <p:nvPr/>
        </p:nvSpPr>
        <p:spPr>
          <a:xfrm>
            <a:off x="608135" y="2433489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IN: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Elevator ID, requested floor number</a:t>
            </a:r>
            <a:endParaRPr/>
          </a:p>
        </p:txBody>
      </p:sp>
      <p:sp>
        <p:nvSpPr>
          <p:cNvPr id="563" name="Google Shape;563;p28"/>
          <p:cNvSpPr/>
          <p:nvPr/>
        </p:nvSpPr>
        <p:spPr>
          <a:xfrm>
            <a:off x="2505455" y="2450590"/>
            <a:ext cx="1975106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606040" y="2442376"/>
            <a:ext cx="182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OUT: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Updated queue or error message</a:t>
            </a:r>
            <a:endParaRPr/>
          </a:p>
        </p:txBody>
      </p:sp>
      <p:sp>
        <p:nvSpPr>
          <p:cNvPr id="565" name="Google Shape;565;p28"/>
          <p:cNvSpPr/>
          <p:nvPr/>
        </p:nvSpPr>
        <p:spPr>
          <a:xfrm>
            <a:off x="4818888" y="1261872"/>
            <a:ext cx="4251960" cy="164592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4818888" y="1261872"/>
            <a:ext cx="4251960" cy="420624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 txBox="1"/>
          <p:nvPr/>
        </p:nvSpPr>
        <p:spPr>
          <a:xfrm>
            <a:off x="4974335" y="1331784"/>
            <a:ext cx="274321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F2</a:t>
            </a:r>
            <a:endParaRPr/>
          </a:p>
        </p:txBody>
      </p:sp>
      <p:sp>
        <p:nvSpPr>
          <p:cNvPr id="568" name="Google Shape;568;p28"/>
          <p:cNvSpPr txBox="1"/>
          <p:nvPr/>
        </p:nvSpPr>
        <p:spPr>
          <a:xfrm>
            <a:off x="5376672" y="1343083"/>
            <a:ext cx="352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Elevator Assignment</a:t>
            </a:r>
            <a:endParaRPr/>
          </a:p>
        </p:txBody>
      </p:sp>
      <p:sp>
        <p:nvSpPr>
          <p:cNvPr id="569" name="Google Shape;569;p28"/>
          <p:cNvSpPr txBox="1"/>
          <p:nvPr/>
        </p:nvSpPr>
        <p:spPr>
          <a:xfrm>
            <a:off x="5029199" y="1737360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Chooses the closest elevator to a newly requested floor by comparing each elevator’s current position.</a:t>
            </a:r>
            <a:endParaRPr/>
          </a:p>
        </p:txBody>
      </p:sp>
      <p:sp>
        <p:nvSpPr>
          <p:cNvPr id="570" name="Google Shape;570;p28"/>
          <p:cNvSpPr/>
          <p:nvPr/>
        </p:nvSpPr>
        <p:spPr>
          <a:xfrm>
            <a:off x="4983479" y="2450590"/>
            <a:ext cx="1828801" cy="329185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5084064" y="2442376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IN: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Requested floor, all elevator positions</a:t>
            </a:r>
            <a:endParaRPr/>
          </a:p>
        </p:txBody>
      </p:sp>
      <p:sp>
        <p:nvSpPr>
          <p:cNvPr id="572" name="Google Shape;572;p28"/>
          <p:cNvSpPr/>
          <p:nvPr/>
        </p:nvSpPr>
        <p:spPr>
          <a:xfrm>
            <a:off x="6940295" y="2450590"/>
            <a:ext cx="1975105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 txBox="1"/>
          <p:nvPr/>
        </p:nvSpPr>
        <p:spPr>
          <a:xfrm>
            <a:off x="7040878" y="2512226"/>
            <a:ext cx="182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OUT: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Assigned elevator ID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384048" y="3017520"/>
            <a:ext cx="4251960" cy="164592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384048" y="3017520"/>
            <a:ext cx="4251960" cy="420625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 txBox="1"/>
          <p:nvPr/>
        </p:nvSpPr>
        <p:spPr>
          <a:xfrm>
            <a:off x="539495" y="3087432"/>
            <a:ext cx="274322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F3</a:t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941832" y="3098731"/>
            <a:ext cx="352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Path Scheduling</a:t>
            </a:r>
            <a:endParaRPr/>
          </a:p>
        </p:txBody>
      </p:sp>
      <p:sp>
        <p:nvSpPr>
          <p:cNvPr id="578" name="Google Shape;578;p28"/>
          <p:cNvSpPr txBox="1"/>
          <p:nvPr/>
        </p:nvSpPr>
        <p:spPr>
          <a:xfrm>
            <a:off x="594359" y="3493008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Computes the order floors should be visited using FCFS, SSTF, or SCAN depending on the selected algorithm.</a:t>
            </a:r>
            <a:endParaRPr/>
          </a:p>
        </p:txBody>
      </p:sp>
      <p:sp>
        <p:nvSpPr>
          <p:cNvPr id="579" name="Google Shape;579;p28"/>
          <p:cNvSpPr/>
          <p:nvPr/>
        </p:nvSpPr>
        <p:spPr>
          <a:xfrm>
            <a:off x="548640" y="4206240"/>
            <a:ext cx="1828801" cy="329185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8"/>
          <p:cNvSpPr txBox="1"/>
          <p:nvPr/>
        </p:nvSpPr>
        <p:spPr>
          <a:xfrm>
            <a:off x="620935" y="4203400"/>
            <a:ext cx="164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IN: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Request queue, current floor, algorithm choice</a:t>
            </a: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2505455" y="4206240"/>
            <a:ext cx="1975106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 txBox="1"/>
          <p:nvPr/>
        </p:nvSpPr>
        <p:spPr>
          <a:xfrm>
            <a:off x="2606040" y="4198025"/>
            <a:ext cx="1828801" cy="345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OUT: </a:t>
            </a:r>
            <a:r>
              <a:rPr b="0" i="0" lang="en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Queue length over time, departures</a:t>
            </a:r>
            <a:endParaRPr/>
          </a:p>
        </p:txBody>
      </p:sp>
      <p:sp>
        <p:nvSpPr>
          <p:cNvPr id="583" name="Google Shape;583;p28"/>
          <p:cNvSpPr/>
          <p:nvPr/>
        </p:nvSpPr>
        <p:spPr>
          <a:xfrm>
            <a:off x="4818888" y="3017520"/>
            <a:ext cx="4251960" cy="164592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8"/>
          <p:cNvSpPr/>
          <p:nvPr/>
        </p:nvSpPr>
        <p:spPr>
          <a:xfrm>
            <a:off x="4818888" y="3017520"/>
            <a:ext cx="4251960" cy="420625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4974335" y="3087432"/>
            <a:ext cx="274321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F4</a:t>
            </a:r>
            <a:endParaRPr/>
          </a:p>
        </p:txBody>
      </p:sp>
      <p:sp>
        <p:nvSpPr>
          <p:cNvPr id="586" name="Google Shape;586;p28"/>
          <p:cNvSpPr txBox="1"/>
          <p:nvPr/>
        </p:nvSpPr>
        <p:spPr>
          <a:xfrm>
            <a:off x="5376672" y="3098731"/>
            <a:ext cx="352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 &amp; Status Reporting</a:t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5029199" y="3493008"/>
            <a:ext cx="38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Moves each elevator floor by floor through its path, prints each step, and shows the final status summary.</a:t>
            </a:r>
            <a:endParaRPr/>
          </a:p>
        </p:txBody>
      </p:sp>
      <p:sp>
        <p:nvSpPr>
          <p:cNvPr id="588" name="Google Shape;588;p28"/>
          <p:cNvSpPr/>
          <p:nvPr/>
        </p:nvSpPr>
        <p:spPr>
          <a:xfrm>
            <a:off x="4983479" y="4206240"/>
            <a:ext cx="1828801" cy="329185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 txBox="1"/>
          <p:nvPr/>
        </p:nvSpPr>
        <p:spPr>
          <a:xfrm>
            <a:off x="5084064" y="4267875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IN:</a:t>
            </a: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Elevator path, starting floor</a:t>
            </a:r>
            <a:endParaRPr/>
          </a:p>
        </p:txBody>
      </p:sp>
      <p:sp>
        <p:nvSpPr>
          <p:cNvPr id="590" name="Google Shape;590;p28"/>
          <p:cNvSpPr/>
          <p:nvPr/>
        </p:nvSpPr>
        <p:spPr>
          <a:xfrm>
            <a:off x="6940295" y="4206240"/>
            <a:ext cx="1975105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 txBox="1"/>
          <p:nvPr/>
        </p:nvSpPr>
        <p:spPr>
          <a:xfrm>
            <a:off x="7040878" y="4199025"/>
            <a:ext cx="1828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OUT: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Step-by-step movement log + final elevator status</a:t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8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8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600" name="Google Shape;6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14400" y="-91440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601" name="Google Shape;60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0664" y="-740664"/>
            <a:ext cx="1115568" cy="111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602" name="Google Shape;60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4663440"/>
            <a:ext cx="1280161" cy="1280161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29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9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9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9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9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9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9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9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9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9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9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9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9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9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9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9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9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457200" y="182879"/>
            <a:ext cx="1522476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 txBox="1"/>
          <p:nvPr/>
        </p:nvSpPr>
        <p:spPr>
          <a:xfrm>
            <a:off x="502919" y="182879"/>
            <a:ext cx="1431038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PSEUDO CODE</a:t>
            </a:r>
            <a:endParaRPr/>
          </a:p>
        </p:txBody>
      </p:sp>
      <p:sp>
        <p:nvSpPr>
          <p:cNvPr id="640" name="Google Shape;640;p29"/>
          <p:cNvSpPr txBox="1"/>
          <p:nvPr/>
        </p:nvSpPr>
        <p:spPr>
          <a:xfrm>
            <a:off x="457199" y="567552"/>
            <a:ext cx="8229601" cy="437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 Pseudo Code — Core Algorithm</a:t>
            </a:r>
            <a:endParaRPr/>
          </a:p>
        </p:txBody>
      </p:sp>
      <p:sp>
        <p:nvSpPr>
          <p:cNvPr id="641" name="Google Shape;641;p29"/>
          <p:cNvSpPr/>
          <p:nvPr/>
        </p:nvSpPr>
        <p:spPr>
          <a:xfrm>
            <a:off x="347471" y="1170431"/>
            <a:ext cx="5047490" cy="3493010"/>
          </a:xfrm>
          <a:prstGeom prst="rect">
            <a:avLst/>
          </a:prstGeom>
          <a:solidFill>
            <a:srgbClr val="050F1E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347471" y="1170432"/>
            <a:ext cx="5047490" cy="34747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9"/>
          <p:cNvSpPr txBox="1"/>
          <p:nvPr/>
        </p:nvSpPr>
        <p:spPr>
          <a:xfrm>
            <a:off x="502919" y="1229912"/>
            <a:ext cx="4736593" cy="228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MAIN SIMULATION LOOP</a:t>
            </a:r>
            <a:endParaRPr/>
          </a:p>
        </p:txBody>
      </p:sp>
      <p:sp>
        <p:nvSpPr>
          <p:cNvPr id="644" name="Google Shape;644;p29"/>
          <p:cNvSpPr txBox="1"/>
          <p:nvPr/>
        </p:nvSpPr>
        <p:spPr>
          <a:xfrm>
            <a:off x="502856" y="1517892"/>
            <a:ext cx="4736700" cy="32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ElevatorSystem</a:t>
            </a:r>
            <a:endParaRPr sz="9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floors, elevators, requests, algorithm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CREATE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building and elevators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each request: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   assign request to best elevator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END FOR</a:t>
            </a:r>
            <a:endParaRPr sz="900">
              <a:solidFill>
                <a:schemeClr val="accent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each elevator: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   get queue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   compute path using selected algorithm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   run floor-by-floor simulation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   clear queue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END FOR</a:t>
            </a:r>
            <a:endParaRPr sz="900">
              <a:solidFill>
                <a:schemeClr val="accent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RINT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movement log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900">
                <a:solidFill>
                  <a:srgbClr val="AABBD0"/>
                </a:solidFill>
                <a:latin typeface="Consolas"/>
                <a:ea typeface="Consolas"/>
                <a:cs typeface="Consolas"/>
                <a:sym typeface="Consolas"/>
              </a:rPr>
              <a:t> final elevator status</a:t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ABBD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END PROGRAM</a:t>
            </a:r>
            <a:endParaRPr sz="9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98C379"/>
              </a:buClr>
              <a:buSzPts val="1000"/>
              <a:buFont typeface="Consolas"/>
              <a:buNone/>
            </a:pPr>
            <a:r>
              <a:t/>
            </a:r>
            <a:endParaRPr sz="900">
              <a:solidFill>
                <a:srgbClr val="98C37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5" name="Google Shape;645;p29"/>
          <p:cNvSpPr/>
          <p:nvPr/>
        </p:nvSpPr>
        <p:spPr>
          <a:xfrm>
            <a:off x="5577840" y="1170432"/>
            <a:ext cx="3337560" cy="1600201"/>
          </a:xfrm>
          <a:prstGeom prst="rect">
            <a:avLst/>
          </a:prstGeom>
          <a:solidFill>
            <a:srgbClr val="050F1E"/>
          </a:solidFill>
          <a:ln cap="flat" cmpd="sng" w="95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9"/>
          <p:cNvSpPr/>
          <p:nvPr/>
        </p:nvSpPr>
        <p:spPr>
          <a:xfrm>
            <a:off x="5577840" y="1170432"/>
            <a:ext cx="3337560" cy="320041"/>
          </a:xfrm>
          <a:prstGeom prst="rect">
            <a:avLst/>
          </a:prstGeom>
          <a:solidFill>
            <a:srgbClr val="1A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9"/>
          <p:cNvSpPr txBox="1"/>
          <p:nvPr/>
        </p:nvSpPr>
        <p:spPr>
          <a:xfrm>
            <a:off x="5733288" y="1214882"/>
            <a:ext cx="3035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>
              <a:rPr b="1" lang="en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assignBestElevator(requestedFloor)</a:t>
            </a:r>
            <a:endParaRPr/>
          </a:p>
        </p:txBody>
      </p:sp>
      <p:sp>
        <p:nvSpPr>
          <p:cNvPr id="648" name="Google Shape;648;p29"/>
          <p:cNvSpPr txBox="1"/>
          <p:nvPr/>
        </p:nvSpPr>
        <p:spPr>
          <a:xfrm>
            <a:off x="5733338" y="1477591"/>
            <a:ext cx="3035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FOR each elevator: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distance = abs(currentFloor - requestedFloor)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IF distance &lt; minDistance: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minDistance = distance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      bestID = elevatorID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RETURN bestID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9" name="Google Shape;649;p29"/>
          <p:cNvSpPr/>
          <p:nvPr/>
        </p:nvSpPr>
        <p:spPr>
          <a:xfrm>
            <a:off x="5577840" y="2907792"/>
            <a:ext cx="3337560" cy="1755648"/>
          </a:xfrm>
          <a:prstGeom prst="rect">
            <a:avLst/>
          </a:prstGeom>
          <a:solidFill>
            <a:srgbClr val="050F1E"/>
          </a:solidFill>
          <a:ln cap="flat" cmpd="sng" w="95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9"/>
          <p:cNvSpPr/>
          <p:nvPr/>
        </p:nvSpPr>
        <p:spPr>
          <a:xfrm>
            <a:off x="5577840" y="2907792"/>
            <a:ext cx="3337560" cy="320041"/>
          </a:xfrm>
          <a:prstGeom prst="rect">
            <a:avLst/>
          </a:prstGeom>
          <a:solidFill>
            <a:srgbClr val="1A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 txBox="1"/>
          <p:nvPr/>
        </p:nvSpPr>
        <p:spPr>
          <a:xfrm>
            <a:off x="5733288" y="2952242"/>
            <a:ext cx="3035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FUNCTION </a:t>
            </a:r>
            <a:r>
              <a:rPr b="1" lang="en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getOptimalPath(queue)</a:t>
            </a:r>
            <a:endParaRPr/>
          </a:p>
        </p:txBody>
      </p:sp>
      <p:sp>
        <p:nvSpPr>
          <p:cNvPr id="652" name="Google Shape;652;p29"/>
          <p:cNvSpPr txBox="1"/>
          <p:nvPr/>
        </p:nvSpPr>
        <p:spPr>
          <a:xfrm>
            <a:off x="5733288" y="3273552"/>
            <a:ext cx="3035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IF FCFS: return queue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IF SSTF: return nearest-floor-first order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IF SCAN: return sweep order</a:t>
            </a:r>
            <a:endParaRPr sz="90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3" name="Google Shape;653;p29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655" name="Google Shape;655;p29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661" name="Google Shape;6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662" name="Google Shape;6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663" name="Google Shape;66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664" name="Google Shape;664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665" name="Google Shape;66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30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0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0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0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0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0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0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0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0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0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0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0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0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0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0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0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0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0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384047" y="182879"/>
            <a:ext cx="1417321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 txBox="1"/>
          <p:nvPr/>
        </p:nvSpPr>
        <p:spPr>
          <a:xfrm>
            <a:off x="429768" y="182879"/>
            <a:ext cx="132588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 DESIGN</a:t>
            </a:r>
            <a:endParaRPr/>
          </a:p>
        </p:txBody>
      </p:sp>
      <p:sp>
        <p:nvSpPr>
          <p:cNvPr id="713" name="Google Shape;713;p30"/>
          <p:cNvSpPr txBox="1"/>
          <p:nvPr/>
        </p:nvSpPr>
        <p:spPr>
          <a:xfrm>
            <a:off x="457199" y="564005"/>
            <a:ext cx="8229601" cy="44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OOP Design — Class Architecture</a:t>
            </a:r>
            <a:endParaRPr/>
          </a:p>
        </p:txBody>
      </p:sp>
      <p:sp>
        <p:nvSpPr>
          <p:cNvPr id="714" name="Google Shape;714;p30"/>
          <p:cNvSpPr/>
          <p:nvPr/>
        </p:nvSpPr>
        <p:spPr>
          <a:xfrm>
            <a:off x="384048" y="1207007"/>
            <a:ext cx="2030100" cy="3492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384048" y="1207008"/>
            <a:ext cx="2029968" cy="402337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0"/>
          <p:cNvSpPr txBox="1"/>
          <p:nvPr/>
        </p:nvSpPr>
        <p:spPr>
          <a:xfrm>
            <a:off x="539496" y="1273555"/>
            <a:ext cx="171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Elevator</a:t>
            </a:r>
            <a:endParaRPr/>
          </a:p>
        </p:txBody>
      </p:sp>
      <p:sp>
        <p:nvSpPr>
          <p:cNvPr id="717" name="Google Shape;717;p30"/>
          <p:cNvSpPr txBox="1"/>
          <p:nvPr/>
        </p:nvSpPr>
        <p:spPr>
          <a:xfrm>
            <a:off x="539496" y="1645920"/>
            <a:ext cx="1719073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Attributes —</a:t>
            </a:r>
            <a:endParaRPr/>
          </a:p>
        </p:txBody>
      </p:sp>
      <p:sp>
        <p:nvSpPr>
          <p:cNvPr id="718" name="Google Shape;718;p30"/>
          <p:cNvSpPr/>
          <p:nvPr/>
        </p:nvSpPr>
        <p:spPr>
          <a:xfrm>
            <a:off x="493776" y="1883664"/>
            <a:ext cx="1810512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 txBox="1"/>
          <p:nvPr/>
        </p:nvSpPr>
        <p:spPr>
          <a:xfrm>
            <a:off x="576072" y="1920239"/>
            <a:ext cx="16824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id : int</a:t>
            </a:r>
            <a:endParaRPr b="0" i="0" sz="800" u="none" cap="none" strike="noStrike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elevatorID : int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currentFloor : int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direction : string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requestQueue : vector&lt;int&gt;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nsolas"/>
              <a:buNone/>
            </a:pPr>
            <a:r>
              <a:t/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493776" y="2907792"/>
            <a:ext cx="1810512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0"/>
          <p:cNvSpPr txBox="1"/>
          <p:nvPr/>
        </p:nvSpPr>
        <p:spPr>
          <a:xfrm>
            <a:off x="539496" y="2944367"/>
            <a:ext cx="1719073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Methods —</a:t>
            </a:r>
            <a:endParaRPr/>
          </a:p>
        </p:txBody>
      </p:sp>
      <p:sp>
        <p:nvSpPr>
          <p:cNvPr id="722" name="Google Shape;722;p30"/>
          <p:cNvSpPr txBox="1"/>
          <p:nvPr/>
        </p:nvSpPr>
        <p:spPr>
          <a:xfrm>
            <a:off x="466313" y="3090988"/>
            <a:ext cx="1902000" cy="15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Elevator(int, int)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addRequest(int)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clearRequests()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setCurrentFloor(int)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setDirection(string)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getElevatorID() : int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getCurrentFloor() : int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getDirection() : string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getQueue() : vector&lt;int&gt;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displayStatus()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2578607" y="1207007"/>
            <a:ext cx="2029969" cy="34930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2578607" y="1207008"/>
            <a:ext cx="2029969" cy="402337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0"/>
          <p:cNvSpPr txBox="1"/>
          <p:nvPr/>
        </p:nvSpPr>
        <p:spPr>
          <a:xfrm>
            <a:off x="2734055" y="1273555"/>
            <a:ext cx="171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Scheduler</a:t>
            </a:r>
            <a:endParaRPr/>
          </a:p>
        </p:txBody>
      </p:sp>
      <p:sp>
        <p:nvSpPr>
          <p:cNvPr id="726" name="Google Shape;726;p30"/>
          <p:cNvSpPr txBox="1"/>
          <p:nvPr/>
        </p:nvSpPr>
        <p:spPr>
          <a:xfrm>
            <a:off x="2734055" y="1645920"/>
            <a:ext cx="1719073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Attributes —</a:t>
            </a:r>
            <a:endParaRPr/>
          </a:p>
        </p:txBody>
      </p:sp>
      <p:sp>
        <p:nvSpPr>
          <p:cNvPr id="727" name="Google Shape;727;p30"/>
          <p:cNvSpPr/>
          <p:nvPr/>
        </p:nvSpPr>
        <p:spPr>
          <a:xfrm>
            <a:off x="2688335" y="1883664"/>
            <a:ext cx="1810513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0"/>
          <p:cNvSpPr txBox="1"/>
          <p:nvPr/>
        </p:nvSpPr>
        <p:spPr>
          <a:xfrm>
            <a:off x="2770632" y="1920239"/>
            <a:ext cx="168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nsolas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algorithmType : string</a:t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>
            <a:off x="2688335" y="2907792"/>
            <a:ext cx="1810513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0"/>
          <p:cNvSpPr txBox="1"/>
          <p:nvPr/>
        </p:nvSpPr>
        <p:spPr>
          <a:xfrm>
            <a:off x="2734055" y="2944367"/>
            <a:ext cx="1719073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Methods —</a:t>
            </a:r>
            <a:endParaRPr/>
          </a:p>
        </p:txBody>
      </p:sp>
      <p:sp>
        <p:nvSpPr>
          <p:cNvPr id="731" name="Google Shape;731;p30"/>
          <p:cNvSpPr txBox="1"/>
          <p:nvPr/>
        </p:nvSpPr>
        <p:spPr>
          <a:xfrm>
            <a:off x="2615363" y="3047125"/>
            <a:ext cx="1956600" cy="1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Scheduler(string)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setAlgorithm(string)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getAlgorithm() : string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computeFCFS(...) : vector&lt;int&gt;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computeSSTF(...) : vector&lt;int&gt;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computeSCAN(...) : vector&lt;int&gt;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getOptimalPath(...) : vector&lt;int&gt;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onsolas"/>
              <a:buNone/>
            </a:pPr>
            <a:r>
              <a:t/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p30"/>
          <p:cNvSpPr/>
          <p:nvPr/>
        </p:nvSpPr>
        <p:spPr>
          <a:xfrm>
            <a:off x="4773167" y="1207007"/>
            <a:ext cx="2029969" cy="34930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0"/>
          <p:cNvSpPr/>
          <p:nvPr/>
        </p:nvSpPr>
        <p:spPr>
          <a:xfrm>
            <a:off x="4773167" y="1207008"/>
            <a:ext cx="2029969" cy="402337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0"/>
          <p:cNvSpPr txBox="1"/>
          <p:nvPr/>
        </p:nvSpPr>
        <p:spPr>
          <a:xfrm>
            <a:off x="4928616" y="1273555"/>
            <a:ext cx="171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Building</a:t>
            </a:r>
            <a:endParaRPr/>
          </a:p>
        </p:txBody>
      </p:sp>
      <p:sp>
        <p:nvSpPr>
          <p:cNvPr id="735" name="Google Shape;735;p30"/>
          <p:cNvSpPr txBox="1"/>
          <p:nvPr/>
        </p:nvSpPr>
        <p:spPr>
          <a:xfrm>
            <a:off x="4928616" y="1645920"/>
            <a:ext cx="1719073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Attributes —</a:t>
            </a:r>
            <a:endParaRPr/>
          </a:p>
        </p:txBody>
      </p:sp>
      <p:sp>
        <p:nvSpPr>
          <p:cNvPr id="736" name="Google Shape;736;p30"/>
          <p:cNvSpPr/>
          <p:nvPr/>
        </p:nvSpPr>
        <p:spPr>
          <a:xfrm>
            <a:off x="4882896" y="1883664"/>
            <a:ext cx="1810513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0"/>
          <p:cNvSpPr txBox="1"/>
          <p:nvPr/>
        </p:nvSpPr>
        <p:spPr>
          <a:xfrm>
            <a:off x="4978913" y="1936625"/>
            <a:ext cx="181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totalFloors : int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elevators : vector&lt;Elevator&gt;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Consolas"/>
              <a:buNone/>
            </a:pPr>
            <a:r>
              <a:t/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8" name="Google Shape;738;p30"/>
          <p:cNvSpPr/>
          <p:nvPr/>
        </p:nvSpPr>
        <p:spPr>
          <a:xfrm>
            <a:off x="4882896" y="2907792"/>
            <a:ext cx="1810513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0"/>
          <p:cNvSpPr txBox="1"/>
          <p:nvPr/>
        </p:nvSpPr>
        <p:spPr>
          <a:xfrm>
            <a:off x="4928616" y="2944367"/>
            <a:ext cx="1719073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Methods —</a:t>
            </a:r>
            <a:endParaRPr/>
          </a:p>
        </p:txBody>
      </p:sp>
      <p:sp>
        <p:nvSpPr>
          <p:cNvPr id="740" name="Google Shape;740;p30"/>
          <p:cNvSpPr txBox="1"/>
          <p:nvPr/>
        </p:nvSpPr>
        <p:spPr>
          <a:xfrm>
            <a:off x="4855450" y="3062475"/>
            <a:ext cx="20301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Building(int)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addElevator(int)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addRequestToElevator(int, int)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assignBestElevator(int) : int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requestFloor(int)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getElevatorByID(int) : Elevator*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getElevators() : vector&lt;Elevator&gt;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displayAllStatus()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getTotalFloors() : int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1" name="Google Shape;741;p30"/>
          <p:cNvSpPr/>
          <p:nvPr/>
        </p:nvSpPr>
        <p:spPr>
          <a:xfrm>
            <a:off x="6967726" y="1207007"/>
            <a:ext cx="2029969" cy="34930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0"/>
          <p:cNvSpPr/>
          <p:nvPr/>
        </p:nvSpPr>
        <p:spPr>
          <a:xfrm>
            <a:off x="6967726" y="1207008"/>
            <a:ext cx="2029969" cy="402337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0"/>
          <p:cNvSpPr txBox="1"/>
          <p:nvPr/>
        </p:nvSpPr>
        <p:spPr>
          <a:xfrm>
            <a:off x="7123174" y="1273555"/>
            <a:ext cx="171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nsolas"/>
              <a:buNone/>
            </a:pPr>
            <a:r>
              <a:rPr b="1" lang="en" sz="1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Simulation</a:t>
            </a:r>
            <a:endParaRPr/>
          </a:p>
        </p:txBody>
      </p:sp>
      <p:sp>
        <p:nvSpPr>
          <p:cNvPr id="744" name="Google Shape;744;p30"/>
          <p:cNvSpPr txBox="1"/>
          <p:nvPr/>
        </p:nvSpPr>
        <p:spPr>
          <a:xfrm>
            <a:off x="7123174" y="1645920"/>
            <a:ext cx="1719073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Attributes —</a:t>
            </a:r>
            <a:endParaRPr/>
          </a:p>
        </p:txBody>
      </p:sp>
      <p:sp>
        <p:nvSpPr>
          <p:cNvPr id="745" name="Google Shape;745;p30"/>
          <p:cNvSpPr/>
          <p:nvPr/>
        </p:nvSpPr>
        <p:spPr>
          <a:xfrm>
            <a:off x="7077454" y="1883664"/>
            <a:ext cx="1810513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 txBox="1"/>
          <p:nvPr/>
        </p:nvSpPr>
        <p:spPr>
          <a:xfrm>
            <a:off x="7159750" y="1920239"/>
            <a:ext cx="168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stepCount : int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55555"/>
                </a:solidFill>
                <a:latin typeface="Consolas"/>
                <a:ea typeface="Consolas"/>
                <a:cs typeface="Consolas"/>
                <a:sym typeface="Consolas"/>
              </a:rPr>
              <a:t>- log : vector&lt;string&gt;</a:t>
            </a:r>
            <a:endParaRPr sz="800">
              <a:solidFill>
                <a:srgbClr val="5555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7077454" y="2907792"/>
            <a:ext cx="1810513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0"/>
          <p:cNvSpPr txBox="1"/>
          <p:nvPr/>
        </p:nvSpPr>
        <p:spPr>
          <a:xfrm>
            <a:off x="7123174" y="2944367"/>
            <a:ext cx="1719073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— Methods —</a:t>
            </a:r>
            <a:endParaRPr/>
          </a:p>
        </p:txBody>
      </p:sp>
      <p:sp>
        <p:nvSpPr>
          <p:cNvPr id="749" name="Google Shape;749;p30"/>
          <p:cNvSpPr txBox="1"/>
          <p:nvPr/>
        </p:nvSpPr>
        <p:spPr>
          <a:xfrm>
            <a:off x="7040925" y="3109311"/>
            <a:ext cx="16824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Simulation()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run(Elevator&amp;, vector&lt;int&gt;)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printLog()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C8102E"/>
                </a:solidFill>
                <a:latin typeface="Consolas"/>
                <a:ea typeface="Consolas"/>
                <a:cs typeface="Consolas"/>
                <a:sym typeface="Consolas"/>
              </a:rPr>
              <a:t>- reset() : void</a:t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800"/>
              <a:buFont typeface="Consolas"/>
              <a:buNone/>
            </a:pPr>
            <a:r>
              <a:t/>
            </a:r>
            <a:endParaRPr sz="850">
              <a:solidFill>
                <a:srgbClr val="C8102E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0" name="Google Shape;750;p30"/>
          <p:cNvSpPr txBox="1"/>
          <p:nvPr/>
        </p:nvSpPr>
        <p:spPr>
          <a:xfrm>
            <a:off x="429767" y="4700015"/>
            <a:ext cx="8229601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Intersection aggregates Lane and TrafficLight  ·  Vehicle is owned by Lane via queue</a:t>
            </a:r>
            <a:endParaRPr/>
          </a:p>
        </p:txBody>
      </p:sp>
      <p:sp>
        <p:nvSpPr>
          <p:cNvPr id="751" name="Google Shape;751;p30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753" name="Google Shape;753;p30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759" name="Google Shape;7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760" name="Google Shape;7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761" name="Google Shape;7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762" name="Google Shape;76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763" name="Google Shape;76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31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1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1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1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1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1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1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1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1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1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1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1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1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1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1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1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1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1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1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1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1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1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1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1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1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1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1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1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1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1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1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/>
          <p:nvPr/>
        </p:nvSpPr>
        <p:spPr>
          <a:xfrm>
            <a:off x="384047" y="182879"/>
            <a:ext cx="2048257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1"/>
          <p:cNvSpPr txBox="1"/>
          <p:nvPr/>
        </p:nvSpPr>
        <p:spPr>
          <a:xfrm>
            <a:off x="429768" y="182879"/>
            <a:ext cx="1956817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 DESIGN TABLE</a:t>
            </a:r>
            <a:endParaRPr/>
          </a:p>
        </p:txBody>
      </p:sp>
      <p:sp>
        <p:nvSpPr>
          <p:cNvPr id="811" name="Google Shape;811;p31"/>
          <p:cNvSpPr txBox="1"/>
          <p:nvPr/>
        </p:nvSpPr>
        <p:spPr>
          <a:xfrm>
            <a:off x="457199" y="564005"/>
            <a:ext cx="8229601" cy="44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OOP Design Table</a:t>
            </a:r>
            <a:endParaRPr/>
          </a:p>
        </p:txBody>
      </p:sp>
      <p:graphicFrame>
        <p:nvGraphicFramePr>
          <p:cNvPr id="812" name="Google Shape;812;p31"/>
          <p:cNvGraphicFramePr/>
          <p:nvPr/>
        </p:nvGraphicFramePr>
        <p:xfrm>
          <a:off x="473672" y="10454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{DE2575AC-35D3-427C-A4F8-54C01BDF5D16}</a:tableStyleId>
              </a:tblPr>
              <a:tblGrid>
                <a:gridCol w="1234450"/>
                <a:gridCol w="1737350"/>
                <a:gridCol w="822950"/>
                <a:gridCol w="1417325"/>
                <a:gridCol w="320040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ClassV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 / Method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Access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 Type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</a:rPr>
                        <a:t>Elevator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elevatorID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Unique identifier for each elevator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currentFloor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Current floor of the elevator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Current direction: up, down, or idle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requestQueue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vector&lt;int&gt;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Stores pending requested floors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addRequest(int)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Adds a floor to the queue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getCurrentFloor()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Returns current floor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</a:rPr>
                        <a:t>Scheduler</a:t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algorithmType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Stores selected scheduling algorithm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computeFCFS()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vector&lt;int&gt;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Returns floors in request order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computeSSTF()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vector&lt;int&gt;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Returns nearest-floor-first order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computeSCAN()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vector&lt;int&gt;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Returns sweep-based order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13" name="Google Shape;813;p31"/>
          <p:cNvSpPr txBox="1"/>
          <p:nvPr/>
        </p:nvSpPr>
        <p:spPr>
          <a:xfrm>
            <a:off x="429767" y="4700015"/>
            <a:ext cx="822960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Red = private  |  Green = public  |  Add/remove rows to match your actual implementation</a:t>
            </a:r>
            <a:endParaRPr/>
          </a:p>
        </p:txBody>
      </p:sp>
      <p:sp>
        <p:nvSpPr>
          <p:cNvPr id="814" name="Google Shape;814;p31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1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816" name="Google Shape;816;p31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822" name="Google Shape;82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823" name="Google Shape;82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824" name="Google Shape;8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825" name="Google Shape;82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826" name="Google Shape;82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32"/>
          <p:cNvSpPr/>
          <p:nvPr/>
        </p:nvSpPr>
        <p:spPr>
          <a:xfrm>
            <a:off x="7498078" y="73152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7626095" y="73152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2"/>
          <p:cNvSpPr/>
          <p:nvPr/>
        </p:nvSpPr>
        <p:spPr>
          <a:xfrm>
            <a:off x="7754111" y="73152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2"/>
          <p:cNvSpPr/>
          <p:nvPr/>
        </p:nvSpPr>
        <p:spPr>
          <a:xfrm>
            <a:off x="7882126" y="73152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7498078" y="201168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7626095" y="201168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2"/>
          <p:cNvSpPr/>
          <p:nvPr/>
        </p:nvSpPr>
        <p:spPr>
          <a:xfrm>
            <a:off x="7754111" y="201168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7882126" y="201168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7498078" y="329184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2"/>
          <p:cNvSpPr/>
          <p:nvPr/>
        </p:nvSpPr>
        <p:spPr>
          <a:xfrm>
            <a:off x="7626095" y="329184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2"/>
          <p:cNvSpPr/>
          <p:nvPr/>
        </p:nvSpPr>
        <p:spPr>
          <a:xfrm>
            <a:off x="7754111" y="329184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2"/>
          <p:cNvSpPr/>
          <p:nvPr/>
        </p:nvSpPr>
        <p:spPr>
          <a:xfrm>
            <a:off x="7882126" y="329184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2"/>
          <p:cNvSpPr/>
          <p:nvPr/>
        </p:nvSpPr>
        <p:spPr>
          <a:xfrm>
            <a:off x="7498078" y="457200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2"/>
          <p:cNvSpPr/>
          <p:nvPr/>
        </p:nvSpPr>
        <p:spPr>
          <a:xfrm>
            <a:off x="7626095" y="457200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2"/>
          <p:cNvSpPr/>
          <p:nvPr/>
        </p:nvSpPr>
        <p:spPr>
          <a:xfrm>
            <a:off x="7754111" y="457200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2"/>
          <p:cNvSpPr/>
          <p:nvPr/>
        </p:nvSpPr>
        <p:spPr>
          <a:xfrm>
            <a:off x="7882126" y="457200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2"/>
          <p:cNvSpPr/>
          <p:nvPr/>
        </p:nvSpPr>
        <p:spPr>
          <a:xfrm>
            <a:off x="7498078" y="585216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2"/>
          <p:cNvSpPr/>
          <p:nvPr/>
        </p:nvSpPr>
        <p:spPr>
          <a:xfrm>
            <a:off x="7626095" y="585216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2"/>
          <p:cNvSpPr/>
          <p:nvPr/>
        </p:nvSpPr>
        <p:spPr>
          <a:xfrm>
            <a:off x="7754111" y="585216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2"/>
          <p:cNvSpPr/>
          <p:nvPr/>
        </p:nvSpPr>
        <p:spPr>
          <a:xfrm>
            <a:off x="7882126" y="585216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2"/>
          <p:cNvSpPr/>
          <p:nvPr/>
        </p:nvSpPr>
        <p:spPr>
          <a:xfrm>
            <a:off x="7498078" y="713231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2"/>
          <p:cNvSpPr/>
          <p:nvPr/>
        </p:nvSpPr>
        <p:spPr>
          <a:xfrm>
            <a:off x="7626095" y="713231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2"/>
          <p:cNvSpPr/>
          <p:nvPr/>
        </p:nvSpPr>
        <p:spPr>
          <a:xfrm>
            <a:off x="7754111" y="713231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2"/>
          <p:cNvSpPr/>
          <p:nvPr/>
        </p:nvSpPr>
        <p:spPr>
          <a:xfrm>
            <a:off x="7882126" y="713231"/>
            <a:ext cx="34800" cy="34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2"/>
          <p:cNvSpPr/>
          <p:nvPr/>
        </p:nvSpPr>
        <p:spPr>
          <a:xfrm>
            <a:off x="91439" y="4114800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2"/>
          <p:cNvSpPr/>
          <p:nvPr/>
        </p:nvSpPr>
        <p:spPr>
          <a:xfrm>
            <a:off x="219456" y="4114800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2"/>
          <p:cNvSpPr/>
          <p:nvPr/>
        </p:nvSpPr>
        <p:spPr>
          <a:xfrm>
            <a:off x="347472" y="4114800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2"/>
          <p:cNvSpPr/>
          <p:nvPr/>
        </p:nvSpPr>
        <p:spPr>
          <a:xfrm>
            <a:off x="475487" y="4114800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2"/>
          <p:cNvSpPr/>
          <p:nvPr/>
        </p:nvSpPr>
        <p:spPr>
          <a:xfrm>
            <a:off x="91439" y="4242815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2"/>
          <p:cNvSpPr/>
          <p:nvPr/>
        </p:nvSpPr>
        <p:spPr>
          <a:xfrm>
            <a:off x="219456" y="4242815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2"/>
          <p:cNvSpPr/>
          <p:nvPr/>
        </p:nvSpPr>
        <p:spPr>
          <a:xfrm>
            <a:off x="347472" y="4242815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2"/>
          <p:cNvSpPr/>
          <p:nvPr/>
        </p:nvSpPr>
        <p:spPr>
          <a:xfrm>
            <a:off x="475487" y="4242815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2"/>
          <p:cNvSpPr/>
          <p:nvPr/>
        </p:nvSpPr>
        <p:spPr>
          <a:xfrm>
            <a:off x="91439" y="4370832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2"/>
          <p:cNvSpPr/>
          <p:nvPr/>
        </p:nvSpPr>
        <p:spPr>
          <a:xfrm>
            <a:off x="219456" y="4370832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2"/>
          <p:cNvSpPr/>
          <p:nvPr/>
        </p:nvSpPr>
        <p:spPr>
          <a:xfrm>
            <a:off x="347472" y="4370832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2"/>
          <p:cNvSpPr/>
          <p:nvPr/>
        </p:nvSpPr>
        <p:spPr>
          <a:xfrm>
            <a:off x="475487" y="4370832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2"/>
          <p:cNvSpPr/>
          <p:nvPr/>
        </p:nvSpPr>
        <p:spPr>
          <a:xfrm>
            <a:off x="91439" y="4498847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2"/>
          <p:cNvSpPr/>
          <p:nvPr/>
        </p:nvSpPr>
        <p:spPr>
          <a:xfrm>
            <a:off x="219456" y="4498847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2"/>
          <p:cNvSpPr/>
          <p:nvPr/>
        </p:nvSpPr>
        <p:spPr>
          <a:xfrm>
            <a:off x="347472" y="4498847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2"/>
          <p:cNvSpPr/>
          <p:nvPr/>
        </p:nvSpPr>
        <p:spPr>
          <a:xfrm>
            <a:off x="475487" y="4498847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2"/>
          <p:cNvSpPr/>
          <p:nvPr/>
        </p:nvSpPr>
        <p:spPr>
          <a:xfrm>
            <a:off x="91439" y="4626864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2"/>
          <p:cNvSpPr/>
          <p:nvPr/>
        </p:nvSpPr>
        <p:spPr>
          <a:xfrm>
            <a:off x="219456" y="4626864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2"/>
          <p:cNvSpPr/>
          <p:nvPr/>
        </p:nvSpPr>
        <p:spPr>
          <a:xfrm>
            <a:off x="347472" y="4626864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2"/>
          <p:cNvSpPr/>
          <p:nvPr/>
        </p:nvSpPr>
        <p:spPr>
          <a:xfrm>
            <a:off x="475487" y="4626864"/>
            <a:ext cx="34800" cy="34800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2"/>
          <p:cNvSpPr/>
          <p:nvPr/>
        </p:nvSpPr>
        <p:spPr>
          <a:xfrm>
            <a:off x="0" y="0"/>
            <a:ext cx="255900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2"/>
          <p:cNvSpPr/>
          <p:nvPr/>
        </p:nvSpPr>
        <p:spPr>
          <a:xfrm>
            <a:off x="384047" y="182879"/>
            <a:ext cx="2048400" cy="274200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2"/>
          <p:cNvSpPr txBox="1"/>
          <p:nvPr/>
        </p:nvSpPr>
        <p:spPr>
          <a:xfrm>
            <a:off x="429768" y="182879"/>
            <a:ext cx="195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 DESIGN TABLE</a:t>
            </a:r>
            <a:endParaRPr/>
          </a:p>
        </p:txBody>
      </p:sp>
      <p:sp>
        <p:nvSpPr>
          <p:cNvPr id="874" name="Google Shape;874;p32"/>
          <p:cNvSpPr txBox="1"/>
          <p:nvPr/>
        </p:nvSpPr>
        <p:spPr>
          <a:xfrm>
            <a:off x="457199" y="564005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OOP Design Table</a:t>
            </a:r>
            <a:endParaRPr/>
          </a:p>
        </p:txBody>
      </p:sp>
      <p:graphicFrame>
        <p:nvGraphicFramePr>
          <p:cNvPr id="875" name="Google Shape;875;p32"/>
          <p:cNvGraphicFramePr/>
          <p:nvPr/>
        </p:nvGraphicFramePr>
        <p:xfrm>
          <a:off x="510285" y="11334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{DE2575AC-35D3-427C-A4F8-54C01BDF5D16}</a:tableStyleId>
              </a:tblPr>
              <a:tblGrid>
                <a:gridCol w="1234450"/>
                <a:gridCol w="1737350"/>
                <a:gridCol w="822950"/>
                <a:gridCol w="1417325"/>
                <a:gridCol w="3200400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ClassV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Attribute / Method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Access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onsolas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 Type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002366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</a:rPr>
                        <a:t>Building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totalFloors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 u="none" cap="none" strike="noStrike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Total floors in the building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elevators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vector&lt;Elevator&gt;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Collection of all elevator objects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assignBestElevator()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Finds closest elevator to request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requestFloor()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Validates and dispatches request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1A1A"/>
                          </a:solidFill>
                        </a:rPr>
                        <a:t>Simulation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stepCount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Counts movement steps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C8102E"/>
                          </a:solidFill>
                        </a:rPr>
                        <a:t>private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vector&lt;string&gt;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Stores movement log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run()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Simulates floor-by-floor movement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8F0F0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printLog()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6B1A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>
                          <a:solidFill>
                            <a:srgbClr val="1A6B1A"/>
                          </a:solidFill>
                        </a:rPr>
                        <a:t>public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onsolas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void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>
                          <a:solidFill>
                            <a:srgbClr val="1A1A1A"/>
                          </a:solidFill>
                        </a:rPr>
                        <a:t>Prints saved movement events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6" name="Google Shape;876;p32"/>
          <p:cNvSpPr txBox="1"/>
          <p:nvPr/>
        </p:nvSpPr>
        <p:spPr>
          <a:xfrm>
            <a:off x="429767" y="4700015"/>
            <a:ext cx="822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Red = private  |  Green = public  |  Add/remove rows to match your actual implementation</a:t>
            </a:r>
            <a:endParaRPr/>
          </a:p>
        </p:txBody>
      </p:sp>
      <p:sp>
        <p:nvSpPr>
          <p:cNvPr id="877" name="Google Shape;877;p32"/>
          <p:cNvSpPr/>
          <p:nvPr/>
        </p:nvSpPr>
        <p:spPr>
          <a:xfrm>
            <a:off x="0" y="4873752"/>
            <a:ext cx="9144000" cy="269700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2"/>
          <p:cNvSpPr txBox="1"/>
          <p:nvPr/>
        </p:nvSpPr>
        <p:spPr>
          <a:xfrm>
            <a:off x="365760" y="4882896"/>
            <a:ext cx="768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879" name="Google Shape;879;p32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885" name="Google Shape;88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886" name="Google Shape;88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887" name="Google Shape;8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888" name="Google Shape;88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889" name="Google Shape;88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33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3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3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3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3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3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3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3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3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3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3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3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3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3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3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3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3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3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3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3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3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3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3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3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3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3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3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3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3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3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3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3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3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3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3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3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3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3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3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3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3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3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3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3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3"/>
          <p:cNvSpPr/>
          <p:nvPr/>
        </p:nvSpPr>
        <p:spPr>
          <a:xfrm>
            <a:off x="384047" y="182879"/>
            <a:ext cx="1943101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3"/>
          <p:cNvSpPr txBox="1"/>
          <p:nvPr/>
        </p:nvSpPr>
        <p:spPr>
          <a:xfrm>
            <a:off x="429768" y="182879"/>
            <a:ext cx="1851661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/>
          </a:p>
        </p:txBody>
      </p:sp>
      <p:sp>
        <p:nvSpPr>
          <p:cNvPr id="937" name="Google Shape;937;p33"/>
          <p:cNvSpPr txBox="1"/>
          <p:nvPr/>
        </p:nvSpPr>
        <p:spPr>
          <a:xfrm>
            <a:off x="457199" y="567552"/>
            <a:ext cx="8229601" cy="437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System Overview — Input  ·  Process  ·  Output</a:t>
            </a:r>
            <a:endParaRPr/>
          </a:p>
        </p:txBody>
      </p:sp>
      <p:sp>
        <p:nvSpPr>
          <p:cNvPr id="938" name="Google Shape;938;p33"/>
          <p:cNvSpPr/>
          <p:nvPr/>
        </p:nvSpPr>
        <p:spPr>
          <a:xfrm>
            <a:off x="384047" y="1207008"/>
            <a:ext cx="2651762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3"/>
          <p:cNvSpPr/>
          <p:nvPr/>
        </p:nvSpPr>
        <p:spPr>
          <a:xfrm>
            <a:off x="384047" y="1207008"/>
            <a:ext cx="2651762" cy="45720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3"/>
          <p:cNvSpPr txBox="1"/>
          <p:nvPr/>
        </p:nvSpPr>
        <p:spPr>
          <a:xfrm>
            <a:off x="576072" y="1285311"/>
            <a:ext cx="2414017" cy="300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/>
          </a:p>
        </p:txBody>
      </p:sp>
      <p:sp>
        <p:nvSpPr>
          <p:cNvPr id="941" name="Google Shape;941;p33"/>
          <p:cNvSpPr/>
          <p:nvPr/>
        </p:nvSpPr>
        <p:spPr>
          <a:xfrm>
            <a:off x="548662" y="1773924"/>
            <a:ext cx="2322600" cy="339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3"/>
          <p:cNvSpPr txBox="1"/>
          <p:nvPr/>
        </p:nvSpPr>
        <p:spPr>
          <a:xfrm>
            <a:off x="695012" y="1786770"/>
            <a:ext cx="1367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Total number of floors</a:t>
            </a:r>
            <a:endParaRPr/>
          </a:p>
        </p:txBody>
      </p:sp>
      <p:sp>
        <p:nvSpPr>
          <p:cNvPr id="943" name="Google Shape;943;p33"/>
          <p:cNvSpPr txBox="1"/>
          <p:nvPr/>
        </p:nvSpPr>
        <p:spPr>
          <a:xfrm>
            <a:off x="3136392" y="2728557"/>
            <a:ext cx="128017" cy="340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944" name="Google Shape;944;p33"/>
          <p:cNvSpPr/>
          <p:nvPr/>
        </p:nvSpPr>
        <p:spPr>
          <a:xfrm>
            <a:off x="3218688" y="1207008"/>
            <a:ext cx="2651761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3"/>
          <p:cNvSpPr/>
          <p:nvPr/>
        </p:nvSpPr>
        <p:spPr>
          <a:xfrm>
            <a:off x="3218688" y="1207008"/>
            <a:ext cx="2651761" cy="457201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3"/>
          <p:cNvSpPr txBox="1"/>
          <p:nvPr/>
        </p:nvSpPr>
        <p:spPr>
          <a:xfrm>
            <a:off x="3410711" y="1285311"/>
            <a:ext cx="2414017" cy="300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/>
          </a:p>
        </p:txBody>
      </p:sp>
      <p:sp>
        <p:nvSpPr>
          <p:cNvPr id="947" name="Google Shape;947;p33"/>
          <p:cNvSpPr/>
          <p:nvPr/>
        </p:nvSpPr>
        <p:spPr>
          <a:xfrm>
            <a:off x="3401567" y="1911094"/>
            <a:ext cx="292609" cy="29260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3"/>
          <p:cNvSpPr txBox="1"/>
          <p:nvPr/>
        </p:nvSpPr>
        <p:spPr>
          <a:xfrm>
            <a:off x="3447288" y="1954442"/>
            <a:ext cx="201169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949" name="Google Shape;949;p33"/>
          <p:cNvSpPr txBox="1"/>
          <p:nvPr/>
        </p:nvSpPr>
        <p:spPr>
          <a:xfrm>
            <a:off x="3813048" y="1884593"/>
            <a:ext cx="190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Validate floor inputs and building setup</a:t>
            </a:r>
            <a:endParaRPr/>
          </a:p>
        </p:txBody>
      </p:sp>
      <p:sp>
        <p:nvSpPr>
          <p:cNvPr id="950" name="Google Shape;950;p33"/>
          <p:cNvSpPr/>
          <p:nvPr/>
        </p:nvSpPr>
        <p:spPr>
          <a:xfrm>
            <a:off x="3383279" y="2322576"/>
            <a:ext cx="2322577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3"/>
          <p:cNvSpPr/>
          <p:nvPr/>
        </p:nvSpPr>
        <p:spPr>
          <a:xfrm>
            <a:off x="3401567" y="2478023"/>
            <a:ext cx="292609" cy="29260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3"/>
          <p:cNvSpPr txBox="1"/>
          <p:nvPr/>
        </p:nvSpPr>
        <p:spPr>
          <a:xfrm>
            <a:off x="3447288" y="2521371"/>
            <a:ext cx="201169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953" name="Google Shape;953;p33"/>
          <p:cNvSpPr txBox="1"/>
          <p:nvPr/>
        </p:nvSpPr>
        <p:spPr>
          <a:xfrm>
            <a:off x="3813048" y="2521371"/>
            <a:ext cx="190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Assign each request to the closest elevator</a:t>
            </a:r>
            <a:endParaRPr/>
          </a:p>
        </p:txBody>
      </p:sp>
      <p:sp>
        <p:nvSpPr>
          <p:cNvPr id="954" name="Google Shape;954;p33"/>
          <p:cNvSpPr/>
          <p:nvPr/>
        </p:nvSpPr>
        <p:spPr>
          <a:xfrm>
            <a:off x="3383279" y="2889504"/>
            <a:ext cx="2322577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3"/>
          <p:cNvSpPr/>
          <p:nvPr/>
        </p:nvSpPr>
        <p:spPr>
          <a:xfrm>
            <a:off x="3401567" y="3044950"/>
            <a:ext cx="292609" cy="29260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3"/>
          <p:cNvSpPr txBox="1"/>
          <p:nvPr/>
        </p:nvSpPr>
        <p:spPr>
          <a:xfrm>
            <a:off x="3447288" y="3088298"/>
            <a:ext cx="201169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957" name="Google Shape;957;p33"/>
          <p:cNvSpPr txBox="1"/>
          <p:nvPr/>
        </p:nvSpPr>
        <p:spPr>
          <a:xfrm>
            <a:off x="3813048" y="3018448"/>
            <a:ext cx="190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Store requests in that elevator’s queue</a:t>
            </a:r>
            <a:endParaRPr/>
          </a:p>
        </p:txBody>
      </p:sp>
      <p:sp>
        <p:nvSpPr>
          <p:cNvPr id="958" name="Google Shape;958;p33"/>
          <p:cNvSpPr/>
          <p:nvPr/>
        </p:nvSpPr>
        <p:spPr>
          <a:xfrm>
            <a:off x="3383279" y="3456432"/>
            <a:ext cx="2322577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33"/>
          <p:cNvSpPr/>
          <p:nvPr/>
        </p:nvSpPr>
        <p:spPr>
          <a:xfrm>
            <a:off x="3401567" y="3611879"/>
            <a:ext cx="292609" cy="29260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3"/>
          <p:cNvSpPr txBox="1"/>
          <p:nvPr/>
        </p:nvSpPr>
        <p:spPr>
          <a:xfrm>
            <a:off x="3447288" y="3655226"/>
            <a:ext cx="201169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961" name="Google Shape;961;p33"/>
          <p:cNvSpPr txBox="1"/>
          <p:nvPr/>
        </p:nvSpPr>
        <p:spPr>
          <a:xfrm>
            <a:off x="3813048" y="3585377"/>
            <a:ext cx="190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Compute visit order using selected scheduling algorithm</a:t>
            </a:r>
            <a:endParaRPr/>
          </a:p>
        </p:txBody>
      </p:sp>
      <p:sp>
        <p:nvSpPr>
          <p:cNvPr id="962" name="Google Shape;962;p33"/>
          <p:cNvSpPr/>
          <p:nvPr/>
        </p:nvSpPr>
        <p:spPr>
          <a:xfrm>
            <a:off x="3383279" y="4023359"/>
            <a:ext cx="2322577" cy="27433"/>
          </a:xfrm>
          <a:prstGeom prst="rect">
            <a:avLst/>
          </a:prstGeom>
          <a:solidFill>
            <a:srgbClr val="E0E0E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3"/>
          <p:cNvSpPr/>
          <p:nvPr/>
        </p:nvSpPr>
        <p:spPr>
          <a:xfrm>
            <a:off x="3401567" y="4178808"/>
            <a:ext cx="292609" cy="29260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3"/>
          <p:cNvSpPr txBox="1"/>
          <p:nvPr/>
        </p:nvSpPr>
        <p:spPr>
          <a:xfrm>
            <a:off x="3447288" y="4222155"/>
            <a:ext cx="201169" cy="205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965" name="Google Shape;965;p33"/>
          <p:cNvSpPr txBox="1"/>
          <p:nvPr/>
        </p:nvSpPr>
        <p:spPr>
          <a:xfrm>
            <a:off x="3813048" y="4124418"/>
            <a:ext cx="190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Simulate movement floor by floor and record each step</a:t>
            </a:r>
            <a:endParaRPr/>
          </a:p>
        </p:txBody>
      </p:sp>
      <p:sp>
        <p:nvSpPr>
          <p:cNvPr id="966" name="Google Shape;966;p33"/>
          <p:cNvSpPr txBox="1"/>
          <p:nvPr/>
        </p:nvSpPr>
        <p:spPr>
          <a:xfrm>
            <a:off x="5971032" y="2728557"/>
            <a:ext cx="128017" cy="340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967" name="Google Shape;967;p33"/>
          <p:cNvSpPr/>
          <p:nvPr/>
        </p:nvSpPr>
        <p:spPr>
          <a:xfrm>
            <a:off x="6053328" y="1207008"/>
            <a:ext cx="2651761" cy="3383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33"/>
          <p:cNvSpPr/>
          <p:nvPr/>
        </p:nvSpPr>
        <p:spPr>
          <a:xfrm>
            <a:off x="6053328" y="1207008"/>
            <a:ext cx="2651761" cy="4572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3"/>
          <p:cNvSpPr txBox="1"/>
          <p:nvPr/>
        </p:nvSpPr>
        <p:spPr>
          <a:xfrm>
            <a:off x="6245352" y="1285311"/>
            <a:ext cx="2414017" cy="300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sp>
        <p:nvSpPr>
          <p:cNvPr id="970" name="Google Shape;970;p33"/>
          <p:cNvSpPr/>
          <p:nvPr/>
        </p:nvSpPr>
        <p:spPr>
          <a:xfrm>
            <a:off x="6217920" y="1773935"/>
            <a:ext cx="2322577" cy="56692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3"/>
          <p:cNvSpPr txBox="1"/>
          <p:nvPr/>
        </p:nvSpPr>
        <p:spPr>
          <a:xfrm>
            <a:off x="6355079" y="1884593"/>
            <a:ext cx="208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Assigned elevator for each request</a:t>
            </a:r>
            <a:endParaRPr/>
          </a:p>
        </p:txBody>
      </p:sp>
      <p:sp>
        <p:nvSpPr>
          <p:cNvPr id="972" name="Google Shape;972;p33"/>
          <p:cNvSpPr/>
          <p:nvPr/>
        </p:nvSpPr>
        <p:spPr>
          <a:xfrm>
            <a:off x="6217920" y="2468879"/>
            <a:ext cx="2322577" cy="56692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3"/>
          <p:cNvSpPr txBox="1"/>
          <p:nvPr/>
        </p:nvSpPr>
        <p:spPr>
          <a:xfrm>
            <a:off x="6355079" y="2579537"/>
            <a:ext cx="208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Ordered path for each elevator</a:t>
            </a:r>
            <a:endParaRPr/>
          </a:p>
        </p:txBody>
      </p:sp>
      <p:sp>
        <p:nvSpPr>
          <p:cNvPr id="974" name="Google Shape;974;p33"/>
          <p:cNvSpPr/>
          <p:nvPr/>
        </p:nvSpPr>
        <p:spPr>
          <a:xfrm>
            <a:off x="6217920" y="3163823"/>
            <a:ext cx="2322577" cy="56692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3"/>
          <p:cNvSpPr txBox="1"/>
          <p:nvPr/>
        </p:nvSpPr>
        <p:spPr>
          <a:xfrm>
            <a:off x="6355079" y="3274481"/>
            <a:ext cx="208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Terminal-based movement simulation</a:t>
            </a:r>
            <a:endParaRPr/>
          </a:p>
        </p:txBody>
      </p:sp>
      <p:sp>
        <p:nvSpPr>
          <p:cNvPr id="976" name="Google Shape;976;p33"/>
          <p:cNvSpPr/>
          <p:nvPr/>
        </p:nvSpPr>
        <p:spPr>
          <a:xfrm>
            <a:off x="6217920" y="3858767"/>
            <a:ext cx="2322577" cy="56692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3"/>
          <p:cNvSpPr txBox="1"/>
          <p:nvPr/>
        </p:nvSpPr>
        <p:spPr>
          <a:xfrm>
            <a:off x="6355079" y="3969425"/>
            <a:ext cx="2084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Simulation log</a:t>
            </a:r>
            <a:endParaRPr/>
          </a:p>
        </p:txBody>
      </p:sp>
      <p:sp>
        <p:nvSpPr>
          <p:cNvPr id="978" name="Google Shape;978;p33"/>
          <p:cNvSpPr/>
          <p:nvPr/>
        </p:nvSpPr>
        <p:spPr>
          <a:xfrm>
            <a:off x="384047" y="4663440"/>
            <a:ext cx="8412482" cy="201169"/>
          </a:xfrm>
          <a:prstGeom prst="rect">
            <a:avLst/>
          </a:prstGeom>
          <a:solidFill>
            <a:srgbClr val="FEF3CD"/>
          </a:solidFill>
          <a:ln cap="flat" cmpd="sng" w="9525">
            <a:solidFill>
              <a:srgbClr val="FADC8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3"/>
          <p:cNvSpPr txBox="1"/>
          <p:nvPr/>
        </p:nvSpPr>
        <p:spPr>
          <a:xfrm>
            <a:off x="521207" y="4672584"/>
            <a:ext cx="8138161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A00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7A5A00"/>
                </a:solidFill>
                <a:latin typeface="Calibri"/>
                <a:ea typeface="Calibri"/>
                <a:cs typeface="Calibri"/>
                <a:sym typeface="Calibri"/>
              </a:rPr>
              <a:t>Data Flow: main()  &gt;  Intersection::simulate()  &gt;  Lane::enqueue()/dequeue()  &gt;  TrafficLight::update()  &gt;  SimStats::printReport()</a:t>
            </a:r>
            <a:endParaRPr/>
          </a:p>
        </p:txBody>
      </p:sp>
      <p:sp>
        <p:nvSpPr>
          <p:cNvPr id="980" name="Google Shape;980;p33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3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982" name="Google Shape;982;p33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983" name="Google Shape;983;p33"/>
          <p:cNvSpPr/>
          <p:nvPr/>
        </p:nvSpPr>
        <p:spPr>
          <a:xfrm>
            <a:off x="548637" y="2237077"/>
            <a:ext cx="2322600" cy="339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3"/>
          <p:cNvSpPr txBox="1"/>
          <p:nvPr/>
        </p:nvSpPr>
        <p:spPr>
          <a:xfrm>
            <a:off x="672062" y="2291222"/>
            <a:ext cx="1367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Number of elevators</a:t>
            </a:r>
            <a:endParaRPr/>
          </a:p>
        </p:txBody>
      </p:sp>
      <p:sp>
        <p:nvSpPr>
          <p:cNvPr id="985" name="Google Shape;985;p33"/>
          <p:cNvSpPr/>
          <p:nvPr/>
        </p:nvSpPr>
        <p:spPr>
          <a:xfrm>
            <a:off x="534938" y="2700235"/>
            <a:ext cx="2322600" cy="339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33"/>
          <p:cNvSpPr txBox="1"/>
          <p:nvPr/>
        </p:nvSpPr>
        <p:spPr>
          <a:xfrm>
            <a:off x="681270" y="2737525"/>
            <a:ext cx="1943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Starting floor of each elevator</a:t>
            </a:r>
            <a:endParaRPr sz="900">
              <a:solidFill>
                <a:srgbClr val="0D47A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0D47A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0D47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3"/>
          <p:cNvSpPr/>
          <p:nvPr/>
        </p:nvSpPr>
        <p:spPr>
          <a:xfrm>
            <a:off x="534913" y="3129638"/>
            <a:ext cx="2322600" cy="339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3"/>
          <p:cNvSpPr txBox="1"/>
          <p:nvPr/>
        </p:nvSpPr>
        <p:spPr>
          <a:xfrm>
            <a:off x="681265" y="3173475"/>
            <a:ext cx="2537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Number of requested floors</a:t>
            </a:r>
            <a:endParaRPr sz="900">
              <a:solidFill>
                <a:srgbClr val="0D47A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0D47A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rgbClr val="0D47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3"/>
          <p:cNvSpPr/>
          <p:nvPr/>
        </p:nvSpPr>
        <p:spPr>
          <a:xfrm>
            <a:off x="548625" y="3609432"/>
            <a:ext cx="2322600" cy="339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3"/>
          <p:cNvSpPr txBox="1"/>
          <p:nvPr/>
        </p:nvSpPr>
        <p:spPr>
          <a:xfrm>
            <a:off x="681275" y="3663575"/>
            <a:ext cx="1902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Requested floor values</a:t>
            </a:r>
            <a:endParaRPr sz="900">
              <a:solidFill>
                <a:srgbClr val="0D47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3"/>
          <p:cNvSpPr/>
          <p:nvPr/>
        </p:nvSpPr>
        <p:spPr>
          <a:xfrm>
            <a:off x="534900" y="4089222"/>
            <a:ext cx="2322600" cy="3390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BBDEF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33"/>
          <p:cNvSpPr txBox="1"/>
          <p:nvPr/>
        </p:nvSpPr>
        <p:spPr>
          <a:xfrm>
            <a:off x="653600" y="4094200"/>
            <a:ext cx="216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47A1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0D47A1"/>
                </a:solidFill>
                <a:latin typeface="Calibri"/>
                <a:ea typeface="Calibri"/>
                <a:cs typeface="Calibri"/>
                <a:sym typeface="Calibri"/>
              </a:rPr>
              <a:t>Scheduling algorithm choice (FCFS / SSTF / SCAN)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998" name="Google Shape;99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14400" y="-91440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999" name="Google Shape;99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0664" y="-740664"/>
            <a:ext cx="1115568" cy="111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1000" name="Google Shape;100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4663440"/>
            <a:ext cx="1280161" cy="1280161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34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4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4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4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34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34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34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4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4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4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4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4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4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4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4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4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4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4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4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4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4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4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4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4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4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4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4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4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4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4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4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4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4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4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34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4"/>
          <p:cNvSpPr/>
          <p:nvPr/>
        </p:nvSpPr>
        <p:spPr>
          <a:xfrm>
            <a:off x="457200" y="182879"/>
            <a:ext cx="2574036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4"/>
          <p:cNvSpPr txBox="1"/>
          <p:nvPr/>
        </p:nvSpPr>
        <p:spPr>
          <a:xfrm>
            <a:off x="502920" y="182879"/>
            <a:ext cx="2482596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&amp; DEMO</a:t>
            </a:r>
            <a:endParaRPr/>
          </a:p>
        </p:txBody>
      </p:sp>
      <p:sp>
        <p:nvSpPr>
          <p:cNvPr id="1038" name="Google Shape;1038;p34"/>
          <p:cNvSpPr txBox="1"/>
          <p:nvPr/>
        </p:nvSpPr>
        <p:spPr>
          <a:xfrm>
            <a:off x="457199" y="590149"/>
            <a:ext cx="8229601" cy="392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Highlights &amp; Demo Results</a:t>
            </a:r>
            <a:endParaRPr/>
          </a:p>
        </p:txBody>
      </p:sp>
      <p:sp>
        <p:nvSpPr>
          <p:cNvPr id="1039" name="Google Shape;1039;p34"/>
          <p:cNvSpPr/>
          <p:nvPr/>
        </p:nvSpPr>
        <p:spPr>
          <a:xfrm>
            <a:off x="347471" y="1170431"/>
            <a:ext cx="4956050" cy="3493010"/>
          </a:xfrm>
          <a:prstGeom prst="rect">
            <a:avLst/>
          </a:prstGeom>
          <a:solidFill>
            <a:srgbClr val="050F1E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347471" y="1170432"/>
            <a:ext cx="4956050" cy="34747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34"/>
          <p:cNvSpPr txBox="1"/>
          <p:nvPr/>
        </p:nvSpPr>
        <p:spPr>
          <a:xfrm>
            <a:off x="502920" y="1241211"/>
            <a:ext cx="4645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C++ — 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Simulation::run()</a:t>
            </a:r>
            <a:endParaRPr/>
          </a:p>
        </p:txBody>
      </p:sp>
      <p:sp>
        <p:nvSpPr>
          <p:cNvPr id="1042" name="Google Shape;1042;p34"/>
          <p:cNvSpPr txBox="1"/>
          <p:nvPr/>
        </p:nvSpPr>
        <p:spPr>
          <a:xfrm>
            <a:off x="347350" y="1447125"/>
            <a:ext cx="4956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void Simulation::run(Elevator&amp; elevator, const std::vector&lt;int&gt;&amp; path) {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if (path.empty()) {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std::cout &lt;&lt; "No path to simulate.\n";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return;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int position = elevator.getCurrentFloor();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for (size_t i = 0; i &lt; path.size(); i++) {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int target = path[i];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while (position != target) {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std::string direction;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if (target &gt; position) {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    position++;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    direction = "up"; } 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else {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    position--;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    direction = "down"; }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stepCount++;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elevator.setDirection(direction);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std::cout &lt;&lt; "Step " &lt;&lt; stepCount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&lt;&lt; ": Elevator " &lt;&lt; elevator.getElevatorID()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&lt;&lt; " at floor " &lt;&lt; position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&lt;&lt; " moving " &lt;&lt; direction &lt;&lt; std::endl; }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    std::cout &lt;&lt; "&gt;&gt;&gt; Arrived at requested floor: " &lt;&lt; target &lt;&lt; std::endl;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elevator.setCurrentFloor(position);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    elevator.setDirection("idle");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5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750">
              <a:solidFill>
                <a:srgbClr val="E0E0E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3" name="Google Shape;1043;p34"/>
          <p:cNvSpPr/>
          <p:nvPr/>
        </p:nvSpPr>
        <p:spPr>
          <a:xfrm>
            <a:off x="5486400" y="1170432"/>
            <a:ext cx="3401568" cy="749809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34"/>
          <p:cNvSpPr txBox="1"/>
          <p:nvPr/>
        </p:nvSpPr>
        <p:spPr>
          <a:xfrm>
            <a:off x="5605272" y="1352648"/>
            <a:ext cx="109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200"/>
              <a:buFont typeface="Calibri"/>
              <a:buNone/>
            </a:pPr>
            <a:r>
              <a:rPr b="1" lang="en" sz="22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45" name="Google Shape;1045;p34"/>
          <p:cNvSpPr/>
          <p:nvPr/>
        </p:nvSpPr>
        <p:spPr>
          <a:xfrm>
            <a:off x="6748271" y="1261872"/>
            <a:ext cx="27433" cy="566928"/>
          </a:xfrm>
          <a:prstGeom prst="rect">
            <a:avLst/>
          </a:prstGeom>
          <a:solidFill>
            <a:srgbClr val="304A6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4"/>
          <p:cNvSpPr txBox="1"/>
          <p:nvPr/>
        </p:nvSpPr>
        <p:spPr>
          <a:xfrm>
            <a:off x="6885431" y="1348530"/>
            <a:ext cx="18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Scheduling algorithms supported</a:t>
            </a:r>
            <a:endParaRPr/>
          </a:p>
        </p:txBody>
      </p:sp>
      <p:sp>
        <p:nvSpPr>
          <p:cNvPr id="1047" name="Google Shape;1047;p34"/>
          <p:cNvSpPr/>
          <p:nvPr/>
        </p:nvSpPr>
        <p:spPr>
          <a:xfrm>
            <a:off x="5486400" y="2029966"/>
            <a:ext cx="3401568" cy="749809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4"/>
          <p:cNvSpPr txBox="1"/>
          <p:nvPr/>
        </p:nvSpPr>
        <p:spPr>
          <a:xfrm>
            <a:off x="5605272" y="2212183"/>
            <a:ext cx="1097281" cy="38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49" name="Google Shape;1049;p34"/>
          <p:cNvSpPr/>
          <p:nvPr/>
        </p:nvSpPr>
        <p:spPr>
          <a:xfrm>
            <a:off x="6748271" y="2121407"/>
            <a:ext cx="27433" cy="566929"/>
          </a:xfrm>
          <a:prstGeom prst="rect">
            <a:avLst/>
          </a:prstGeom>
          <a:solidFill>
            <a:srgbClr val="304A6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4"/>
          <p:cNvSpPr txBox="1"/>
          <p:nvPr/>
        </p:nvSpPr>
        <p:spPr>
          <a:xfrm>
            <a:off x="6885431" y="2208065"/>
            <a:ext cx="1865377" cy="393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Classes fully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implemented</a:t>
            </a:r>
            <a:endParaRPr/>
          </a:p>
        </p:txBody>
      </p:sp>
      <p:sp>
        <p:nvSpPr>
          <p:cNvPr id="1051" name="Google Shape;1051;p34"/>
          <p:cNvSpPr/>
          <p:nvPr/>
        </p:nvSpPr>
        <p:spPr>
          <a:xfrm>
            <a:off x="5486400" y="2889504"/>
            <a:ext cx="3401568" cy="749809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4"/>
          <p:cNvSpPr txBox="1"/>
          <p:nvPr/>
        </p:nvSpPr>
        <p:spPr>
          <a:xfrm>
            <a:off x="5605272" y="3071720"/>
            <a:ext cx="1097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200"/>
              <a:buFont typeface="Calibri"/>
              <a:buNone/>
            </a:pPr>
            <a:r>
              <a:rPr b="1" lang="en" sz="22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1053" name="Google Shape;1053;p34"/>
          <p:cNvSpPr/>
          <p:nvPr/>
        </p:nvSpPr>
        <p:spPr>
          <a:xfrm>
            <a:off x="6748271" y="2980944"/>
            <a:ext cx="27433" cy="566929"/>
          </a:xfrm>
          <a:prstGeom prst="rect">
            <a:avLst/>
          </a:prstGeom>
          <a:solidFill>
            <a:srgbClr val="304A6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4"/>
          <p:cNvSpPr txBox="1"/>
          <p:nvPr/>
        </p:nvSpPr>
        <p:spPr>
          <a:xfrm>
            <a:off x="6885431" y="3067602"/>
            <a:ext cx="1865377" cy="393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with test coverage</a:t>
            </a:r>
            <a:endParaRPr/>
          </a:p>
        </p:txBody>
      </p:sp>
      <p:sp>
        <p:nvSpPr>
          <p:cNvPr id="1055" name="Google Shape;1055;p34"/>
          <p:cNvSpPr/>
          <p:nvPr/>
        </p:nvSpPr>
        <p:spPr>
          <a:xfrm>
            <a:off x="5486400" y="3749038"/>
            <a:ext cx="3401568" cy="749810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4"/>
          <p:cNvSpPr txBox="1"/>
          <p:nvPr/>
        </p:nvSpPr>
        <p:spPr>
          <a:xfrm>
            <a:off x="5605272" y="3931255"/>
            <a:ext cx="1097281" cy="385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57" name="Google Shape;1057;p34"/>
          <p:cNvSpPr/>
          <p:nvPr/>
        </p:nvSpPr>
        <p:spPr>
          <a:xfrm>
            <a:off x="6748271" y="3840479"/>
            <a:ext cx="27433" cy="566929"/>
          </a:xfrm>
          <a:prstGeom prst="rect">
            <a:avLst/>
          </a:prstGeom>
          <a:solidFill>
            <a:srgbClr val="304A6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34"/>
          <p:cNvSpPr txBox="1"/>
          <p:nvPr/>
        </p:nvSpPr>
        <p:spPr>
          <a:xfrm>
            <a:off x="6885431" y="3927137"/>
            <a:ext cx="1865377" cy="393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Memory leaks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(Valgrind verified)</a:t>
            </a:r>
            <a:endParaRPr/>
          </a:p>
        </p:txBody>
      </p:sp>
      <p:sp>
        <p:nvSpPr>
          <p:cNvPr id="1059" name="Google Shape;1059;p34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34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1061" name="Google Shape;1061;p34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1067" name="Google Shape;106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1068" name="Google Shape;106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1069" name="Google Shape;10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1070" name="Google Shape;10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1071" name="Google Shape;107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35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35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35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35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35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5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35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35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35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35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35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35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35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35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35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35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5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5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35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35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35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35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5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5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35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35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35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35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35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35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5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5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35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35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35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35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35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35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5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5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35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35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35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35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35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35"/>
          <p:cNvSpPr/>
          <p:nvPr/>
        </p:nvSpPr>
        <p:spPr>
          <a:xfrm>
            <a:off x="384047" y="182879"/>
            <a:ext cx="2679194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35"/>
          <p:cNvSpPr txBox="1"/>
          <p:nvPr/>
        </p:nvSpPr>
        <p:spPr>
          <a:xfrm>
            <a:off x="429767" y="182879"/>
            <a:ext cx="2587754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/>
          </a:p>
        </p:txBody>
      </p:sp>
      <p:sp>
        <p:nvSpPr>
          <p:cNvPr id="1119" name="Google Shape;1119;p35"/>
          <p:cNvSpPr txBox="1"/>
          <p:nvPr/>
        </p:nvSpPr>
        <p:spPr>
          <a:xfrm>
            <a:off x="457199" y="567552"/>
            <a:ext cx="8229601" cy="437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What Was Different  And How We Solved It</a:t>
            </a:r>
            <a:endParaRPr/>
          </a:p>
        </p:txBody>
      </p:sp>
      <p:sp>
        <p:nvSpPr>
          <p:cNvPr id="1120" name="Google Shape;1120;p35"/>
          <p:cNvSpPr/>
          <p:nvPr/>
        </p:nvSpPr>
        <p:spPr>
          <a:xfrm>
            <a:off x="384048" y="1234439"/>
            <a:ext cx="4251960" cy="16276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35"/>
          <p:cNvSpPr/>
          <p:nvPr/>
        </p:nvSpPr>
        <p:spPr>
          <a:xfrm>
            <a:off x="384047" y="1234439"/>
            <a:ext cx="402338" cy="1627634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35"/>
          <p:cNvSpPr txBox="1"/>
          <p:nvPr/>
        </p:nvSpPr>
        <p:spPr>
          <a:xfrm>
            <a:off x="429768" y="1919155"/>
            <a:ext cx="310896" cy="25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23" name="Google Shape;1123;p35"/>
          <p:cNvSpPr/>
          <p:nvPr/>
        </p:nvSpPr>
        <p:spPr>
          <a:xfrm>
            <a:off x="859536" y="1325880"/>
            <a:ext cx="3657601" cy="658369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5"/>
          <p:cNvSpPr txBox="1"/>
          <p:nvPr/>
        </p:nvSpPr>
        <p:spPr>
          <a:xfrm>
            <a:off x="996696" y="1482257"/>
            <a:ext cx="342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lang="en" sz="900">
                <a:solidFill>
                  <a:srgbClr val="6B1A1A"/>
                </a:solidFill>
                <a:latin typeface="Calibri"/>
                <a:ea typeface="Calibri"/>
                <a:cs typeface="Calibri"/>
                <a:sym typeface="Calibri"/>
              </a:rPr>
              <a:t>Organizing multiple components - The project involved several different </a:t>
            </a:r>
            <a:r>
              <a:rPr lang="en" sz="900">
                <a:solidFill>
                  <a:srgbClr val="6B1A1A"/>
                </a:solidFill>
                <a:latin typeface="Calibri"/>
                <a:ea typeface="Calibri"/>
                <a:cs typeface="Calibri"/>
                <a:sym typeface="Calibri"/>
              </a:rPr>
              <a:t>responsibilities: building setup, elevator storage, scheduling logic, and simulation output. </a:t>
            </a:r>
            <a:endParaRPr/>
          </a:p>
        </p:txBody>
      </p:sp>
      <p:sp>
        <p:nvSpPr>
          <p:cNvPr id="1125" name="Google Shape;1125;p35"/>
          <p:cNvSpPr/>
          <p:nvPr/>
        </p:nvSpPr>
        <p:spPr>
          <a:xfrm>
            <a:off x="859536" y="2057400"/>
            <a:ext cx="3657601" cy="658369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6" name="Google Shape;1126;p35"/>
          <p:cNvSpPr txBox="1"/>
          <p:nvPr/>
        </p:nvSpPr>
        <p:spPr>
          <a:xfrm>
            <a:off x="996696" y="2213777"/>
            <a:ext cx="34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We used object-oriented programming and split the system into separate classes so each part had a clear job. </a:t>
            </a:r>
            <a:endParaRPr/>
          </a:p>
        </p:txBody>
      </p:sp>
      <p:sp>
        <p:nvSpPr>
          <p:cNvPr id="1127" name="Google Shape;1127;p35"/>
          <p:cNvSpPr/>
          <p:nvPr/>
        </p:nvSpPr>
        <p:spPr>
          <a:xfrm>
            <a:off x="4818888" y="1234439"/>
            <a:ext cx="4251960" cy="162763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35"/>
          <p:cNvSpPr/>
          <p:nvPr/>
        </p:nvSpPr>
        <p:spPr>
          <a:xfrm>
            <a:off x="4818888" y="1234439"/>
            <a:ext cx="402337" cy="1627634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5"/>
          <p:cNvSpPr txBox="1"/>
          <p:nvPr/>
        </p:nvSpPr>
        <p:spPr>
          <a:xfrm>
            <a:off x="4864608" y="1919155"/>
            <a:ext cx="310897" cy="25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30" name="Google Shape;1130;p35"/>
          <p:cNvSpPr/>
          <p:nvPr/>
        </p:nvSpPr>
        <p:spPr>
          <a:xfrm>
            <a:off x="5294374" y="1325880"/>
            <a:ext cx="3657601" cy="658369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35"/>
          <p:cNvSpPr txBox="1"/>
          <p:nvPr/>
        </p:nvSpPr>
        <p:spPr>
          <a:xfrm>
            <a:off x="5431535" y="1482257"/>
            <a:ext cx="342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lang="en" sz="900">
                <a:solidFill>
                  <a:srgbClr val="6B1A1A"/>
                </a:solidFill>
                <a:latin typeface="Calibri"/>
                <a:ea typeface="Calibri"/>
                <a:cs typeface="Calibri"/>
                <a:sym typeface="Calibri"/>
              </a:rPr>
              <a:t>Supporting different scheduling algorithms - The program needed to work with FCFS, SSTF, and SCAN while keeping the main structure clean. </a:t>
            </a:r>
            <a:endParaRPr/>
          </a:p>
        </p:txBody>
      </p:sp>
      <p:sp>
        <p:nvSpPr>
          <p:cNvPr id="1132" name="Google Shape;1132;p35"/>
          <p:cNvSpPr/>
          <p:nvPr/>
        </p:nvSpPr>
        <p:spPr>
          <a:xfrm>
            <a:off x="5294374" y="2057400"/>
            <a:ext cx="3657601" cy="658369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35"/>
          <p:cNvSpPr txBox="1"/>
          <p:nvPr/>
        </p:nvSpPr>
        <p:spPr>
          <a:xfrm>
            <a:off x="5431535" y="2213777"/>
            <a:ext cx="34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We created a Scheduler class that handles path generation based on the user’s chosen algorithm. </a:t>
            </a:r>
            <a:endParaRPr/>
          </a:p>
        </p:txBody>
      </p:sp>
      <p:sp>
        <p:nvSpPr>
          <p:cNvPr id="1134" name="Google Shape;1134;p35"/>
          <p:cNvSpPr/>
          <p:nvPr/>
        </p:nvSpPr>
        <p:spPr>
          <a:xfrm>
            <a:off x="384048" y="2990088"/>
            <a:ext cx="4251960" cy="1627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35"/>
          <p:cNvSpPr/>
          <p:nvPr/>
        </p:nvSpPr>
        <p:spPr>
          <a:xfrm>
            <a:off x="384047" y="2990088"/>
            <a:ext cx="402338" cy="162763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35"/>
          <p:cNvSpPr txBox="1"/>
          <p:nvPr/>
        </p:nvSpPr>
        <p:spPr>
          <a:xfrm>
            <a:off x="429768" y="3674802"/>
            <a:ext cx="310896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37" name="Google Shape;1137;p35"/>
          <p:cNvSpPr/>
          <p:nvPr/>
        </p:nvSpPr>
        <p:spPr>
          <a:xfrm>
            <a:off x="859536" y="3081527"/>
            <a:ext cx="3657601" cy="658369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35"/>
          <p:cNvSpPr txBox="1"/>
          <p:nvPr/>
        </p:nvSpPr>
        <p:spPr>
          <a:xfrm>
            <a:off x="996696" y="3237905"/>
            <a:ext cx="34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Challenge:</a:t>
            </a: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rgbClr val="6B1A1A"/>
                </a:solidFill>
                <a:latin typeface="Calibri"/>
                <a:ea typeface="Calibri"/>
                <a:cs typeface="Calibri"/>
                <a:sym typeface="Calibri"/>
              </a:rPr>
              <a:t>Handling invalid user input - Users could enter invalid floor numbers or invalid building settings. </a:t>
            </a:r>
            <a:endParaRPr/>
          </a:p>
        </p:txBody>
      </p:sp>
      <p:sp>
        <p:nvSpPr>
          <p:cNvPr id="1139" name="Google Shape;1139;p35"/>
          <p:cNvSpPr/>
          <p:nvPr/>
        </p:nvSpPr>
        <p:spPr>
          <a:xfrm>
            <a:off x="859536" y="3813047"/>
            <a:ext cx="3657601" cy="658369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35"/>
          <p:cNvSpPr txBox="1"/>
          <p:nvPr/>
        </p:nvSpPr>
        <p:spPr>
          <a:xfrm>
            <a:off x="996696" y="3969425"/>
            <a:ext cx="34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We added validation checks and defaulted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invalid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 elevator start floors to floor 1 when needed. </a:t>
            </a:r>
            <a:endParaRPr/>
          </a:p>
        </p:txBody>
      </p:sp>
      <p:sp>
        <p:nvSpPr>
          <p:cNvPr id="1141" name="Google Shape;1141;p35"/>
          <p:cNvSpPr/>
          <p:nvPr/>
        </p:nvSpPr>
        <p:spPr>
          <a:xfrm>
            <a:off x="4818888" y="2990088"/>
            <a:ext cx="4251960" cy="162763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5"/>
          <p:cNvSpPr/>
          <p:nvPr/>
        </p:nvSpPr>
        <p:spPr>
          <a:xfrm>
            <a:off x="4818888" y="2990088"/>
            <a:ext cx="402337" cy="162763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5"/>
          <p:cNvSpPr txBox="1"/>
          <p:nvPr/>
        </p:nvSpPr>
        <p:spPr>
          <a:xfrm>
            <a:off x="4864608" y="3674802"/>
            <a:ext cx="310897" cy="2582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144" name="Google Shape;1144;p35"/>
          <p:cNvSpPr/>
          <p:nvPr/>
        </p:nvSpPr>
        <p:spPr>
          <a:xfrm>
            <a:off x="5294374" y="3081527"/>
            <a:ext cx="3657601" cy="658369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35"/>
          <p:cNvSpPr txBox="1"/>
          <p:nvPr/>
        </p:nvSpPr>
        <p:spPr>
          <a:xfrm>
            <a:off x="5431535" y="3237905"/>
            <a:ext cx="34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lang="en" sz="900">
                <a:solidFill>
                  <a:srgbClr val="6B1A1A"/>
                </a:solidFill>
                <a:latin typeface="Calibri"/>
                <a:ea typeface="Calibri"/>
                <a:cs typeface="Calibri"/>
                <a:sym typeface="Calibri"/>
              </a:rPr>
              <a:t>Making output easy to read - Raw queues and paths can be hard to understand in plain console </a:t>
            </a:r>
            <a:r>
              <a:rPr lang="en" sz="900">
                <a:solidFill>
                  <a:srgbClr val="6B1A1A"/>
                </a:solidFill>
                <a:latin typeface="Calibri"/>
                <a:ea typeface="Calibri"/>
                <a:cs typeface="Calibri"/>
                <a:sym typeface="Calibri"/>
              </a:rPr>
              <a:t>output. </a:t>
            </a:r>
            <a:endParaRPr/>
          </a:p>
        </p:txBody>
      </p:sp>
      <p:sp>
        <p:nvSpPr>
          <p:cNvPr id="1146" name="Google Shape;1146;p35"/>
          <p:cNvSpPr/>
          <p:nvPr/>
        </p:nvSpPr>
        <p:spPr>
          <a:xfrm>
            <a:off x="5294374" y="3813047"/>
            <a:ext cx="3657601" cy="658369"/>
          </a:xfrm>
          <a:prstGeom prst="rect">
            <a:avLst/>
          </a:prstGeom>
          <a:solidFill>
            <a:srgbClr val="E8F0FB"/>
          </a:solidFill>
          <a:ln cap="flat" cmpd="sng" w="9525">
            <a:solidFill>
              <a:srgbClr val="C5D8F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5"/>
          <p:cNvSpPr txBox="1"/>
          <p:nvPr/>
        </p:nvSpPr>
        <p:spPr>
          <a:xfrm>
            <a:off x="5431535" y="3899575"/>
            <a:ext cx="34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We created the printPath() helper function to display floor paths clearly using arrows. </a:t>
            </a:r>
            <a:endParaRPr/>
          </a:p>
        </p:txBody>
      </p:sp>
      <p:sp>
        <p:nvSpPr>
          <p:cNvPr id="1148" name="Google Shape;1148;p35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5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1150" name="Google Shape;1150;p35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1156" name="Google Shape;11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14400" y="-914400"/>
            <a:ext cx="1463040" cy="14630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1157" name="Google Shape;115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0664" y="-740664"/>
            <a:ext cx="1115568" cy="111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1158" name="Google Shape;115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4663440"/>
            <a:ext cx="1280161" cy="1280161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36"/>
          <p:cNvSpPr/>
          <p:nvPr/>
        </p:nvSpPr>
        <p:spPr>
          <a:xfrm>
            <a:off x="7589519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6"/>
          <p:cNvSpPr/>
          <p:nvPr/>
        </p:nvSpPr>
        <p:spPr>
          <a:xfrm>
            <a:off x="7735823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6"/>
          <p:cNvSpPr/>
          <p:nvPr/>
        </p:nvSpPr>
        <p:spPr>
          <a:xfrm>
            <a:off x="7882128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36"/>
          <p:cNvSpPr/>
          <p:nvPr/>
        </p:nvSpPr>
        <p:spPr>
          <a:xfrm>
            <a:off x="8028431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36"/>
          <p:cNvSpPr/>
          <p:nvPr/>
        </p:nvSpPr>
        <p:spPr>
          <a:xfrm>
            <a:off x="8174735" y="109728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36"/>
          <p:cNvSpPr/>
          <p:nvPr/>
        </p:nvSpPr>
        <p:spPr>
          <a:xfrm>
            <a:off x="7589519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6"/>
          <p:cNvSpPr/>
          <p:nvPr/>
        </p:nvSpPr>
        <p:spPr>
          <a:xfrm>
            <a:off x="7735823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36"/>
          <p:cNvSpPr/>
          <p:nvPr/>
        </p:nvSpPr>
        <p:spPr>
          <a:xfrm>
            <a:off x="7882128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36"/>
          <p:cNvSpPr/>
          <p:nvPr/>
        </p:nvSpPr>
        <p:spPr>
          <a:xfrm>
            <a:off x="8028431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36"/>
          <p:cNvSpPr/>
          <p:nvPr/>
        </p:nvSpPr>
        <p:spPr>
          <a:xfrm>
            <a:off x="8174735" y="256031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36"/>
          <p:cNvSpPr/>
          <p:nvPr/>
        </p:nvSpPr>
        <p:spPr>
          <a:xfrm>
            <a:off x="7589519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36"/>
          <p:cNvSpPr/>
          <p:nvPr/>
        </p:nvSpPr>
        <p:spPr>
          <a:xfrm>
            <a:off x="7735823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36"/>
          <p:cNvSpPr/>
          <p:nvPr/>
        </p:nvSpPr>
        <p:spPr>
          <a:xfrm>
            <a:off x="7882128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36"/>
          <p:cNvSpPr/>
          <p:nvPr/>
        </p:nvSpPr>
        <p:spPr>
          <a:xfrm>
            <a:off x="8028431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36"/>
          <p:cNvSpPr/>
          <p:nvPr/>
        </p:nvSpPr>
        <p:spPr>
          <a:xfrm>
            <a:off x="8174735" y="402336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36"/>
          <p:cNvSpPr/>
          <p:nvPr/>
        </p:nvSpPr>
        <p:spPr>
          <a:xfrm>
            <a:off x="7589519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36"/>
          <p:cNvSpPr/>
          <p:nvPr/>
        </p:nvSpPr>
        <p:spPr>
          <a:xfrm>
            <a:off x="7735823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36"/>
          <p:cNvSpPr/>
          <p:nvPr/>
        </p:nvSpPr>
        <p:spPr>
          <a:xfrm>
            <a:off x="7882128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36"/>
          <p:cNvSpPr/>
          <p:nvPr/>
        </p:nvSpPr>
        <p:spPr>
          <a:xfrm>
            <a:off x="8028431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36"/>
          <p:cNvSpPr/>
          <p:nvPr/>
        </p:nvSpPr>
        <p:spPr>
          <a:xfrm>
            <a:off x="8174735" y="548640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36"/>
          <p:cNvSpPr/>
          <p:nvPr/>
        </p:nvSpPr>
        <p:spPr>
          <a:xfrm>
            <a:off x="7589519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36"/>
          <p:cNvSpPr/>
          <p:nvPr/>
        </p:nvSpPr>
        <p:spPr>
          <a:xfrm>
            <a:off x="7735823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36"/>
          <p:cNvSpPr/>
          <p:nvPr/>
        </p:nvSpPr>
        <p:spPr>
          <a:xfrm>
            <a:off x="7882128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36"/>
          <p:cNvSpPr/>
          <p:nvPr/>
        </p:nvSpPr>
        <p:spPr>
          <a:xfrm>
            <a:off x="8028431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36"/>
          <p:cNvSpPr/>
          <p:nvPr/>
        </p:nvSpPr>
        <p:spPr>
          <a:xfrm>
            <a:off x="8174735" y="694944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36"/>
          <p:cNvSpPr/>
          <p:nvPr/>
        </p:nvSpPr>
        <p:spPr>
          <a:xfrm>
            <a:off x="7589519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36"/>
          <p:cNvSpPr/>
          <p:nvPr/>
        </p:nvSpPr>
        <p:spPr>
          <a:xfrm>
            <a:off x="7735823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36"/>
          <p:cNvSpPr/>
          <p:nvPr/>
        </p:nvSpPr>
        <p:spPr>
          <a:xfrm>
            <a:off x="7882128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36"/>
          <p:cNvSpPr/>
          <p:nvPr/>
        </p:nvSpPr>
        <p:spPr>
          <a:xfrm>
            <a:off x="8028431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36"/>
          <p:cNvSpPr/>
          <p:nvPr/>
        </p:nvSpPr>
        <p:spPr>
          <a:xfrm>
            <a:off x="8174735" y="841247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36"/>
          <p:cNvSpPr/>
          <p:nvPr/>
        </p:nvSpPr>
        <p:spPr>
          <a:xfrm>
            <a:off x="7589519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36"/>
          <p:cNvSpPr/>
          <p:nvPr/>
        </p:nvSpPr>
        <p:spPr>
          <a:xfrm>
            <a:off x="7735823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36"/>
          <p:cNvSpPr/>
          <p:nvPr/>
        </p:nvSpPr>
        <p:spPr>
          <a:xfrm>
            <a:off x="7882128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36"/>
          <p:cNvSpPr/>
          <p:nvPr/>
        </p:nvSpPr>
        <p:spPr>
          <a:xfrm>
            <a:off x="8028431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6"/>
          <p:cNvSpPr/>
          <p:nvPr/>
        </p:nvSpPr>
        <p:spPr>
          <a:xfrm>
            <a:off x="8174735" y="987552"/>
            <a:ext cx="36577" cy="36577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36"/>
          <p:cNvSpPr/>
          <p:nvPr/>
        </p:nvSpPr>
        <p:spPr>
          <a:xfrm>
            <a:off x="457200" y="182879"/>
            <a:ext cx="1943100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36"/>
          <p:cNvSpPr txBox="1"/>
          <p:nvPr/>
        </p:nvSpPr>
        <p:spPr>
          <a:xfrm>
            <a:off x="502919" y="182879"/>
            <a:ext cx="1851662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/>
          </a:p>
        </p:txBody>
      </p:sp>
      <p:sp>
        <p:nvSpPr>
          <p:cNvPr id="1196" name="Google Shape;1196;p36"/>
          <p:cNvSpPr txBox="1"/>
          <p:nvPr/>
        </p:nvSpPr>
        <p:spPr>
          <a:xfrm>
            <a:off x="457199" y="541407"/>
            <a:ext cx="8229601" cy="4899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/>
          </a:p>
        </p:txBody>
      </p:sp>
      <p:sp>
        <p:nvSpPr>
          <p:cNvPr id="1197" name="Google Shape;1197;p36"/>
          <p:cNvSpPr/>
          <p:nvPr/>
        </p:nvSpPr>
        <p:spPr>
          <a:xfrm>
            <a:off x="347472" y="1225296"/>
            <a:ext cx="4261104" cy="1078993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6"/>
          <p:cNvSpPr/>
          <p:nvPr/>
        </p:nvSpPr>
        <p:spPr>
          <a:xfrm>
            <a:off x="347472" y="1225296"/>
            <a:ext cx="54865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6"/>
          <p:cNvSpPr/>
          <p:nvPr/>
        </p:nvSpPr>
        <p:spPr>
          <a:xfrm>
            <a:off x="512063" y="1609344"/>
            <a:ext cx="438913" cy="438912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36"/>
          <p:cNvSpPr txBox="1"/>
          <p:nvPr/>
        </p:nvSpPr>
        <p:spPr>
          <a:xfrm>
            <a:off x="557784" y="1688400"/>
            <a:ext cx="347472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01" name="Google Shape;1201;p36"/>
          <p:cNvSpPr txBox="1"/>
          <p:nvPr/>
        </p:nvSpPr>
        <p:spPr>
          <a:xfrm>
            <a:off x="1124711" y="1316736"/>
            <a:ext cx="331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OOP </a:t>
            </a: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Makes large Programs Easier to Manage</a:t>
            </a:r>
            <a:endParaRPr/>
          </a:p>
        </p:txBody>
      </p:sp>
      <p:sp>
        <p:nvSpPr>
          <p:cNvPr id="1202" name="Google Shape;1202;p36"/>
          <p:cNvSpPr txBox="1"/>
          <p:nvPr/>
        </p:nvSpPr>
        <p:spPr>
          <a:xfrm>
            <a:off x="1124711" y="1645920"/>
            <a:ext cx="33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Separating the project into classes made the code more modular and easier to debug. </a:t>
            </a:r>
            <a:endParaRPr/>
          </a:p>
        </p:txBody>
      </p:sp>
      <p:sp>
        <p:nvSpPr>
          <p:cNvPr id="1203" name="Google Shape;1203;p36"/>
          <p:cNvSpPr/>
          <p:nvPr/>
        </p:nvSpPr>
        <p:spPr>
          <a:xfrm>
            <a:off x="4809744" y="1225296"/>
            <a:ext cx="4261104" cy="1078993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36"/>
          <p:cNvSpPr/>
          <p:nvPr/>
        </p:nvSpPr>
        <p:spPr>
          <a:xfrm>
            <a:off x="4809744" y="1225296"/>
            <a:ext cx="54865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36"/>
          <p:cNvSpPr/>
          <p:nvPr/>
        </p:nvSpPr>
        <p:spPr>
          <a:xfrm>
            <a:off x="4974335" y="1609344"/>
            <a:ext cx="438913" cy="438912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36"/>
          <p:cNvSpPr txBox="1"/>
          <p:nvPr/>
        </p:nvSpPr>
        <p:spPr>
          <a:xfrm>
            <a:off x="5020055" y="1688400"/>
            <a:ext cx="347473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07" name="Google Shape;1207;p36"/>
          <p:cNvSpPr txBox="1"/>
          <p:nvPr/>
        </p:nvSpPr>
        <p:spPr>
          <a:xfrm>
            <a:off x="5586984" y="1316736"/>
            <a:ext cx="331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Scheduling Algorithms Affect Efficiency</a:t>
            </a:r>
            <a:endParaRPr/>
          </a:p>
        </p:txBody>
      </p:sp>
      <p:sp>
        <p:nvSpPr>
          <p:cNvPr id="1208" name="Google Shape;1208;p36"/>
          <p:cNvSpPr txBox="1"/>
          <p:nvPr/>
        </p:nvSpPr>
        <p:spPr>
          <a:xfrm>
            <a:off x="5586984" y="1645920"/>
            <a:ext cx="33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Different algorithms can lead to different elevator paths and different performance. </a:t>
            </a:r>
            <a:endParaRPr/>
          </a:p>
        </p:txBody>
      </p:sp>
      <p:sp>
        <p:nvSpPr>
          <p:cNvPr id="1209" name="Google Shape;1209;p36"/>
          <p:cNvSpPr/>
          <p:nvPr/>
        </p:nvSpPr>
        <p:spPr>
          <a:xfrm>
            <a:off x="347472" y="2432304"/>
            <a:ext cx="4261104" cy="1078993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36"/>
          <p:cNvSpPr/>
          <p:nvPr/>
        </p:nvSpPr>
        <p:spPr>
          <a:xfrm>
            <a:off x="347472" y="2432304"/>
            <a:ext cx="54865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6"/>
          <p:cNvSpPr/>
          <p:nvPr/>
        </p:nvSpPr>
        <p:spPr>
          <a:xfrm>
            <a:off x="512063" y="2816351"/>
            <a:ext cx="438913" cy="438913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36"/>
          <p:cNvSpPr txBox="1"/>
          <p:nvPr/>
        </p:nvSpPr>
        <p:spPr>
          <a:xfrm>
            <a:off x="557784" y="2895408"/>
            <a:ext cx="347472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213" name="Google Shape;1213;p36"/>
          <p:cNvSpPr txBox="1"/>
          <p:nvPr/>
        </p:nvSpPr>
        <p:spPr>
          <a:xfrm>
            <a:off x="1124711" y="2523744"/>
            <a:ext cx="331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 Validation Is Important</a:t>
            </a:r>
            <a:endParaRPr/>
          </a:p>
        </p:txBody>
      </p:sp>
      <p:sp>
        <p:nvSpPr>
          <p:cNvPr id="1214" name="Google Shape;1214;p36"/>
          <p:cNvSpPr txBox="1"/>
          <p:nvPr/>
        </p:nvSpPr>
        <p:spPr>
          <a:xfrm>
            <a:off x="1124711" y="2852927"/>
            <a:ext cx="331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Even a simple simulation needs strong checks to avoid bad behavior.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15" name="Google Shape;1215;p36"/>
          <p:cNvSpPr/>
          <p:nvPr/>
        </p:nvSpPr>
        <p:spPr>
          <a:xfrm>
            <a:off x="4809744" y="2432304"/>
            <a:ext cx="4261104" cy="1078993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6"/>
          <p:cNvSpPr/>
          <p:nvPr/>
        </p:nvSpPr>
        <p:spPr>
          <a:xfrm>
            <a:off x="4809744" y="2432304"/>
            <a:ext cx="54865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6"/>
          <p:cNvSpPr/>
          <p:nvPr/>
        </p:nvSpPr>
        <p:spPr>
          <a:xfrm>
            <a:off x="4974335" y="2816351"/>
            <a:ext cx="438913" cy="438913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6"/>
          <p:cNvSpPr txBox="1"/>
          <p:nvPr/>
        </p:nvSpPr>
        <p:spPr>
          <a:xfrm>
            <a:off x="5020055" y="2895408"/>
            <a:ext cx="347473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19" name="Google Shape;1219;p36"/>
          <p:cNvSpPr txBox="1"/>
          <p:nvPr/>
        </p:nvSpPr>
        <p:spPr>
          <a:xfrm>
            <a:off x="5586984" y="2523744"/>
            <a:ext cx="331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Clear Output Improves Debugging </a:t>
            </a:r>
            <a:endParaRPr/>
          </a:p>
        </p:txBody>
      </p:sp>
      <p:sp>
        <p:nvSpPr>
          <p:cNvPr id="1220" name="Google Shape;1220;p36"/>
          <p:cNvSpPr txBox="1"/>
          <p:nvPr/>
        </p:nvSpPr>
        <p:spPr>
          <a:xfrm>
            <a:off x="5586984" y="2852927"/>
            <a:ext cx="3310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Printing </a:t>
            </a:r>
            <a:r>
              <a:rPr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queues, paths, and movement logs helped us verify that the program worked correctly.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21" name="Google Shape;1221;p36"/>
          <p:cNvSpPr/>
          <p:nvPr/>
        </p:nvSpPr>
        <p:spPr>
          <a:xfrm>
            <a:off x="347472" y="3639311"/>
            <a:ext cx="4261104" cy="1078993"/>
          </a:xfrm>
          <a:prstGeom prst="rect">
            <a:avLst/>
          </a:prstGeom>
          <a:solidFill>
            <a:srgbClr val="0A1A3A"/>
          </a:solidFill>
          <a:ln cap="flat" cmpd="sng" w="95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6"/>
          <p:cNvSpPr/>
          <p:nvPr/>
        </p:nvSpPr>
        <p:spPr>
          <a:xfrm>
            <a:off x="347472" y="3639311"/>
            <a:ext cx="54865" cy="107899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6"/>
          <p:cNvSpPr/>
          <p:nvPr/>
        </p:nvSpPr>
        <p:spPr>
          <a:xfrm>
            <a:off x="512063" y="4023359"/>
            <a:ext cx="438913" cy="438913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6"/>
          <p:cNvSpPr txBox="1"/>
          <p:nvPr/>
        </p:nvSpPr>
        <p:spPr>
          <a:xfrm>
            <a:off x="557784" y="4102416"/>
            <a:ext cx="347472" cy="2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25" name="Google Shape;1225;p36"/>
          <p:cNvSpPr txBox="1"/>
          <p:nvPr/>
        </p:nvSpPr>
        <p:spPr>
          <a:xfrm>
            <a:off x="1124711" y="3730752"/>
            <a:ext cx="3310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Helps Model Real Systems </a:t>
            </a:r>
            <a:endParaRPr/>
          </a:p>
        </p:txBody>
      </p:sp>
      <p:sp>
        <p:nvSpPr>
          <p:cNvPr id="1226" name="Google Shape;1226;p36"/>
          <p:cNvSpPr txBox="1"/>
          <p:nvPr/>
        </p:nvSpPr>
        <p:spPr>
          <a:xfrm>
            <a:off x="1124711" y="4059935"/>
            <a:ext cx="33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This project showed how code can represent a real world engineering </a:t>
            </a:r>
            <a:r>
              <a:rPr lang="en" sz="900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system in a controlled environment.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7" name="Google Shape;1227;p36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6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1229" name="Google Shape;1229;p36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1235" name="Google Shape;123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16635" y="-544069"/>
            <a:ext cx="777241" cy="777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1236" name="Google Shape;123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25196" y="-452628"/>
            <a:ext cx="594360" cy="594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1237" name="Google Shape;123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38" y="132587"/>
            <a:ext cx="502921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1238" name="Google Shape;123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42831" y="-457200"/>
            <a:ext cx="731521" cy="731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1239" name="Google Shape;123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1664" y="4928615"/>
            <a:ext cx="658369" cy="658369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37"/>
          <p:cNvSpPr/>
          <p:nvPr/>
        </p:nvSpPr>
        <p:spPr>
          <a:xfrm>
            <a:off x="7498078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37"/>
          <p:cNvSpPr/>
          <p:nvPr/>
        </p:nvSpPr>
        <p:spPr>
          <a:xfrm>
            <a:off x="7626095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37"/>
          <p:cNvSpPr/>
          <p:nvPr/>
        </p:nvSpPr>
        <p:spPr>
          <a:xfrm>
            <a:off x="7754111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37"/>
          <p:cNvSpPr/>
          <p:nvPr/>
        </p:nvSpPr>
        <p:spPr>
          <a:xfrm>
            <a:off x="7882126" y="73152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37"/>
          <p:cNvSpPr/>
          <p:nvPr/>
        </p:nvSpPr>
        <p:spPr>
          <a:xfrm>
            <a:off x="7498078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37"/>
          <p:cNvSpPr/>
          <p:nvPr/>
        </p:nvSpPr>
        <p:spPr>
          <a:xfrm>
            <a:off x="7626095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37"/>
          <p:cNvSpPr/>
          <p:nvPr/>
        </p:nvSpPr>
        <p:spPr>
          <a:xfrm>
            <a:off x="7754111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37"/>
          <p:cNvSpPr/>
          <p:nvPr/>
        </p:nvSpPr>
        <p:spPr>
          <a:xfrm>
            <a:off x="7882126" y="201168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37"/>
          <p:cNvSpPr/>
          <p:nvPr/>
        </p:nvSpPr>
        <p:spPr>
          <a:xfrm>
            <a:off x="7498078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37"/>
          <p:cNvSpPr/>
          <p:nvPr/>
        </p:nvSpPr>
        <p:spPr>
          <a:xfrm>
            <a:off x="7626095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37"/>
          <p:cNvSpPr/>
          <p:nvPr/>
        </p:nvSpPr>
        <p:spPr>
          <a:xfrm>
            <a:off x="7754111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37"/>
          <p:cNvSpPr/>
          <p:nvPr/>
        </p:nvSpPr>
        <p:spPr>
          <a:xfrm>
            <a:off x="7882126" y="329184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37"/>
          <p:cNvSpPr/>
          <p:nvPr/>
        </p:nvSpPr>
        <p:spPr>
          <a:xfrm>
            <a:off x="7498078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37"/>
          <p:cNvSpPr/>
          <p:nvPr/>
        </p:nvSpPr>
        <p:spPr>
          <a:xfrm>
            <a:off x="7626095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37"/>
          <p:cNvSpPr/>
          <p:nvPr/>
        </p:nvSpPr>
        <p:spPr>
          <a:xfrm>
            <a:off x="7754111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37"/>
          <p:cNvSpPr/>
          <p:nvPr/>
        </p:nvSpPr>
        <p:spPr>
          <a:xfrm>
            <a:off x="7882126" y="457200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37"/>
          <p:cNvSpPr/>
          <p:nvPr/>
        </p:nvSpPr>
        <p:spPr>
          <a:xfrm>
            <a:off x="7498078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37"/>
          <p:cNvSpPr/>
          <p:nvPr/>
        </p:nvSpPr>
        <p:spPr>
          <a:xfrm>
            <a:off x="7626095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8" name="Google Shape;1258;p37"/>
          <p:cNvSpPr/>
          <p:nvPr/>
        </p:nvSpPr>
        <p:spPr>
          <a:xfrm>
            <a:off x="7754111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37"/>
          <p:cNvSpPr/>
          <p:nvPr/>
        </p:nvSpPr>
        <p:spPr>
          <a:xfrm>
            <a:off x="7882126" y="585216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37"/>
          <p:cNvSpPr/>
          <p:nvPr/>
        </p:nvSpPr>
        <p:spPr>
          <a:xfrm>
            <a:off x="7498078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37"/>
          <p:cNvSpPr/>
          <p:nvPr/>
        </p:nvSpPr>
        <p:spPr>
          <a:xfrm>
            <a:off x="7626095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37"/>
          <p:cNvSpPr/>
          <p:nvPr/>
        </p:nvSpPr>
        <p:spPr>
          <a:xfrm>
            <a:off x="7754111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37"/>
          <p:cNvSpPr/>
          <p:nvPr/>
        </p:nvSpPr>
        <p:spPr>
          <a:xfrm>
            <a:off x="7882126" y="713231"/>
            <a:ext cx="34749" cy="347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37"/>
          <p:cNvSpPr/>
          <p:nvPr/>
        </p:nvSpPr>
        <p:spPr>
          <a:xfrm>
            <a:off x="91439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37"/>
          <p:cNvSpPr/>
          <p:nvPr/>
        </p:nvSpPr>
        <p:spPr>
          <a:xfrm>
            <a:off x="219456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37"/>
          <p:cNvSpPr/>
          <p:nvPr/>
        </p:nvSpPr>
        <p:spPr>
          <a:xfrm>
            <a:off x="347472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37"/>
          <p:cNvSpPr/>
          <p:nvPr/>
        </p:nvSpPr>
        <p:spPr>
          <a:xfrm>
            <a:off x="475487" y="4114800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37"/>
          <p:cNvSpPr/>
          <p:nvPr/>
        </p:nvSpPr>
        <p:spPr>
          <a:xfrm>
            <a:off x="91439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37"/>
          <p:cNvSpPr/>
          <p:nvPr/>
        </p:nvSpPr>
        <p:spPr>
          <a:xfrm>
            <a:off x="219456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37"/>
          <p:cNvSpPr/>
          <p:nvPr/>
        </p:nvSpPr>
        <p:spPr>
          <a:xfrm>
            <a:off x="347472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37"/>
          <p:cNvSpPr/>
          <p:nvPr/>
        </p:nvSpPr>
        <p:spPr>
          <a:xfrm>
            <a:off x="475487" y="4242815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37"/>
          <p:cNvSpPr/>
          <p:nvPr/>
        </p:nvSpPr>
        <p:spPr>
          <a:xfrm>
            <a:off x="91439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37"/>
          <p:cNvSpPr/>
          <p:nvPr/>
        </p:nvSpPr>
        <p:spPr>
          <a:xfrm>
            <a:off x="219456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37"/>
          <p:cNvSpPr/>
          <p:nvPr/>
        </p:nvSpPr>
        <p:spPr>
          <a:xfrm>
            <a:off x="347472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7"/>
          <p:cNvSpPr/>
          <p:nvPr/>
        </p:nvSpPr>
        <p:spPr>
          <a:xfrm>
            <a:off x="475487" y="4370832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7"/>
          <p:cNvSpPr/>
          <p:nvPr/>
        </p:nvSpPr>
        <p:spPr>
          <a:xfrm>
            <a:off x="91439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37"/>
          <p:cNvSpPr/>
          <p:nvPr/>
        </p:nvSpPr>
        <p:spPr>
          <a:xfrm>
            <a:off x="219456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37"/>
          <p:cNvSpPr/>
          <p:nvPr/>
        </p:nvSpPr>
        <p:spPr>
          <a:xfrm>
            <a:off x="347472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7"/>
          <p:cNvSpPr/>
          <p:nvPr/>
        </p:nvSpPr>
        <p:spPr>
          <a:xfrm>
            <a:off x="475487" y="4498847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7"/>
          <p:cNvSpPr/>
          <p:nvPr/>
        </p:nvSpPr>
        <p:spPr>
          <a:xfrm>
            <a:off x="91439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7"/>
          <p:cNvSpPr/>
          <p:nvPr/>
        </p:nvSpPr>
        <p:spPr>
          <a:xfrm>
            <a:off x="219456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37"/>
          <p:cNvSpPr/>
          <p:nvPr/>
        </p:nvSpPr>
        <p:spPr>
          <a:xfrm>
            <a:off x="347472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37"/>
          <p:cNvSpPr/>
          <p:nvPr/>
        </p:nvSpPr>
        <p:spPr>
          <a:xfrm>
            <a:off x="475487" y="4626864"/>
            <a:ext cx="34749" cy="347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37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7"/>
          <p:cNvSpPr/>
          <p:nvPr/>
        </p:nvSpPr>
        <p:spPr>
          <a:xfrm>
            <a:off x="384047" y="182879"/>
            <a:ext cx="1522477" cy="274321"/>
          </a:xfrm>
          <a:prstGeom prst="roundRect">
            <a:avLst>
              <a:gd fmla="val 12000" name="adj"/>
            </a:avLst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7"/>
          <p:cNvSpPr txBox="1"/>
          <p:nvPr/>
        </p:nvSpPr>
        <p:spPr>
          <a:xfrm>
            <a:off x="429767" y="182879"/>
            <a:ext cx="1431038" cy="196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287" name="Google Shape;1287;p37"/>
          <p:cNvSpPr txBox="1"/>
          <p:nvPr/>
        </p:nvSpPr>
        <p:spPr>
          <a:xfrm>
            <a:off x="457199" y="564005"/>
            <a:ext cx="8229601" cy="44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Project Limitations &amp; Future Work</a:t>
            </a:r>
            <a:endParaRPr/>
          </a:p>
        </p:txBody>
      </p:sp>
      <p:sp>
        <p:nvSpPr>
          <p:cNvPr id="1288" name="Google Shape;1288;p37"/>
          <p:cNvSpPr/>
          <p:nvPr/>
        </p:nvSpPr>
        <p:spPr>
          <a:xfrm>
            <a:off x="384048" y="1234439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37"/>
          <p:cNvSpPr/>
          <p:nvPr/>
        </p:nvSpPr>
        <p:spPr>
          <a:xfrm>
            <a:off x="384048" y="1234439"/>
            <a:ext cx="4251960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37"/>
          <p:cNvSpPr txBox="1"/>
          <p:nvPr/>
        </p:nvSpPr>
        <p:spPr>
          <a:xfrm>
            <a:off x="557783" y="1286178"/>
            <a:ext cx="393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Console-Only Output</a:t>
            </a:r>
            <a:endParaRPr/>
          </a:p>
        </p:txBody>
      </p:sp>
      <p:sp>
        <p:nvSpPr>
          <p:cNvPr id="1291" name="Google Shape;1291;p37"/>
          <p:cNvSpPr txBox="1"/>
          <p:nvPr/>
        </p:nvSpPr>
        <p:spPr>
          <a:xfrm>
            <a:off x="557783" y="1600200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Current: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elevator simulation only runs in the terminal with text based output.</a:t>
            </a:r>
            <a:endParaRPr/>
          </a:p>
        </p:txBody>
      </p:sp>
      <p:sp>
        <p:nvSpPr>
          <p:cNvPr id="1292" name="Google Shape;1292;p37"/>
          <p:cNvSpPr txBox="1"/>
          <p:nvPr/>
        </p:nvSpPr>
        <p:spPr>
          <a:xfrm>
            <a:off x="557783" y="1947672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Future: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Add a graphical interface showing elevators moving in real time. </a:t>
            </a:r>
            <a:endParaRPr/>
          </a:p>
        </p:txBody>
      </p:sp>
      <p:sp>
        <p:nvSpPr>
          <p:cNvPr id="1293" name="Google Shape;1293;p37"/>
          <p:cNvSpPr/>
          <p:nvPr/>
        </p:nvSpPr>
        <p:spPr>
          <a:xfrm>
            <a:off x="4818888" y="1234439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7"/>
          <p:cNvSpPr/>
          <p:nvPr/>
        </p:nvSpPr>
        <p:spPr>
          <a:xfrm>
            <a:off x="4818888" y="1234439"/>
            <a:ext cx="4251960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7"/>
          <p:cNvSpPr txBox="1"/>
          <p:nvPr/>
        </p:nvSpPr>
        <p:spPr>
          <a:xfrm>
            <a:off x="4992623" y="1286178"/>
            <a:ext cx="393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" sz="11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o Elevator Capacity Limit</a:t>
            </a:r>
            <a:endParaRPr/>
          </a:p>
        </p:txBody>
      </p:sp>
      <p:sp>
        <p:nvSpPr>
          <p:cNvPr id="1296" name="Google Shape;1296;p37"/>
          <p:cNvSpPr txBox="1"/>
          <p:nvPr/>
        </p:nvSpPr>
        <p:spPr>
          <a:xfrm>
            <a:off x="4992623" y="1600200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Current: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Elevators do not have weight or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passenger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limits. </a:t>
            </a:r>
            <a:endParaRPr/>
          </a:p>
        </p:txBody>
      </p:sp>
      <p:sp>
        <p:nvSpPr>
          <p:cNvPr id="1297" name="Google Shape;1297;p37"/>
          <p:cNvSpPr txBox="1"/>
          <p:nvPr/>
        </p:nvSpPr>
        <p:spPr>
          <a:xfrm>
            <a:off x="4992623" y="1947672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Future: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Add maximum capacity and realistic loading behavior. </a:t>
            </a:r>
            <a:endParaRPr/>
          </a:p>
        </p:txBody>
      </p:sp>
      <p:sp>
        <p:nvSpPr>
          <p:cNvPr id="1298" name="Google Shape;1298;p37"/>
          <p:cNvSpPr/>
          <p:nvPr/>
        </p:nvSpPr>
        <p:spPr>
          <a:xfrm>
            <a:off x="384048" y="2423160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7"/>
          <p:cNvSpPr/>
          <p:nvPr/>
        </p:nvSpPr>
        <p:spPr>
          <a:xfrm>
            <a:off x="384048" y="2423160"/>
            <a:ext cx="4251960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7"/>
          <p:cNvSpPr txBox="1"/>
          <p:nvPr/>
        </p:nvSpPr>
        <p:spPr>
          <a:xfrm>
            <a:off x="557783" y="2474898"/>
            <a:ext cx="393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Basic Scheduling Algorithms </a:t>
            </a:r>
            <a:endParaRPr/>
          </a:p>
        </p:txBody>
      </p:sp>
      <p:sp>
        <p:nvSpPr>
          <p:cNvPr id="1301" name="Google Shape;1301;p37"/>
          <p:cNvSpPr txBox="1"/>
          <p:nvPr/>
        </p:nvSpPr>
        <p:spPr>
          <a:xfrm>
            <a:off x="557783" y="2788920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Current:</a:t>
            </a:r>
            <a:r>
              <a:rPr b="1" i="0" lang="en" sz="9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system only supports FCFS, SSTF, and SCAN. </a:t>
            </a:r>
            <a:endParaRPr/>
          </a:p>
        </p:txBody>
      </p:sp>
      <p:sp>
        <p:nvSpPr>
          <p:cNvPr id="1302" name="Google Shape;1302;p37"/>
          <p:cNvSpPr txBox="1"/>
          <p:nvPr/>
        </p:nvSpPr>
        <p:spPr>
          <a:xfrm>
            <a:off x="557783" y="3136392"/>
            <a:ext cx="391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Future: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Implement smarter algorithms  such as priority schedulingor AI-based optimization. </a:t>
            </a:r>
            <a:endParaRPr/>
          </a:p>
        </p:txBody>
      </p:sp>
      <p:sp>
        <p:nvSpPr>
          <p:cNvPr id="1303" name="Google Shape;1303;p37"/>
          <p:cNvSpPr/>
          <p:nvPr/>
        </p:nvSpPr>
        <p:spPr>
          <a:xfrm>
            <a:off x="4818888" y="2423160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7"/>
          <p:cNvSpPr/>
          <p:nvPr/>
        </p:nvSpPr>
        <p:spPr>
          <a:xfrm>
            <a:off x="4818888" y="2423160"/>
            <a:ext cx="4251960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7"/>
          <p:cNvSpPr txBox="1"/>
          <p:nvPr/>
        </p:nvSpPr>
        <p:spPr>
          <a:xfrm>
            <a:off x="4992623" y="2474898"/>
            <a:ext cx="393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Simple Request Handling </a:t>
            </a:r>
            <a:endParaRPr/>
          </a:p>
        </p:txBody>
      </p:sp>
      <p:sp>
        <p:nvSpPr>
          <p:cNvPr id="1306" name="Google Shape;1306;p37"/>
          <p:cNvSpPr txBox="1"/>
          <p:nvPr/>
        </p:nvSpPr>
        <p:spPr>
          <a:xfrm>
            <a:off x="4992623" y="2788920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Current: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Requests are handled sequentially without advanced optimization. </a:t>
            </a:r>
            <a:endParaRPr/>
          </a:p>
        </p:txBody>
      </p:sp>
      <p:sp>
        <p:nvSpPr>
          <p:cNvPr id="1307" name="Google Shape;1307;p37"/>
          <p:cNvSpPr txBox="1"/>
          <p:nvPr/>
        </p:nvSpPr>
        <p:spPr>
          <a:xfrm>
            <a:off x="4992623" y="3136392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Future: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Add dynamic request assignment and multi-elevator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coordination. </a:t>
            </a:r>
            <a:endParaRPr/>
          </a:p>
        </p:txBody>
      </p:sp>
      <p:sp>
        <p:nvSpPr>
          <p:cNvPr id="1308" name="Google Shape;1308;p37"/>
          <p:cNvSpPr/>
          <p:nvPr/>
        </p:nvSpPr>
        <p:spPr>
          <a:xfrm>
            <a:off x="384048" y="3611879"/>
            <a:ext cx="4251960" cy="107899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7"/>
          <p:cNvSpPr/>
          <p:nvPr/>
        </p:nvSpPr>
        <p:spPr>
          <a:xfrm>
            <a:off x="384048" y="3611879"/>
            <a:ext cx="4251960" cy="329185"/>
          </a:xfrm>
          <a:prstGeom prst="rect">
            <a:avLst/>
          </a:prstGeom>
          <a:solidFill>
            <a:srgbClr val="FDE8E8"/>
          </a:solidFill>
          <a:ln cap="flat" cmpd="sng" w="9525">
            <a:solidFill>
              <a:srgbClr val="F5C5C5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7"/>
          <p:cNvSpPr txBox="1"/>
          <p:nvPr/>
        </p:nvSpPr>
        <p:spPr>
          <a:xfrm>
            <a:off x="557783" y="3663617"/>
            <a:ext cx="3931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No Passenger Modeling</a:t>
            </a:r>
            <a:endParaRPr/>
          </a:p>
        </p:txBody>
      </p:sp>
      <p:sp>
        <p:nvSpPr>
          <p:cNvPr id="1311" name="Google Shape;1311;p37"/>
          <p:cNvSpPr txBox="1"/>
          <p:nvPr/>
        </p:nvSpPr>
        <p:spPr>
          <a:xfrm>
            <a:off x="557783" y="3977640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1A1A"/>
                </a:solidFill>
                <a:latin typeface="Calibri"/>
                <a:ea typeface="Calibri"/>
                <a:cs typeface="Calibri"/>
                <a:sym typeface="Calibri"/>
              </a:rPr>
              <a:t>Current: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system only handles floor requests, not individual passengers. </a:t>
            </a:r>
            <a:endParaRPr/>
          </a:p>
        </p:txBody>
      </p:sp>
      <p:sp>
        <p:nvSpPr>
          <p:cNvPr id="1312" name="Google Shape;1312;p37"/>
          <p:cNvSpPr txBox="1"/>
          <p:nvPr/>
        </p:nvSpPr>
        <p:spPr>
          <a:xfrm>
            <a:off x="557783" y="4325111"/>
            <a:ext cx="3913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Future: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lang="en" sz="900">
                <a:solidFill>
                  <a:srgbClr val="1A3A6B"/>
                </a:solidFill>
                <a:latin typeface="Calibri"/>
                <a:ea typeface="Calibri"/>
                <a:cs typeface="Calibri"/>
                <a:sym typeface="Calibri"/>
              </a:rPr>
              <a:t>passenger objects with wait time tracking and capacity limits. </a:t>
            </a:r>
            <a:endParaRPr/>
          </a:p>
        </p:txBody>
      </p:sp>
      <p:sp>
        <p:nvSpPr>
          <p:cNvPr id="1313" name="Google Shape;1313;p37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7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1315" name="Google Shape;1315;p37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2" id="1321" name="Google Shape;13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88720" y="-1234440"/>
            <a:ext cx="1828801" cy="1828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" id="1322" name="Google Shape;132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905256" y="-950976"/>
            <a:ext cx="1261873" cy="1261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" id="1323" name="Google Shape;132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" y="365758"/>
            <a:ext cx="1005840" cy="1005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5" id="1324" name="Google Shape;132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92" y="466344"/>
            <a:ext cx="804673" cy="8046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" id="1325" name="Google Shape;1325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84632" y="1252727"/>
            <a:ext cx="822961" cy="822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" id="1326" name="Google Shape;132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4008" y="1892806"/>
            <a:ext cx="640082" cy="640081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38"/>
          <p:cNvSpPr/>
          <p:nvPr/>
        </p:nvSpPr>
        <p:spPr>
          <a:xfrm>
            <a:off x="182879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8"/>
          <p:cNvSpPr/>
          <p:nvPr/>
        </p:nvSpPr>
        <p:spPr>
          <a:xfrm>
            <a:off x="338327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8"/>
          <p:cNvSpPr/>
          <p:nvPr/>
        </p:nvSpPr>
        <p:spPr>
          <a:xfrm>
            <a:off x="493776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38"/>
          <p:cNvSpPr/>
          <p:nvPr/>
        </p:nvSpPr>
        <p:spPr>
          <a:xfrm>
            <a:off x="649223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38"/>
          <p:cNvSpPr/>
          <p:nvPr/>
        </p:nvSpPr>
        <p:spPr>
          <a:xfrm>
            <a:off x="804672" y="2999232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38"/>
          <p:cNvSpPr/>
          <p:nvPr/>
        </p:nvSpPr>
        <p:spPr>
          <a:xfrm>
            <a:off x="182879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8"/>
          <p:cNvSpPr/>
          <p:nvPr/>
        </p:nvSpPr>
        <p:spPr>
          <a:xfrm>
            <a:off x="338327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38"/>
          <p:cNvSpPr/>
          <p:nvPr/>
        </p:nvSpPr>
        <p:spPr>
          <a:xfrm>
            <a:off x="493776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38"/>
          <p:cNvSpPr/>
          <p:nvPr/>
        </p:nvSpPr>
        <p:spPr>
          <a:xfrm>
            <a:off x="649223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38"/>
          <p:cNvSpPr/>
          <p:nvPr/>
        </p:nvSpPr>
        <p:spPr>
          <a:xfrm>
            <a:off x="804672" y="3154678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38"/>
          <p:cNvSpPr/>
          <p:nvPr/>
        </p:nvSpPr>
        <p:spPr>
          <a:xfrm>
            <a:off x="182879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38"/>
          <p:cNvSpPr/>
          <p:nvPr/>
        </p:nvSpPr>
        <p:spPr>
          <a:xfrm>
            <a:off x="338327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38"/>
          <p:cNvSpPr/>
          <p:nvPr/>
        </p:nvSpPr>
        <p:spPr>
          <a:xfrm>
            <a:off x="493776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0" name="Google Shape;1340;p38"/>
          <p:cNvSpPr/>
          <p:nvPr/>
        </p:nvSpPr>
        <p:spPr>
          <a:xfrm>
            <a:off x="649223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38"/>
          <p:cNvSpPr/>
          <p:nvPr/>
        </p:nvSpPr>
        <p:spPr>
          <a:xfrm>
            <a:off x="804672" y="331012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8"/>
          <p:cNvSpPr/>
          <p:nvPr/>
        </p:nvSpPr>
        <p:spPr>
          <a:xfrm>
            <a:off x="182879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8"/>
          <p:cNvSpPr/>
          <p:nvPr/>
        </p:nvSpPr>
        <p:spPr>
          <a:xfrm>
            <a:off x="338327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38"/>
          <p:cNvSpPr/>
          <p:nvPr/>
        </p:nvSpPr>
        <p:spPr>
          <a:xfrm>
            <a:off x="493776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38"/>
          <p:cNvSpPr/>
          <p:nvPr/>
        </p:nvSpPr>
        <p:spPr>
          <a:xfrm>
            <a:off x="649223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38"/>
          <p:cNvSpPr/>
          <p:nvPr/>
        </p:nvSpPr>
        <p:spPr>
          <a:xfrm>
            <a:off x="804672" y="3465576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8"/>
          <p:cNvSpPr/>
          <p:nvPr/>
        </p:nvSpPr>
        <p:spPr>
          <a:xfrm>
            <a:off x="182879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38"/>
          <p:cNvSpPr/>
          <p:nvPr/>
        </p:nvSpPr>
        <p:spPr>
          <a:xfrm>
            <a:off x="338327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38"/>
          <p:cNvSpPr/>
          <p:nvPr/>
        </p:nvSpPr>
        <p:spPr>
          <a:xfrm>
            <a:off x="493776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38"/>
          <p:cNvSpPr/>
          <p:nvPr/>
        </p:nvSpPr>
        <p:spPr>
          <a:xfrm>
            <a:off x="649223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8"/>
          <p:cNvSpPr/>
          <p:nvPr/>
        </p:nvSpPr>
        <p:spPr>
          <a:xfrm>
            <a:off x="804672" y="3621023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8"/>
          <p:cNvSpPr/>
          <p:nvPr/>
        </p:nvSpPr>
        <p:spPr>
          <a:xfrm>
            <a:off x="182879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38"/>
          <p:cNvSpPr/>
          <p:nvPr/>
        </p:nvSpPr>
        <p:spPr>
          <a:xfrm>
            <a:off x="338327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38"/>
          <p:cNvSpPr/>
          <p:nvPr/>
        </p:nvSpPr>
        <p:spPr>
          <a:xfrm>
            <a:off x="493776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38"/>
          <p:cNvSpPr/>
          <p:nvPr/>
        </p:nvSpPr>
        <p:spPr>
          <a:xfrm>
            <a:off x="649223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38"/>
          <p:cNvSpPr/>
          <p:nvPr/>
        </p:nvSpPr>
        <p:spPr>
          <a:xfrm>
            <a:off x="804672" y="3776471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38"/>
          <p:cNvSpPr/>
          <p:nvPr/>
        </p:nvSpPr>
        <p:spPr>
          <a:xfrm>
            <a:off x="182879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38"/>
          <p:cNvSpPr/>
          <p:nvPr/>
        </p:nvSpPr>
        <p:spPr>
          <a:xfrm>
            <a:off x="338327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8"/>
          <p:cNvSpPr/>
          <p:nvPr/>
        </p:nvSpPr>
        <p:spPr>
          <a:xfrm>
            <a:off x="493776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8"/>
          <p:cNvSpPr/>
          <p:nvPr/>
        </p:nvSpPr>
        <p:spPr>
          <a:xfrm>
            <a:off x="649223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8"/>
          <p:cNvSpPr/>
          <p:nvPr/>
        </p:nvSpPr>
        <p:spPr>
          <a:xfrm>
            <a:off x="804672" y="3931920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38"/>
          <p:cNvSpPr/>
          <p:nvPr/>
        </p:nvSpPr>
        <p:spPr>
          <a:xfrm>
            <a:off x="182879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38"/>
          <p:cNvSpPr/>
          <p:nvPr/>
        </p:nvSpPr>
        <p:spPr>
          <a:xfrm>
            <a:off x="338327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38"/>
          <p:cNvSpPr/>
          <p:nvPr/>
        </p:nvSpPr>
        <p:spPr>
          <a:xfrm>
            <a:off x="493776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38"/>
          <p:cNvSpPr/>
          <p:nvPr/>
        </p:nvSpPr>
        <p:spPr>
          <a:xfrm>
            <a:off x="649223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38"/>
          <p:cNvSpPr/>
          <p:nvPr/>
        </p:nvSpPr>
        <p:spPr>
          <a:xfrm>
            <a:off x="804672" y="4087367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8"/>
          <p:cNvSpPr/>
          <p:nvPr/>
        </p:nvSpPr>
        <p:spPr>
          <a:xfrm>
            <a:off x="182879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38"/>
          <p:cNvSpPr/>
          <p:nvPr/>
        </p:nvSpPr>
        <p:spPr>
          <a:xfrm>
            <a:off x="338327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8"/>
          <p:cNvSpPr/>
          <p:nvPr/>
        </p:nvSpPr>
        <p:spPr>
          <a:xfrm>
            <a:off x="493776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38"/>
          <p:cNvSpPr/>
          <p:nvPr/>
        </p:nvSpPr>
        <p:spPr>
          <a:xfrm>
            <a:off x="649223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8"/>
          <p:cNvSpPr/>
          <p:nvPr/>
        </p:nvSpPr>
        <p:spPr>
          <a:xfrm>
            <a:off x="804672" y="4242815"/>
            <a:ext cx="41149" cy="41149"/>
          </a:xfrm>
          <a:prstGeom prst="ellipse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38"/>
          <p:cNvSpPr/>
          <p:nvPr/>
        </p:nvSpPr>
        <p:spPr>
          <a:xfrm>
            <a:off x="5943600" y="16459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8"/>
          <p:cNvSpPr/>
          <p:nvPr/>
        </p:nvSpPr>
        <p:spPr>
          <a:xfrm>
            <a:off x="6099047" y="16459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8"/>
          <p:cNvSpPr/>
          <p:nvPr/>
        </p:nvSpPr>
        <p:spPr>
          <a:xfrm>
            <a:off x="6254496" y="16459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8"/>
          <p:cNvSpPr/>
          <p:nvPr/>
        </p:nvSpPr>
        <p:spPr>
          <a:xfrm>
            <a:off x="6409944" y="16459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38"/>
          <p:cNvSpPr/>
          <p:nvPr/>
        </p:nvSpPr>
        <p:spPr>
          <a:xfrm>
            <a:off x="6565392" y="16459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8"/>
          <p:cNvSpPr/>
          <p:nvPr/>
        </p:nvSpPr>
        <p:spPr>
          <a:xfrm>
            <a:off x="6720840" y="16459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8"/>
          <p:cNvSpPr/>
          <p:nvPr/>
        </p:nvSpPr>
        <p:spPr>
          <a:xfrm>
            <a:off x="5943600" y="32004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38"/>
          <p:cNvSpPr/>
          <p:nvPr/>
        </p:nvSpPr>
        <p:spPr>
          <a:xfrm>
            <a:off x="6099047" y="32004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38"/>
          <p:cNvSpPr/>
          <p:nvPr/>
        </p:nvSpPr>
        <p:spPr>
          <a:xfrm>
            <a:off x="6254496" y="32004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38"/>
          <p:cNvSpPr/>
          <p:nvPr/>
        </p:nvSpPr>
        <p:spPr>
          <a:xfrm>
            <a:off x="6409944" y="32004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8"/>
          <p:cNvSpPr/>
          <p:nvPr/>
        </p:nvSpPr>
        <p:spPr>
          <a:xfrm>
            <a:off x="6565392" y="32004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8"/>
          <p:cNvSpPr/>
          <p:nvPr/>
        </p:nvSpPr>
        <p:spPr>
          <a:xfrm>
            <a:off x="6720840" y="32004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8"/>
          <p:cNvSpPr/>
          <p:nvPr/>
        </p:nvSpPr>
        <p:spPr>
          <a:xfrm>
            <a:off x="5943600" y="47548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8"/>
          <p:cNvSpPr/>
          <p:nvPr/>
        </p:nvSpPr>
        <p:spPr>
          <a:xfrm>
            <a:off x="6099047" y="47548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8"/>
          <p:cNvSpPr/>
          <p:nvPr/>
        </p:nvSpPr>
        <p:spPr>
          <a:xfrm>
            <a:off x="6254496" y="47548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8"/>
          <p:cNvSpPr/>
          <p:nvPr/>
        </p:nvSpPr>
        <p:spPr>
          <a:xfrm>
            <a:off x="6409944" y="47548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8"/>
          <p:cNvSpPr/>
          <p:nvPr/>
        </p:nvSpPr>
        <p:spPr>
          <a:xfrm>
            <a:off x="6565392" y="47548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8"/>
          <p:cNvSpPr/>
          <p:nvPr/>
        </p:nvSpPr>
        <p:spPr>
          <a:xfrm>
            <a:off x="6720840" y="47548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8"/>
          <p:cNvSpPr/>
          <p:nvPr/>
        </p:nvSpPr>
        <p:spPr>
          <a:xfrm>
            <a:off x="5943600" y="630936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38"/>
          <p:cNvSpPr/>
          <p:nvPr/>
        </p:nvSpPr>
        <p:spPr>
          <a:xfrm>
            <a:off x="6099047" y="630936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8"/>
          <p:cNvSpPr/>
          <p:nvPr/>
        </p:nvSpPr>
        <p:spPr>
          <a:xfrm>
            <a:off x="6254496" y="630936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8"/>
          <p:cNvSpPr/>
          <p:nvPr/>
        </p:nvSpPr>
        <p:spPr>
          <a:xfrm>
            <a:off x="6409944" y="630936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8"/>
          <p:cNvSpPr/>
          <p:nvPr/>
        </p:nvSpPr>
        <p:spPr>
          <a:xfrm>
            <a:off x="6565392" y="630936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8"/>
          <p:cNvSpPr/>
          <p:nvPr/>
        </p:nvSpPr>
        <p:spPr>
          <a:xfrm>
            <a:off x="6720840" y="630936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8"/>
          <p:cNvSpPr/>
          <p:nvPr/>
        </p:nvSpPr>
        <p:spPr>
          <a:xfrm>
            <a:off x="5943600" y="786383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8"/>
          <p:cNvSpPr/>
          <p:nvPr/>
        </p:nvSpPr>
        <p:spPr>
          <a:xfrm>
            <a:off x="6099047" y="786383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8"/>
          <p:cNvSpPr/>
          <p:nvPr/>
        </p:nvSpPr>
        <p:spPr>
          <a:xfrm>
            <a:off x="6254496" y="786383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8"/>
          <p:cNvSpPr/>
          <p:nvPr/>
        </p:nvSpPr>
        <p:spPr>
          <a:xfrm>
            <a:off x="6409944" y="786383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8"/>
          <p:cNvSpPr/>
          <p:nvPr/>
        </p:nvSpPr>
        <p:spPr>
          <a:xfrm>
            <a:off x="6565392" y="786383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8"/>
          <p:cNvSpPr/>
          <p:nvPr/>
        </p:nvSpPr>
        <p:spPr>
          <a:xfrm>
            <a:off x="6720840" y="786383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8"/>
          <p:cNvSpPr/>
          <p:nvPr/>
        </p:nvSpPr>
        <p:spPr>
          <a:xfrm>
            <a:off x="5943600" y="94183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3" name="Google Shape;1403;p38"/>
          <p:cNvSpPr/>
          <p:nvPr/>
        </p:nvSpPr>
        <p:spPr>
          <a:xfrm>
            <a:off x="6099047" y="94183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8"/>
          <p:cNvSpPr/>
          <p:nvPr/>
        </p:nvSpPr>
        <p:spPr>
          <a:xfrm>
            <a:off x="6254496" y="94183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38"/>
          <p:cNvSpPr/>
          <p:nvPr/>
        </p:nvSpPr>
        <p:spPr>
          <a:xfrm>
            <a:off x="6409944" y="94183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8"/>
          <p:cNvSpPr/>
          <p:nvPr/>
        </p:nvSpPr>
        <p:spPr>
          <a:xfrm>
            <a:off x="6565392" y="94183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38"/>
          <p:cNvSpPr/>
          <p:nvPr/>
        </p:nvSpPr>
        <p:spPr>
          <a:xfrm>
            <a:off x="6720840" y="941832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8"/>
          <p:cNvSpPr/>
          <p:nvPr/>
        </p:nvSpPr>
        <p:spPr>
          <a:xfrm>
            <a:off x="5943600" y="109728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38"/>
          <p:cNvSpPr/>
          <p:nvPr/>
        </p:nvSpPr>
        <p:spPr>
          <a:xfrm>
            <a:off x="6099047" y="109728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38"/>
          <p:cNvSpPr/>
          <p:nvPr/>
        </p:nvSpPr>
        <p:spPr>
          <a:xfrm>
            <a:off x="6254496" y="109728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38"/>
          <p:cNvSpPr/>
          <p:nvPr/>
        </p:nvSpPr>
        <p:spPr>
          <a:xfrm>
            <a:off x="6409944" y="109728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8"/>
          <p:cNvSpPr/>
          <p:nvPr/>
        </p:nvSpPr>
        <p:spPr>
          <a:xfrm>
            <a:off x="6565392" y="109728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38"/>
          <p:cNvSpPr/>
          <p:nvPr/>
        </p:nvSpPr>
        <p:spPr>
          <a:xfrm>
            <a:off x="6720840" y="1097280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38"/>
          <p:cNvSpPr/>
          <p:nvPr/>
        </p:nvSpPr>
        <p:spPr>
          <a:xfrm>
            <a:off x="5943600" y="125272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38"/>
          <p:cNvSpPr/>
          <p:nvPr/>
        </p:nvSpPr>
        <p:spPr>
          <a:xfrm>
            <a:off x="6099047" y="125272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8"/>
          <p:cNvSpPr/>
          <p:nvPr/>
        </p:nvSpPr>
        <p:spPr>
          <a:xfrm>
            <a:off x="6254496" y="125272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8"/>
          <p:cNvSpPr/>
          <p:nvPr/>
        </p:nvSpPr>
        <p:spPr>
          <a:xfrm>
            <a:off x="6409944" y="125272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8"/>
          <p:cNvSpPr/>
          <p:nvPr/>
        </p:nvSpPr>
        <p:spPr>
          <a:xfrm>
            <a:off x="6565392" y="125272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38"/>
          <p:cNvSpPr/>
          <p:nvPr/>
        </p:nvSpPr>
        <p:spPr>
          <a:xfrm>
            <a:off x="6720840" y="1252727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38"/>
          <p:cNvSpPr/>
          <p:nvPr/>
        </p:nvSpPr>
        <p:spPr>
          <a:xfrm>
            <a:off x="5943600" y="1408175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38"/>
          <p:cNvSpPr/>
          <p:nvPr/>
        </p:nvSpPr>
        <p:spPr>
          <a:xfrm>
            <a:off x="6099047" y="1408175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8"/>
          <p:cNvSpPr/>
          <p:nvPr/>
        </p:nvSpPr>
        <p:spPr>
          <a:xfrm>
            <a:off x="6254496" y="1408175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38"/>
          <p:cNvSpPr/>
          <p:nvPr/>
        </p:nvSpPr>
        <p:spPr>
          <a:xfrm>
            <a:off x="6409944" y="1408175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38"/>
          <p:cNvSpPr/>
          <p:nvPr/>
        </p:nvSpPr>
        <p:spPr>
          <a:xfrm>
            <a:off x="6565392" y="1408175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38"/>
          <p:cNvSpPr/>
          <p:nvPr/>
        </p:nvSpPr>
        <p:spPr>
          <a:xfrm>
            <a:off x="6720840" y="1408175"/>
            <a:ext cx="41149" cy="41149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icture 107" id="1426" name="Google Shape;14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7888" y="4645152"/>
            <a:ext cx="1463040" cy="1463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8" id="1427" name="Google Shape;142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4192" y="4791455"/>
            <a:ext cx="1170433" cy="11704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09" id="1428" name="Google Shape;1428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84947" y="4110228"/>
            <a:ext cx="777241" cy="777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38"/>
          <p:cNvSpPr txBox="1"/>
          <p:nvPr/>
        </p:nvSpPr>
        <p:spPr>
          <a:xfrm>
            <a:off x="4087367" y="874901"/>
            <a:ext cx="969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30" name="Google Shape;1430;p38"/>
          <p:cNvSpPr txBox="1"/>
          <p:nvPr/>
        </p:nvSpPr>
        <p:spPr>
          <a:xfrm>
            <a:off x="960119" y="1728724"/>
            <a:ext cx="7223761" cy="675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4000"/>
              <a:buFont typeface="Georgia"/>
              <a:buNone/>
            </a:pPr>
            <a:r>
              <a:rPr b="1" i="0" lang="en" sz="4000" u="none" cap="none" strike="noStrike">
                <a:solidFill>
                  <a:srgbClr val="002366"/>
                </a:solidFill>
                <a:latin typeface="Georgia"/>
                <a:ea typeface="Georgia"/>
                <a:cs typeface="Georgia"/>
                <a:sym typeface="Georgia"/>
              </a:rPr>
              <a:t>Thank You!</a:t>
            </a:r>
            <a:endParaRPr/>
          </a:p>
        </p:txBody>
      </p:sp>
      <p:sp>
        <p:nvSpPr>
          <p:cNvPr id="1431" name="Google Shape;1431;p38"/>
          <p:cNvSpPr txBox="1"/>
          <p:nvPr/>
        </p:nvSpPr>
        <p:spPr>
          <a:xfrm>
            <a:off x="960119" y="2450592"/>
            <a:ext cx="7223761" cy="340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2000"/>
              <a:buFont typeface="Calibri"/>
              <a:buNone/>
            </a:pPr>
            <a:r>
              <a:rPr b="1" i="1" lang="en" sz="20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  <p:sp>
        <p:nvSpPr>
          <p:cNvPr id="1432" name="Google Shape;1432;p38"/>
          <p:cNvSpPr/>
          <p:nvPr/>
        </p:nvSpPr>
        <p:spPr>
          <a:xfrm>
            <a:off x="1645919" y="2871216"/>
            <a:ext cx="5852162" cy="27433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8"/>
          <p:cNvSpPr txBox="1"/>
          <p:nvPr/>
        </p:nvSpPr>
        <p:spPr>
          <a:xfrm>
            <a:off x="1691650" y="2962646"/>
            <a:ext cx="576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366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Built a multi-elevator simulation using C++ , </a:t>
            </a:r>
            <a:r>
              <a:rPr lang="en" sz="1200">
                <a:solidFill>
                  <a:srgbClr val="002366"/>
                </a:solidFill>
                <a:latin typeface="Calibri"/>
                <a:ea typeface="Calibri"/>
                <a:cs typeface="Calibri"/>
                <a:sym typeface="Calibri"/>
              </a:rPr>
              <a:t>Applied Object-Oriented Programming principles , Implemented scheduling algorithms (FCFS, SSTF, SCAN) , Simulated elevator movement and request handling , Demonstrated real-world system modeling</a:t>
            </a:r>
            <a:endParaRPr sz="1200">
              <a:solidFill>
                <a:srgbClr val="0023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38"/>
          <p:cNvSpPr/>
          <p:nvPr/>
        </p:nvSpPr>
        <p:spPr>
          <a:xfrm>
            <a:off x="7360919" y="4480559"/>
            <a:ext cx="1691641" cy="50292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5" name="Google Shape;1435;p38"/>
          <p:cNvSpPr/>
          <p:nvPr/>
        </p:nvSpPr>
        <p:spPr>
          <a:xfrm>
            <a:off x="2926079" y="4005071"/>
            <a:ext cx="3291842" cy="384049"/>
          </a:xfrm>
          <a:prstGeom prst="rect">
            <a:avLst/>
          </a:prstGeom>
          <a:solidFill>
            <a:srgbClr val="002366"/>
          </a:solidFill>
          <a:ln cap="flat" cmpd="sng" w="9525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6" name="Google Shape;1436;p38"/>
          <p:cNvSpPr txBox="1"/>
          <p:nvPr/>
        </p:nvSpPr>
        <p:spPr>
          <a:xfrm>
            <a:off x="3014850" y="3982400"/>
            <a:ext cx="311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https://github.com/dbrightman/EECE2140_final_project</a:t>
            </a:r>
            <a:endParaRPr/>
          </a:p>
        </p:txBody>
      </p:sp>
      <p:sp>
        <p:nvSpPr>
          <p:cNvPr id="1437" name="Google Shape;1437;p38"/>
          <p:cNvSpPr txBox="1"/>
          <p:nvPr/>
        </p:nvSpPr>
        <p:spPr>
          <a:xfrm>
            <a:off x="7406639" y="4527549"/>
            <a:ext cx="411480" cy="408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/>
          </a:p>
        </p:txBody>
      </p:sp>
      <p:sp>
        <p:nvSpPr>
          <p:cNvPr id="1438" name="Google Shape;1438;p38"/>
          <p:cNvSpPr txBox="1"/>
          <p:nvPr/>
        </p:nvSpPr>
        <p:spPr>
          <a:xfrm>
            <a:off x="7927846" y="4581809"/>
            <a:ext cx="1078993" cy="3004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Northeastern University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College of Engineering</a:t>
            </a:r>
            <a:endParaRPr/>
          </a:p>
        </p:txBody>
      </p:sp>
      <p:sp>
        <p:nvSpPr>
          <p:cNvPr id="1439" name="Google Shape;1439;p38"/>
          <p:cNvSpPr/>
          <p:nvPr/>
        </p:nvSpPr>
        <p:spPr>
          <a:xfrm>
            <a:off x="0" y="4873752"/>
            <a:ext cx="9144000" cy="269749"/>
          </a:xfrm>
          <a:prstGeom prst="rect">
            <a:avLst/>
          </a:prstGeom>
          <a:solidFill>
            <a:srgbClr val="002366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38"/>
          <p:cNvSpPr txBox="1"/>
          <p:nvPr/>
        </p:nvSpPr>
        <p:spPr>
          <a:xfrm>
            <a:off x="365760" y="4882896"/>
            <a:ext cx="7680960" cy="19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D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ABBD0"/>
                </a:solidFill>
                <a:latin typeface="Calibri"/>
                <a:ea typeface="Calibri"/>
                <a:cs typeface="Calibri"/>
                <a:sym typeface="Calibri"/>
              </a:rPr>
              <a:t>EECE 2140  ·  Computing Fundamentals for Engineers  ·  Dr. Fatema Nafa  ·  Spring 2026</a:t>
            </a:r>
            <a:endParaRPr/>
          </a:p>
        </p:txBody>
      </p:sp>
      <p:sp>
        <p:nvSpPr>
          <p:cNvPr id="1441" name="Google Shape;1441;p38"/>
          <p:cNvSpPr txBox="1"/>
          <p:nvPr/>
        </p:nvSpPr>
        <p:spPr>
          <a:xfrm>
            <a:off x="8138159" y="4882896"/>
            <a:ext cx="731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/ 16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